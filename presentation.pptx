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bookmarkIdSeed="6">
  <p:sldMasterIdLst>
    <p:sldMasterId id="2147483952" r:id="rId1"/>
  </p:sldMasterIdLst>
  <p:notesMasterIdLst>
    <p:notesMasterId r:id="rId16"/>
  </p:notesMasterIdLst>
  <p:handoutMasterIdLst>
    <p:handoutMasterId r:id="rId17"/>
  </p:handoutMasterIdLst>
  <p:sldIdLst>
    <p:sldId id="290" r:id="rId2"/>
    <p:sldId id="311" r:id="rId3"/>
    <p:sldId id="293" r:id="rId4"/>
    <p:sldId id="330" r:id="rId5"/>
    <p:sldId id="295" r:id="rId6"/>
    <p:sldId id="294" r:id="rId7"/>
    <p:sldId id="350" r:id="rId8"/>
    <p:sldId id="314" r:id="rId9"/>
    <p:sldId id="351" r:id="rId10"/>
    <p:sldId id="342" r:id="rId11"/>
    <p:sldId id="316" r:id="rId12"/>
    <p:sldId id="347" r:id="rId13"/>
    <p:sldId id="348" r:id="rId14"/>
    <p:sldId id="349" r:id="rId15"/>
  </p:sldIdLst>
  <p:sldSz cx="12192000" cy="6858000"/>
  <p:notesSz cx="6797675" cy="98742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1231"/>
    <a:srgbClr val="FA4492"/>
    <a:srgbClr val="BA0693"/>
    <a:srgbClr val="B70D25"/>
    <a:srgbClr val="00FFFF"/>
    <a:srgbClr val="002D76"/>
    <a:srgbClr val="000000"/>
    <a:srgbClr val="99FFCC"/>
    <a:srgbClr val="D1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aximized" horzBarState="maximized">
    <p:restoredLeft sz="86605" autoAdjust="0"/>
    <p:restoredTop sz="86481" autoAdjust="0"/>
  </p:normalViewPr>
  <p:slideViewPr>
    <p:cSldViewPr>
      <p:cViewPr varScale="1">
        <p:scale>
          <a:sx n="78" d="100"/>
          <a:sy n="78" d="100"/>
        </p:scale>
        <p:origin x="1349" y="91"/>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95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4"/>
            <a:ext cx="2945659" cy="493711"/>
          </a:xfrm>
          <a:prstGeom prst="rect">
            <a:avLst/>
          </a:prstGeom>
        </p:spPr>
        <p:txBody>
          <a:bodyPr vert="horz" lIns="94830" tIns="47415" rIns="94830" bIns="47415" rtlCol="0"/>
          <a:lstStyle>
            <a:lvl1pPr algn="l">
              <a:defRPr sz="1200"/>
            </a:lvl1pPr>
          </a:lstStyle>
          <a:p>
            <a:endParaRPr lang="en-US" dirty="0"/>
          </a:p>
        </p:txBody>
      </p:sp>
      <p:sp>
        <p:nvSpPr>
          <p:cNvPr id="3" name="Date Placeholder 2"/>
          <p:cNvSpPr>
            <a:spLocks noGrp="1"/>
          </p:cNvSpPr>
          <p:nvPr>
            <p:ph type="dt" sz="quarter" idx="1"/>
          </p:nvPr>
        </p:nvSpPr>
        <p:spPr>
          <a:xfrm>
            <a:off x="3850444" y="4"/>
            <a:ext cx="2945659" cy="493711"/>
          </a:xfrm>
          <a:prstGeom prst="rect">
            <a:avLst/>
          </a:prstGeom>
        </p:spPr>
        <p:txBody>
          <a:bodyPr vert="horz" lIns="94830" tIns="47415" rIns="94830" bIns="47415" rtlCol="0"/>
          <a:lstStyle>
            <a:lvl1pPr algn="r">
              <a:defRPr sz="1200"/>
            </a:lvl1pPr>
          </a:lstStyle>
          <a:p>
            <a:endParaRPr lang="en-US" dirty="0"/>
          </a:p>
        </p:txBody>
      </p:sp>
      <p:sp>
        <p:nvSpPr>
          <p:cNvPr id="4" name="Footer Placeholder 3"/>
          <p:cNvSpPr>
            <a:spLocks noGrp="1"/>
          </p:cNvSpPr>
          <p:nvPr>
            <p:ph type="ftr" sz="quarter" idx="2"/>
          </p:nvPr>
        </p:nvSpPr>
        <p:spPr>
          <a:xfrm>
            <a:off x="2" y="9378827"/>
            <a:ext cx="2945659" cy="493711"/>
          </a:xfrm>
          <a:prstGeom prst="rect">
            <a:avLst/>
          </a:prstGeom>
        </p:spPr>
        <p:txBody>
          <a:bodyPr vert="horz" lIns="94830" tIns="47415" rIns="94830" bIns="47415"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50444" y="9378827"/>
            <a:ext cx="2945659" cy="493711"/>
          </a:xfrm>
          <a:prstGeom prst="rect">
            <a:avLst/>
          </a:prstGeom>
        </p:spPr>
        <p:txBody>
          <a:bodyPr vert="horz" lIns="94830" tIns="47415" rIns="94830" bIns="47415" rtlCol="0" anchor="b"/>
          <a:lstStyle>
            <a:lvl1pPr algn="r">
              <a:defRPr sz="1200"/>
            </a:lvl1pPr>
          </a:lstStyle>
          <a:p>
            <a:fld id="{252CC010-2DEE-4B45-AFFD-44006353F582}" type="slidenum">
              <a:rPr lang="en-US" smtClean="0"/>
              <a:pPr/>
              <a:t>‹#›</a:t>
            </a:fld>
            <a:endParaRPr lang="en-US" dirty="0"/>
          </a:p>
        </p:txBody>
      </p:sp>
    </p:spTree>
    <p:extLst>
      <p:ext uri="{BB962C8B-B14F-4D97-AF65-F5344CB8AC3E}">
        <p14:creationId xmlns:p14="http://schemas.microsoft.com/office/powerpoint/2010/main" val="1416386077"/>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4"/>
            <a:ext cx="2945659" cy="493711"/>
          </a:xfrm>
          <a:prstGeom prst="rect">
            <a:avLst/>
          </a:prstGeom>
        </p:spPr>
        <p:txBody>
          <a:bodyPr vert="horz" lIns="94830" tIns="47415" rIns="94830" bIns="47415" rtlCol="0"/>
          <a:lstStyle>
            <a:lvl1pPr algn="l">
              <a:defRPr sz="1200"/>
            </a:lvl1pPr>
          </a:lstStyle>
          <a:p>
            <a:endParaRPr lang="en-US" dirty="0"/>
          </a:p>
        </p:txBody>
      </p:sp>
      <p:sp>
        <p:nvSpPr>
          <p:cNvPr id="3" name="Date Placeholder 2"/>
          <p:cNvSpPr>
            <a:spLocks noGrp="1"/>
          </p:cNvSpPr>
          <p:nvPr>
            <p:ph type="dt" idx="1"/>
          </p:nvPr>
        </p:nvSpPr>
        <p:spPr>
          <a:xfrm>
            <a:off x="3850444" y="4"/>
            <a:ext cx="2945659" cy="493711"/>
          </a:xfrm>
          <a:prstGeom prst="rect">
            <a:avLst/>
          </a:prstGeom>
        </p:spPr>
        <p:txBody>
          <a:bodyPr vert="horz" lIns="94830" tIns="47415" rIns="94830" bIns="47415" rtlCol="0"/>
          <a:lstStyle>
            <a:lvl1pPr algn="r">
              <a:defRPr sz="1200"/>
            </a:lvl1pPr>
          </a:lstStyle>
          <a:p>
            <a:endParaRPr lang="en-US" dirty="0"/>
          </a:p>
        </p:txBody>
      </p:sp>
      <p:sp>
        <p:nvSpPr>
          <p:cNvPr id="4" name="Slide Image Placeholder 3"/>
          <p:cNvSpPr>
            <a:spLocks noGrp="1" noRot="1" noChangeAspect="1"/>
          </p:cNvSpPr>
          <p:nvPr>
            <p:ph type="sldImg" idx="2"/>
          </p:nvPr>
        </p:nvSpPr>
        <p:spPr>
          <a:xfrm>
            <a:off x="104775" y="739775"/>
            <a:ext cx="6588125" cy="3706813"/>
          </a:xfrm>
          <a:prstGeom prst="rect">
            <a:avLst/>
          </a:prstGeom>
          <a:noFill/>
          <a:ln w="12700">
            <a:solidFill>
              <a:prstClr val="black"/>
            </a:solidFill>
          </a:ln>
        </p:spPr>
        <p:txBody>
          <a:bodyPr vert="horz" lIns="94830" tIns="47415" rIns="94830" bIns="47415" rtlCol="0" anchor="ctr"/>
          <a:lstStyle/>
          <a:p>
            <a:endParaRPr lang="en-US" dirty="0"/>
          </a:p>
        </p:txBody>
      </p:sp>
      <p:sp>
        <p:nvSpPr>
          <p:cNvPr id="5" name="Notes Placeholder 4"/>
          <p:cNvSpPr>
            <a:spLocks noGrp="1"/>
          </p:cNvSpPr>
          <p:nvPr>
            <p:ph type="body" sz="quarter" idx="3"/>
          </p:nvPr>
        </p:nvSpPr>
        <p:spPr>
          <a:xfrm>
            <a:off x="679768" y="4690270"/>
            <a:ext cx="5438140" cy="4443411"/>
          </a:xfrm>
          <a:prstGeom prst="rect">
            <a:avLst/>
          </a:prstGeom>
        </p:spPr>
        <p:txBody>
          <a:bodyPr vert="horz" lIns="94830" tIns="47415" rIns="94830" bIns="47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9378827"/>
            <a:ext cx="2945659" cy="493711"/>
          </a:xfrm>
          <a:prstGeom prst="rect">
            <a:avLst/>
          </a:prstGeom>
        </p:spPr>
        <p:txBody>
          <a:bodyPr vert="horz" lIns="94830" tIns="47415" rIns="94830" bIns="47415"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0444" y="9378827"/>
            <a:ext cx="2945659" cy="493711"/>
          </a:xfrm>
          <a:prstGeom prst="rect">
            <a:avLst/>
          </a:prstGeom>
        </p:spPr>
        <p:txBody>
          <a:bodyPr vert="horz" lIns="94830" tIns="47415" rIns="94830" bIns="47415" rtlCol="0" anchor="b"/>
          <a:lstStyle>
            <a:lvl1pPr algn="r">
              <a:defRPr sz="1200"/>
            </a:lvl1pPr>
          </a:lstStyle>
          <a:p>
            <a:fld id="{354CF6D7-3276-4013-B5BE-87FD5B972D37}" type="slidenum">
              <a:rPr lang="en-US" smtClean="0"/>
              <a:pPr/>
              <a:t>‹#›</a:t>
            </a:fld>
            <a:endParaRPr lang="en-US" dirty="0"/>
          </a:p>
        </p:txBody>
      </p:sp>
    </p:spTree>
    <p:extLst>
      <p:ext uri="{BB962C8B-B14F-4D97-AF65-F5344CB8AC3E}">
        <p14:creationId xmlns:p14="http://schemas.microsoft.com/office/powerpoint/2010/main" val="3213543514"/>
      </p:ext>
    </p:extLst>
  </p:cSld>
  <p:clrMap bg1="lt1" tx1="dk1" bg2="lt2" tx2="dk2" accent1="accent1" accent2="accent2" accent3="accent3" accent4="accent4" accent5="accent5" accent6="accent6" hlink="hlink" folHlink="folHlink"/>
  <p:hf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775" y="739775"/>
            <a:ext cx="6588125" cy="3706813"/>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endParaRPr lang="en-US" dirty="0"/>
          </a:p>
        </p:txBody>
      </p:sp>
    </p:spTree>
    <p:extLst>
      <p:ext uri="{BB962C8B-B14F-4D97-AF65-F5344CB8AC3E}">
        <p14:creationId xmlns:p14="http://schemas.microsoft.com/office/powerpoint/2010/main" val="606074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775" y="739775"/>
            <a:ext cx="6588125" cy="3706813"/>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endParaRPr lang="en-US" dirty="0"/>
          </a:p>
        </p:txBody>
      </p:sp>
    </p:spTree>
    <p:extLst>
      <p:ext uri="{BB962C8B-B14F-4D97-AF65-F5344CB8AC3E}">
        <p14:creationId xmlns:p14="http://schemas.microsoft.com/office/powerpoint/2010/main" val="3145953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775" y="739775"/>
            <a:ext cx="6588125" cy="3706813"/>
          </a:xfrm>
        </p:spPr>
      </p:sp>
      <p:sp>
        <p:nvSpPr>
          <p:cNvPr id="3" name="Notes Placeholder 2"/>
          <p:cNvSpPr>
            <a:spLocks noGrp="1"/>
          </p:cNvSpPr>
          <p:nvPr>
            <p:ph type="body" idx="1"/>
          </p:nvPr>
        </p:nvSpPr>
        <p:spPr/>
        <p:txBody>
          <a:bodyPr/>
          <a:lstStyle/>
          <a:p>
            <a:pPr marL="177807" indent="-177807" algn="r" rtl="1">
              <a:buFont typeface="Wingdings" pitchFamily="2" charset="2"/>
              <a:buChar char="§"/>
            </a:pPr>
            <a:endParaRPr lang="en-US" dirty="0"/>
          </a:p>
        </p:txBody>
      </p:sp>
      <p:sp>
        <p:nvSpPr>
          <p:cNvPr id="5" name="Date Placeholder 4"/>
          <p:cNvSpPr>
            <a:spLocks noGrp="1"/>
          </p:cNvSpPr>
          <p:nvPr>
            <p:ph type="dt" idx="11"/>
          </p:nvPr>
        </p:nvSpPr>
        <p:spPr/>
        <p:txBody>
          <a:bodyPr/>
          <a:lstStyle/>
          <a:p>
            <a:endParaRPr lang="en-US" dirty="0"/>
          </a:p>
        </p:txBody>
      </p:sp>
    </p:spTree>
    <p:extLst>
      <p:ext uri="{BB962C8B-B14F-4D97-AF65-F5344CB8AC3E}">
        <p14:creationId xmlns:p14="http://schemas.microsoft.com/office/powerpoint/2010/main" val="2224665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775" y="739775"/>
            <a:ext cx="6588125" cy="3706813"/>
          </a:xfrm>
        </p:spPr>
      </p:sp>
      <p:sp>
        <p:nvSpPr>
          <p:cNvPr id="3" name="Notes Placeholder 2"/>
          <p:cNvSpPr>
            <a:spLocks noGrp="1"/>
          </p:cNvSpPr>
          <p:nvPr>
            <p:ph type="body" idx="1"/>
          </p:nvPr>
        </p:nvSpPr>
        <p:spPr/>
        <p:txBody>
          <a:bodyPr/>
          <a:lstStyle/>
          <a:p>
            <a:pPr marL="177789" indent="-177789" algn="r" rtl="1">
              <a:buFont typeface="Wingdings" pitchFamily="2" charset="2"/>
              <a:buChar char="§"/>
            </a:pPr>
            <a:endParaRPr lang="en-US" dirty="0"/>
          </a:p>
        </p:txBody>
      </p:sp>
      <p:sp>
        <p:nvSpPr>
          <p:cNvPr id="5" name="Date Placeholder 4"/>
          <p:cNvSpPr>
            <a:spLocks noGrp="1"/>
          </p:cNvSpPr>
          <p:nvPr>
            <p:ph type="dt" idx="11"/>
          </p:nvPr>
        </p:nvSpPr>
        <p:spPr/>
        <p:txBody>
          <a:bodyPr/>
          <a:lstStyle/>
          <a:p>
            <a:endParaRPr lang="en-US" dirty="0">
              <a:solidFill>
                <a:prstClr val="black"/>
              </a:solidFill>
            </a:endParaRPr>
          </a:p>
        </p:txBody>
      </p:sp>
    </p:spTree>
    <p:extLst>
      <p:ext uri="{BB962C8B-B14F-4D97-AF65-F5344CB8AC3E}">
        <p14:creationId xmlns:p14="http://schemas.microsoft.com/office/powerpoint/2010/main" val="2224665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775" y="739775"/>
            <a:ext cx="6588125" cy="3706813"/>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endParaRPr lang="en-US" dirty="0"/>
          </a:p>
        </p:txBody>
      </p:sp>
    </p:spTree>
    <p:extLst>
      <p:ext uri="{BB962C8B-B14F-4D97-AF65-F5344CB8AC3E}">
        <p14:creationId xmlns:p14="http://schemas.microsoft.com/office/powerpoint/2010/main" val="752408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775" y="739775"/>
            <a:ext cx="6588125" cy="3706813"/>
          </a:xfrm>
        </p:spPr>
      </p:sp>
      <p:sp>
        <p:nvSpPr>
          <p:cNvPr id="3" name="Notes Placeholder 2"/>
          <p:cNvSpPr>
            <a:spLocks noGrp="1"/>
          </p:cNvSpPr>
          <p:nvPr>
            <p:ph type="body" idx="1"/>
          </p:nvPr>
        </p:nvSpPr>
        <p:spPr/>
        <p:txBody>
          <a:bodyPr/>
          <a:lstStyle/>
          <a:p>
            <a:pPr marL="177789" indent="-177789" algn="r" rtl="1">
              <a:buFont typeface="Wingdings" pitchFamily="2" charset="2"/>
              <a:buChar char="§"/>
            </a:pPr>
            <a:endParaRPr lang="en-US" dirty="0"/>
          </a:p>
        </p:txBody>
      </p:sp>
      <p:sp>
        <p:nvSpPr>
          <p:cNvPr id="5" name="Date Placeholder 4"/>
          <p:cNvSpPr>
            <a:spLocks noGrp="1"/>
          </p:cNvSpPr>
          <p:nvPr>
            <p:ph type="dt" idx="11"/>
          </p:nvPr>
        </p:nvSpPr>
        <p:spPr/>
        <p:txBody>
          <a:bodyPr/>
          <a:lstStyle/>
          <a:p>
            <a:endParaRPr lang="en-US" dirty="0">
              <a:solidFill>
                <a:prstClr val="black"/>
              </a:solidFill>
            </a:endParaRPr>
          </a:p>
        </p:txBody>
      </p:sp>
    </p:spTree>
    <p:extLst>
      <p:ext uri="{BB962C8B-B14F-4D97-AF65-F5344CB8AC3E}">
        <p14:creationId xmlns:p14="http://schemas.microsoft.com/office/powerpoint/2010/main" val="3343497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338BD-7E35-692A-E2F2-2C4238D4BD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83A06-C454-6558-AB40-CE2C518DABC4}"/>
              </a:ext>
            </a:extLst>
          </p:cNvPr>
          <p:cNvSpPr>
            <a:spLocks noGrp="1" noRot="1" noChangeAspect="1"/>
          </p:cNvSpPr>
          <p:nvPr>
            <p:ph type="sldImg"/>
          </p:nvPr>
        </p:nvSpPr>
        <p:spPr>
          <a:xfrm>
            <a:off x="104775" y="739775"/>
            <a:ext cx="6588125" cy="3706813"/>
          </a:xfrm>
        </p:spPr>
      </p:sp>
      <p:sp>
        <p:nvSpPr>
          <p:cNvPr id="3" name="Notes Placeholder 2">
            <a:extLst>
              <a:ext uri="{FF2B5EF4-FFF2-40B4-BE49-F238E27FC236}">
                <a16:creationId xmlns:a16="http://schemas.microsoft.com/office/drawing/2014/main" id="{4D38314F-9466-50CE-7CD9-D95D4AEF08EA}"/>
              </a:ext>
            </a:extLst>
          </p:cNvPr>
          <p:cNvSpPr>
            <a:spLocks noGrp="1"/>
          </p:cNvSpPr>
          <p:nvPr>
            <p:ph type="body" idx="1"/>
          </p:nvPr>
        </p:nvSpPr>
        <p:spPr/>
        <p:txBody>
          <a:bodyPr/>
          <a:lstStyle/>
          <a:p>
            <a:pPr marL="177789" indent="-177789" algn="r" rtl="1">
              <a:buFont typeface="Wingdings" pitchFamily="2" charset="2"/>
              <a:buChar char="§"/>
            </a:pPr>
            <a:endParaRPr lang="en-US" dirty="0"/>
          </a:p>
        </p:txBody>
      </p:sp>
      <p:sp>
        <p:nvSpPr>
          <p:cNvPr id="5" name="Date Placeholder 4">
            <a:extLst>
              <a:ext uri="{FF2B5EF4-FFF2-40B4-BE49-F238E27FC236}">
                <a16:creationId xmlns:a16="http://schemas.microsoft.com/office/drawing/2014/main" id="{B53414F1-73B6-5546-73DB-E666673F2D02}"/>
              </a:ext>
            </a:extLst>
          </p:cNvPr>
          <p:cNvSpPr>
            <a:spLocks noGrp="1"/>
          </p:cNvSpPr>
          <p:nvPr>
            <p:ph type="dt" idx="11"/>
          </p:nvPr>
        </p:nvSpPr>
        <p:spPr/>
        <p:txBody>
          <a:bodyPr/>
          <a:lstStyle/>
          <a:p>
            <a:endParaRPr lang="en-US" dirty="0">
              <a:solidFill>
                <a:prstClr val="black"/>
              </a:solidFill>
            </a:endParaRPr>
          </a:p>
        </p:txBody>
      </p:sp>
    </p:spTree>
    <p:extLst>
      <p:ext uri="{BB962C8B-B14F-4D97-AF65-F5344CB8AC3E}">
        <p14:creationId xmlns:p14="http://schemas.microsoft.com/office/powerpoint/2010/main" val="26102080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775" y="739775"/>
            <a:ext cx="6588125" cy="3706813"/>
          </a:xfrm>
        </p:spPr>
      </p:sp>
      <p:sp>
        <p:nvSpPr>
          <p:cNvPr id="3" name="Notes Placeholder 2"/>
          <p:cNvSpPr>
            <a:spLocks noGrp="1"/>
          </p:cNvSpPr>
          <p:nvPr>
            <p:ph type="body" idx="1"/>
          </p:nvPr>
        </p:nvSpPr>
        <p:spPr/>
        <p:txBody>
          <a:bodyPr/>
          <a:lstStyle/>
          <a:p>
            <a:pPr marL="177789" indent="-177789" algn="r" rtl="1">
              <a:buFont typeface="Wingdings" pitchFamily="2" charset="2"/>
              <a:buChar char="§"/>
            </a:pPr>
            <a:endParaRPr lang="en-US" dirty="0"/>
          </a:p>
        </p:txBody>
      </p:sp>
      <p:sp>
        <p:nvSpPr>
          <p:cNvPr id="5" name="Date Placeholder 4"/>
          <p:cNvSpPr>
            <a:spLocks noGrp="1"/>
          </p:cNvSpPr>
          <p:nvPr>
            <p:ph type="dt" idx="11"/>
          </p:nvPr>
        </p:nvSpPr>
        <p:spPr/>
        <p:txBody>
          <a:bodyPr/>
          <a:lstStyle/>
          <a:p>
            <a:endParaRPr lang="en-US" dirty="0">
              <a:solidFill>
                <a:prstClr val="black"/>
              </a:solidFill>
            </a:endParaRPr>
          </a:p>
        </p:txBody>
      </p:sp>
    </p:spTree>
    <p:extLst>
      <p:ext uri="{BB962C8B-B14F-4D97-AF65-F5344CB8AC3E}">
        <p14:creationId xmlns:p14="http://schemas.microsoft.com/office/powerpoint/2010/main" val="3730734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775" y="739775"/>
            <a:ext cx="6588125" cy="3706813"/>
          </a:xfrm>
        </p:spPr>
      </p:sp>
      <p:sp>
        <p:nvSpPr>
          <p:cNvPr id="3" name="Notes Placeholder 2"/>
          <p:cNvSpPr>
            <a:spLocks noGrp="1"/>
          </p:cNvSpPr>
          <p:nvPr>
            <p:ph type="body" idx="1"/>
          </p:nvPr>
        </p:nvSpPr>
        <p:spPr/>
        <p:txBody>
          <a:bodyPr/>
          <a:lstStyle/>
          <a:p>
            <a:pPr marL="177789" indent="-177789" algn="r" rtl="1">
              <a:buFont typeface="Wingdings" pitchFamily="2" charset="2"/>
              <a:buChar char="§"/>
            </a:pPr>
            <a:endParaRPr lang="en-US" dirty="0"/>
          </a:p>
        </p:txBody>
      </p:sp>
      <p:sp>
        <p:nvSpPr>
          <p:cNvPr id="5" name="Date Placeholder 4"/>
          <p:cNvSpPr>
            <a:spLocks noGrp="1"/>
          </p:cNvSpPr>
          <p:nvPr>
            <p:ph type="dt" idx="11"/>
          </p:nvPr>
        </p:nvSpPr>
        <p:spPr/>
        <p:txBody>
          <a:bodyPr/>
          <a:lstStyle/>
          <a:p>
            <a:endParaRPr lang="en-US" dirty="0">
              <a:solidFill>
                <a:prstClr val="black"/>
              </a:solidFill>
            </a:endParaRPr>
          </a:p>
        </p:txBody>
      </p:sp>
    </p:spTree>
    <p:extLst>
      <p:ext uri="{BB962C8B-B14F-4D97-AF65-F5344CB8AC3E}">
        <p14:creationId xmlns:p14="http://schemas.microsoft.com/office/powerpoint/2010/main" val="3507848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775" y="739775"/>
            <a:ext cx="6588125" cy="3706813"/>
          </a:xfrm>
        </p:spPr>
      </p:sp>
      <p:sp>
        <p:nvSpPr>
          <p:cNvPr id="3" name="Notes Placeholder 2"/>
          <p:cNvSpPr>
            <a:spLocks noGrp="1"/>
          </p:cNvSpPr>
          <p:nvPr>
            <p:ph type="body" idx="1"/>
          </p:nvPr>
        </p:nvSpPr>
        <p:spPr/>
        <p:txBody>
          <a:bodyPr/>
          <a:lstStyle/>
          <a:p>
            <a:pPr marL="177789" indent="-177789" algn="r" rtl="1">
              <a:buFont typeface="Wingdings" pitchFamily="2" charset="2"/>
              <a:buChar char="§"/>
            </a:pPr>
            <a:endParaRPr lang="en-US" dirty="0"/>
          </a:p>
        </p:txBody>
      </p:sp>
      <p:sp>
        <p:nvSpPr>
          <p:cNvPr id="5" name="Date Placeholder 4"/>
          <p:cNvSpPr>
            <a:spLocks noGrp="1"/>
          </p:cNvSpPr>
          <p:nvPr>
            <p:ph type="dt" idx="11"/>
          </p:nvPr>
        </p:nvSpPr>
        <p:spPr/>
        <p:txBody>
          <a:bodyPr/>
          <a:lstStyle/>
          <a:p>
            <a:endParaRPr lang="en-US" dirty="0">
              <a:solidFill>
                <a:prstClr val="black"/>
              </a:solidFill>
            </a:endParaRPr>
          </a:p>
        </p:txBody>
      </p:sp>
    </p:spTree>
    <p:extLst>
      <p:ext uri="{BB962C8B-B14F-4D97-AF65-F5344CB8AC3E}">
        <p14:creationId xmlns:p14="http://schemas.microsoft.com/office/powerpoint/2010/main" val="15777939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775" y="739775"/>
            <a:ext cx="6588125" cy="3706813"/>
          </a:xfrm>
        </p:spPr>
      </p:sp>
      <p:sp>
        <p:nvSpPr>
          <p:cNvPr id="3" name="Notes Placeholder 2"/>
          <p:cNvSpPr>
            <a:spLocks noGrp="1"/>
          </p:cNvSpPr>
          <p:nvPr>
            <p:ph type="body" idx="1"/>
          </p:nvPr>
        </p:nvSpPr>
        <p:spPr/>
        <p:txBody>
          <a:bodyPr/>
          <a:lstStyle/>
          <a:p>
            <a:pPr marL="177789" indent="-177789" algn="r" rtl="1">
              <a:buFont typeface="Wingdings" pitchFamily="2" charset="2"/>
              <a:buChar char="§"/>
            </a:pPr>
            <a:endParaRPr lang="en-US" dirty="0"/>
          </a:p>
        </p:txBody>
      </p:sp>
      <p:sp>
        <p:nvSpPr>
          <p:cNvPr id="5" name="Date Placeholder 4"/>
          <p:cNvSpPr>
            <a:spLocks noGrp="1"/>
          </p:cNvSpPr>
          <p:nvPr>
            <p:ph type="dt" idx="11"/>
          </p:nvPr>
        </p:nvSpPr>
        <p:spPr/>
        <p:txBody>
          <a:bodyPr/>
          <a:lstStyle/>
          <a:p>
            <a:endParaRPr lang="en-US" dirty="0">
              <a:solidFill>
                <a:prstClr val="black"/>
              </a:solidFill>
            </a:endParaRPr>
          </a:p>
        </p:txBody>
      </p:sp>
    </p:spTree>
    <p:extLst>
      <p:ext uri="{BB962C8B-B14F-4D97-AF65-F5344CB8AC3E}">
        <p14:creationId xmlns:p14="http://schemas.microsoft.com/office/powerpoint/2010/main" val="3047816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775" y="739775"/>
            <a:ext cx="6588125" cy="3706813"/>
          </a:xfrm>
        </p:spPr>
      </p:sp>
      <p:sp>
        <p:nvSpPr>
          <p:cNvPr id="3" name="Notes Placeholder 2"/>
          <p:cNvSpPr>
            <a:spLocks noGrp="1"/>
          </p:cNvSpPr>
          <p:nvPr>
            <p:ph type="body" idx="1"/>
          </p:nvPr>
        </p:nvSpPr>
        <p:spPr/>
        <p:txBody>
          <a:bodyPr/>
          <a:lstStyle/>
          <a:p>
            <a:pPr marL="177789" indent="-177789" algn="r" rtl="1">
              <a:buFont typeface="Wingdings" pitchFamily="2" charset="2"/>
              <a:buChar char="§"/>
            </a:pPr>
            <a:endParaRPr lang="en-US" dirty="0"/>
          </a:p>
        </p:txBody>
      </p:sp>
      <p:sp>
        <p:nvSpPr>
          <p:cNvPr id="5" name="Date Placeholder 4"/>
          <p:cNvSpPr>
            <a:spLocks noGrp="1"/>
          </p:cNvSpPr>
          <p:nvPr>
            <p:ph type="dt" idx="11"/>
          </p:nvPr>
        </p:nvSpPr>
        <p:spPr/>
        <p:txBody>
          <a:bodyPr/>
          <a:lstStyle/>
          <a:p>
            <a:endParaRPr lang="en-US" dirty="0">
              <a:solidFill>
                <a:prstClr val="black"/>
              </a:solidFill>
            </a:endParaRPr>
          </a:p>
        </p:txBody>
      </p:sp>
    </p:spTree>
    <p:extLst>
      <p:ext uri="{BB962C8B-B14F-4D97-AF65-F5344CB8AC3E}">
        <p14:creationId xmlns:p14="http://schemas.microsoft.com/office/powerpoint/2010/main" val="2707492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5"/>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solidFill>
                  <a:srgbClr val="DBF5F9">
                    <a:shade val="90000"/>
                  </a:srgbClr>
                </a:solidFill>
              </a:rPr>
              <a:t>سسسس</a:t>
            </a:r>
            <a:endParaRPr lang="en-US" dirty="0">
              <a:solidFill>
                <a:srgbClr val="FFFFFF"/>
              </a:solidFill>
            </a:endParaRPr>
          </a:p>
        </p:txBody>
      </p:sp>
      <p:sp>
        <p:nvSpPr>
          <p:cNvPr id="5" name="Footer Placeholder 4"/>
          <p:cNvSpPr>
            <a:spLocks noGrp="1"/>
          </p:cNvSpPr>
          <p:nvPr>
            <p:ph type="ftr" sz="quarter" idx="11"/>
          </p:nvPr>
        </p:nvSpPr>
        <p:spPr/>
        <p:txBody>
          <a:bodyPr/>
          <a:lstStyle/>
          <a:p>
            <a:r>
              <a:rPr lang="ar-EG">
                <a:solidFill>
                  <a:srgbClr val="FFFFFF"/>
                </a:solidFill>
              </a:rPr>
              <a:t>نننن</a:t>
            </a:r>
            <a:endParaRPr lang="en-US" dirty="0">
              <a:solidFill>
                <a:srgbClr val="FFFFFF"/>
              </a:solidFill>
            </a:endParaRPr>
          </a:p>
        </p:txBody>
      </p:sp>
      <p:sp>
        <p:nvSpPr>
          <p:cNvPr id="6" name="Slide Number Placeholder 5"/>
          <p:cNvSpPr>
            <a:spLocks noGrp="1"/>
          </p:cNvSpPr>
          <p:nvPr>
            <p:ph type="sldNum" sz="quarter" idx="12"/>
          </p:nvPr>
        </p:nvSpPr>
        <p:spPr/>
        <p:txBody>
          <a:bodyPr/>
          <a:lstStyle/>
          <a:p>
            <a:fld id="{BC5217A8-0E06-4059-AC45-433E2E67A85D}" type="slidenum">
              <a:rPr lang="en-US" smtClean="0">
                <a:solidFill>
                  <a:srgbClr val="DBF5F9">
                    <a:shade val="90000"/>
                  </a:srgbClr>
                </a:solidFill>
              </a:rPr>
              <a:pPr/>
              <a:t>‹#›</a:t>
            </a:fld>
            <a:endParaRPr lang="en-US" dirty="0">
              <a:solidFill>
                <a:srgbClr val="FFFFFF"/>
              </a:solidFill>
            </a:endParaRPr>
          </a:p>
        </p:txBody>
      </p:sp>
    </p:spTree>
    <p:extLst>
      <p:ext uri="{BB962C8B-B14F-4D97-AF65-F5344CB8AC3E}">
        <p14:creationId xmlns:p14="http://schemas.microsoft.com/office/powerpoint/2010/main" val="2176734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solidFill>
                  <a:srgbClr val="04617B">
                    <a:shade val="90000"/>
                  </a:srgbClr>
                </a:solidFill>
              </a:rPr>
              <a:t>سسسس</a:t>
            </a:r>
            <a:endParaRPr lang="en-US" dirty="0">
              <a:solidFill>
                <a:srgbClr val="04617B">
                  <a:shade val="90000"/>
                </a:srgbClr>
              </a:solidFill>
            </a:endParaRPr>
          </a:p>
        </p:txBody>
      </p:sp>
      <p:sp>
        <p:nvSpPr>
          <p:cNvPr id="5" name="Footer Placeholder 4"/>
          <p:cNvSpPr>
            <a:spLocks noGrp="1"/>
          </p:cNvSpPr>
          <p:nvPr>
            <p:ph type="ftr" sz="quarter" idx="11"/>
          </p:nvPr>
        </p:nvSpPr>
        <p:spPr/>
        <p:txBody>
          <a:bodyPr/>
          <a:lstStyle/>
          <a:p>
            <a:r>
              <a:rPr lang="ar-EG">
                <a:solidFill>
                  <a:srgbClr val="04617B">
                    <a:shade val="90000"/>
                  </a:srgbClr>
                </a:solidFill>
              </a:rPr>
              <a:t>نننن</a:t>
            </a:r>
            <a:endParaRPr lang="en-US"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BC5217A8-0E06-4059-AC45-433E2E67A85D}" type="slidenum">
              <a:rPr lang="en-US" smtClean="0">
                <a:solidFill>
                  <a:srgbClr val="04617B">
                    <a:shade val="90000"/>
                  </a:srgbClr>
                </a:solidFill>
              </a:rPr>
              <a:pPr/>
              <a:t>‹#›</a:t>
            </a:fld>
            <a:endParaRPr lang="en-US" dirty="0">
              <a:solidFill>
                <a:srgbClr val="04617B">
                  <a:shade val="90000"/>
                </a:srgbClr>
              </a:solidFill>
            </a:endParaRPr>
          </a:p>
        </p:txBody>
      </p:sp>
    </p:spTree>
    <p:extLst>
      <p:ext uri="{BB962C8B-B14F-4D97-AF65-F5344CB8AC3E}">
        <p14:creationId xmlns:p14="http://schemas.microsoft.com/office/powerpoint/2010/main" val="4113534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9"/>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solidFill>
                  <a:srgbClr val="DBF5F9">
                    <a:shade val="90000"/>
                  </a:srgbClr>
                </a:solidFill>
              </a:rPr>
              <a:t>سسسس</a:t>
            </a:r>
            <a:endParaRPr lang="en-US" dirty="0">
              <a:solidFill>
                <a:srgbClr val="DBF5F9"/>
              </a:solidFill>
            </a:endParaRPr>
          </a:p>
        </p:txBody>
      </p:sp>
      <p:sp>
        <p:nvSpPr>
          <p:cNvPr id="5" name="Footer Placeholder 4"/>
          <p:cNvSpPr>
            <a:spLocks noGrp="1"/>
          </p:cNvSpPr>
          <p:nvPr>
            <p:ph type="ftr" sz="quarter" idx="11"/>
          </p:nvPr>
        </p:nvSpPr>
        <p:spPr/>
        <p:txBody>
          <a:bodyPr/>
          <a:lstStyle/>
          <a:p>
            <a:r>
              <a:rPr lang="ar-EG">
                <a:solidFill>
                  <a:srgbClr val="DBF5F9"/>
                </a:solidFill>
              </a:rPr>
              <a:t>نننن</a:t>
            </a:r>
            <a:endParaRPr lang="en-US" dirty="0">
              <a:solidFill>
                <a:srgbClr val="DBF5F9"/>
              </a:solidFill>
            </a:endParaRPr>
          </a:p>
        </p:txBody>
      </p:sp>
      <p:sp>
        <p:nvSpPr>
          <p:cNvPr id="6" name="Slide Number Placeholder 5"/>
          <p:cNvSpPr>
            <a:spLocks noGrp="1"/>
          </p:cNvSpPr>
          <p:nvPr>
            <p:ph type="sldNum" sz="quarter" idx="12"/>
          </p:nvPr>
        </p:nvSpPr>
        <p:spPr/>
        <p:txBody>
          <a:bodyPr/>
          <a:lstStyle/>
          <a:p>
            <a:fld id="{BC5217A8-0E06-4059-AC45-433E2E67A85D}" type="slidenum">
              <a:rPr lang="en-US" smtClean="0">
                <a:solidFill>
                  <a:srgbClr val="DBF5F9">
                    <a:shade val="90000"/>
                  </a:srgbClr>
                </a:solidFill>
              </a:rPr>
              <a:pPr/>
              <a:t>‹#›</a:t>
            </a:fld>
            <a:endParaRPr lang="en-US" dirty="0">
              <a:solidFill>
                <a:srgbClr val="DBF5F9">
                  <a:shade val="90000"/>
                </a:srgbClr>
              </a:solidFill>
            </a:endParaRPr>
          </a:p>
        </p:txBody>
      </p:sp>
    </p:spTree>
    <p:extLst>
      <p:ext uri="{BB962C8B-B14F-4D97-AF65-F5344CB8AC3E}">
        <p14:creationId xmlns:p14="http://schemas.microsoft.com/office/powerpoint/2010/main" val="2793456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5"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69" y="2160590"/>
            <a:ext cx="4184035"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solidFill>
                  <a:srgbClr val="04617B">
                    <a:shade val="90000"/>
                  </a:srgbClr>
                </a:solidFill>
              </a:rPr>
              <a:t>سسسس</a:t>
            </a:r>
            <a:endParaRPr lang="en-US" dirty="0">
              <a:solidFill>
                <a:srgbClr val="04617B">
                  <a:shade val="90000"/>
                </a:srgbClr>
              </a:solidFill>
            </a:endParaRPr>
          </a:p>
        </p:txBody>
      </p:sp>
      <p:sp>
        <p:nvSpPr>
          <p:cNvPr id="6" name="Footer Placeholder 5"/>
          <p:cNvSpPr>
            <a:spLocks noGrp="1"/>
          </p:cNvSpPr>
          <p:nvPr>
            <p:ph type="ftr" sz="quarter" idx="11"/>
          </p:nvPr>
        </p:nvSpPr>
        <p:spPr/>
        <p:txBody>
          <a:bodyPr/>
          <a:lstStyle/>
          <a:p>
            <a:r>
              <a:rPr lang="ar-EG">
                <a:solidFill>
                  <a:srgbClr val="04617B">
                    <a:shade val="90000"/>
                  </a:srgbClr>
                </a:solidFill>
              </a:rPr>
              <a:t>نننن</a:t>
            </a:r>
            <a:endParaRPr lang="en-US" dirty="0">
              <a:solidFill>
                <a:srgbClr val="04617B">
                  <a:shade val="90000"/>
                </a:srgbClr>
              </a:solidFill>
            </a:endParaRPr>
          </a:p>
        </p:txBody>
      </p:sp>
      <p:sp>
        <p:nvSpPr>
          <p:cNvPr id="7" name="Slide Number Placeholder 6"/>
          <p:cNvSpPr>
            <a:spLocks noGrp="1"/>
          </p:cNvSpPr>
          <p:nvPr>
            <p:ph type="sldNum" sz="quarter" idx="12"/>
          </p:nvPr>
        </p:nvSpPr>
        <p:spPr/>
        <p:txBody>
          <a:bodyPr/>
          <a:lstStyle/>
          <a:p>
            <a:fld id="{BC5217A8-0E06-4059-AC45-433E2E67A85D}" type="slidenum">
              <a:rPr lang="en-US" smtClean="0">
                <a:solidFill>
                  <a:srgbClr val="04617B">
                    <a:shade val="90000"/>
                  </a:srgbClr>
                </a:solidFill>
              </a:rPr>
              <a:pPr/>
              <a:t>‹#›</a:t>
            </a:fld>
            <a:endParaRPr lang="en-US" dirty="0">
              <a:solidFill>
                <a:srgbClr val="04617B">
                  <a:shade val="90000"/>
                </a:srgbClr>
              </a:solidFill>
            </a:endParaRPr>
          </a:p>
        </p:txBody>
      </p:sp>
    </p:spTree>
    <p:extLst>
      <p:ext uri="{BB962C8B-B14F-4D97-AF65-F5344CB8AC3E}">
        <p14:creationId xmlns:p14="http://schemas.microsoft.com/office/powerpoint/2010/main" val="1621518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6"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6" y="2737247"/>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5" y="2737247"/>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solidFill>
                  <a:srgbClr val="04617B">
                    <a:shade val="90000"/>
                  </a:srgbClr>
                </a:solidFill>
              </a:rPr>
              <a:t>سسسس</a:t>
            </a:r>
            <a:endParaRPr lang="en-US" dirty="0">
              <a:solidFill>
                <a:srgbClr val="04617B">
                  <a:shade val="90000"/>
                </a:srgbClr>
              </a:solidFill>
            </a:endParaRPr>
          </a:p>
        </p:txBody>
      </p:sp>
      <p:sp>
        <p:nvSpPr>
          <p:cNvPr id="8" name="Footer Placeholder 7"/>
          <p:cNvSpPr>
            <a:spLocks noGrp="1"/>
          </p:cNvSpPr>
          <p:nvPr>
            <p:ph type="ftr" sz="quarter" idx="11"/>
          </p:nvPr>
        </p:nvSpPr>
        <p:spPr/>
        <p:txBody>
          <a:bodyPr/>
          <a:lstStyle/>
          <a:p>
            <a:r>
              <a:rPr lang="ar-EG">
                <a:solidFill>
                  <a:srgbClr val="04617B">
                    <a:shade val="90000"/>
                  </a:srgbClr>
                </a:solidFill>
              </a:rPr>
              <a:t>نننن</a:t>
            </a:r>
            <a:endParaRPr lang="en-US" dirty="0">
              <a:solidFill>
                <a:srgbClr val="04617B">
                  <a:shade val="90000"/>
                </a:srgbClr>
              </a:solidFill>
            </a:endParaRPr>
          </a:p>
        </p:txBody>
      </p:sp>
      <p:sp>
        <p:nvSpPr>
          <p:cNvPr id="9" name="Slide Number Placeholder 8"/>
          <p:cNvSpPr>
            <a:spLocks noGrp="1"/>
          </p:cNvSpPr>
          <p:nvPr>
            <p:ph type="sldNum" sz="quarter" idx="12"/>
          </p:nvPr>
        </p:nvSpPr>
        <p:spPr/>
        <p:txBody>
          <a:bodyPr/>
          <a:lstStyle/>
          <a:p>
            <a:fld id="{BC5217A8-0E06-4059-AC45-433E2E67A85D}" type="slidenum">
              <a:rPr lang="en-US" smtClean="0">
                <a:solidFill>
                  <a:srgbClr val="04617B">
                    <a:shade val="90000"/>
                  </a:srgbClr>
                </a:solidFill>
              </a:rPr>
              <a:pPr/>
              <a:t>‹#›</a:t>
            </a:fld>
            <a:endParaRPr lang="en-US" dirty="0">
              <a:solidFill>
                <a:srgbClr val="04617B">
                  <a:shade val="90000"/>
                </a:srgbClr>
              </a:solidFill>
            </a:endParaRPr>
          </a:p>
        </p:txBody>
      </p:sp>
    </p:spTree>
    <p:extLst>
      <p:ext uri="{BB962C8B-B14F-4D97-AF65-F5344CB8AC3E}">
        <p14:creationId xmlns:p14="http://schemas.microsoft.com/office/powerpoint/2010/main" val="1839558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solidFill>
                  <a:srgbClr val="04617B">
                    <a:shade val="90000"/>
                  </a:srgbClr>
                </a:solidFill>
              </a:rPr>
              <a:t>سسسس</a:t>
            </a:r>
            <a:endParaRPr lang="en-US" dirty="0">
              <a:solidFill>
                <a:srgbClr val="04617B">
                  <a:shade val="90000"/>
                </a:srgbClr>
              </a:solidFill>
            </a:endParaRPr>
          </a:p>
        </p:txBody>
      </p:sp>
      <p:sp>
        <p:nvSpPr>
          <p:cNvPr id="4" name="Footer Placeholder 3"/>
          <p:cNvSpPr>
            <a:spLocks noGrp="1"/>
          </p:cNvSpPr>
          <p:nvPr>
            <p:ph type="ftr" sz="quarter" idx="11"/>
          </p:nvPr>
        </p:nvSpPr>
        <p:spPr/>
        <p:txBody>
          <a:bodyPr/>
          <a:lstStyle/>
          <a:p>
            <a:r>
              <a:rPr lang="ar-EG">
                <a:solidFill>
                  <a:srgbClr val="04617B">
                    <a:shade val="90000"/>
                  </a:srgbClr>
                </a:solidFill>
              </a:rPr>
              <a:t>نننن</a:t>
            </a:r>
            <a:endParaRPr lang="en-US" dirty="0">
              <a:solidFill>
                <a:srgbClr val="04617B">
                  <a:shade val="90000"/>
                </a:srgbClr>
              </a:solidFill>
            </a:endParaRPr>
          </a:p>
        </p:txBody>
      </p:sp>
      <p:sp>
        <p:nvSpPr>
          <p:cNvPr id="5" name="Slide Number Placeholder 4"/>
          <p:cNvSpPr>
            <a:spLocks noGrp="1"/>
          </p:cNvSpPr>
          <p:nvPr>
            <p:ph type="sldNum" sz="quarter" idx="12"/>
          </p:nvPr>
        </p:nvSpPr>
        <p:spPr/>
        <p:txBody>
          <a:bodyPr/>
          <a:lstStyle/>
          <a:p>
            <a:fld id="{BC5217A8-0E06-4059-AC45-433E2E67A85D}" type="slidenum">
              <a:rPr lang="en-US" smtClean="0">
                <a:solidFill>
                  <a:srgbClr val="04617B">
                    <a:shade val="90000"/>
                  </a:srgbClr>
                </a:solidFill>
              </a:rPr>
              <a:pPr/>
              <a:t>‹#›</a:t>
            </a:fld>
            <a:endParaRPr lang="en-US" dirty="0">
              <a:solidFill>
                <a:srgbClr val="04617B">
                  <a:shade val="90000"/>
                </a:srgbClr>
              </a:solidFill>
            </a:endParaRPr>
          </a:p>
        </p:txBody>
      </p:sp>
    </p:spTree>
    <p:extLst>
      <p:ext uri="{BB962C8B-B14F-4D97-AF65-F5344CB8AC3E}">
        <p14:creationId xmlns:p14="http://schemas.microsoft.com/office/powerpoint/2010/main" val="821310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srgbClr val="04617B">
                    <a:shade val="90000"/>
                  </a:srgbClr>
                </a:solidFill>
              </a:rPr>
              <a:t>سسسس</a:t>
            </a:r>
            <a:endParaRPr lang="en-US" dirty="0">
              <a:solidFill>
                <a:srgbClr val="04617B"/>
              </a:solidFill>
            </a:endParaRPr>
          </a:p>
        </p:txBody>
      </p:sp>
      <p:sp>
        <p:nvSpPr>
          <p:cNvPr id="3" name="Footer Placeholder 2"/>
          <p:cNvSpPr>
            <a:spLocks noGrp="1"/>
          </p:cNvSpPr>
          <p:nvPr>
            <p:ph type="ftr" sz="quarter" idx="11"/>
          </p:nvPr>
        </p:nvSpPr>
        <p:spPr/>
        <p:txBody>
          <a:bodyPr/>
          <a:lstStyle/>
          <a:p>
            <a:r>
              <a:rPr lang="ar-EG">
                <a:solidFill>
                  <a:srgbClr val="04617B"/>
                </a:solidFill>
              </a:rPr>
              <a:t>نننن</a:t>
            </a:r>
            <a:endParaRPr lang="en-US" dirty="0">
              <a:solidFill>
                <a:srgbClr val="04617B"/>
              </a:solidFill>
            </a:endParaRPr>
          </a:p>
        </p:txBody>
      </p:sp>
      <p:sp>
        <p:nvSpPr>
          <p:cNvPr id="4" name="Slide Number Placeholder 3"/>
          <p:cNvSpPr>
            <a:spLocks noGrp="1"/>
          </p:cNvSpPr>
          <p:nvPr>
            <p:ph type="sldNum" sz="quarter" idx="12"/>
          </p:nvPr>
        </p:nvSpPr>
        <p:spPr/>
        <p:txBody>
          <a:bodyPr/>
          <a:lstStyle/>
          <a:p>
            <a:fld id="{BC5217A8-0E06-4059-AC45-433E2E67A85D}" type="slidenum">
              <a:rPr lang="en-US" smtClean="0">
                <a:solidFill>
                  <a:srgbClr val="04617B">
                    <a:shade val="90000"/>
                  </a:srgbClr>
                </a:solidFill>
              </a:rPr>
              <a:pPr/>
              <a:t>‹#›</a:t>
            </a:fld>
            <a:endParaRPr lang="en-US" dirty="0">
              <a:solidFill>
                <a:srgbClr val="04617B">
                  <a:shade val="90000"/>
                </a:srgbClr>
              </a:solidFill>
            </a:endParaRPr>
          </a:p>
        </p:txBody>
      </p:sp>
    </p:spTree>
    <p:extLst>
      <p:ext uri="{BB962C8B-B14F-4D97-AF65-F5344CB8AC3E}">
        <p14:creationId xmlns:p14="http://schemas.microsoft.com/office/powerpoint/2010/main" val="3631328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2" y="514926"/>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5"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srgbClr val="04617B">
                    <a:shade val="90000"/>
                  </a:srgbClr>
                </a:solidFill>
              </a:rPr>
              <a:t>سسسس</a:t>
            </a:r>
            <a:endParaRPr lang="en-US" dirty="0">
              <a:solidFill>
                <a:srgbClr val="04617B">
                  <a:shade val="90000"/>
                </a:srgbClr>
              </a:solidFill>
            </a:endParaRPr>
          </a:p>
        </p:txBody>
      </p:sp>
      <p:sp>
        <p:nvSpPr>
          <p:cNvPr id="6" name="Footer Placeholder 5"/>
          <p:cNvSpPr>
            <a:spLocks noGrp="1"/>
          </p:cNvSpPr>
          <p:nvPr>
            <p:ph type="ftr" sz="quarter" idx="11"/>
          </p:nvPr>
        </p:nvSpPr>
        <p:spPr/>
        <p:txBody>
          <a:bodyPr/>
          <a:lstStyle/>
          <a:p>
            <a:r>
              <a:rPr lang="ar-EG">
                <a:solidFill>
                  <a:srgbClr val="04617B">
                    <a:shade val="90000"/>
                  </a:srgbClr>
                </a:solidFill>
              </a:rPr>
              <a:t>نننن</a:t>
            </a:r>
            <a:endParaRPr lang="en-US" dirty="0">
              <a:solidFill>
                <a:srgbClr val="04617B">
                  <a:shade val="90000"/>
                </a:srgbClr>
              </a:solidFill>
            </a:endParaRPr>
          </a:p>
        </p:txBody>
      </p:sp>
      <p:sp>
        <p:nvSpPr>
          <p:cNvPr id="7" name="Slide Number Placeholder 6"/>
          <p:cNvSpPr>
            <a:spLocks noGrp="1"/>
          </p:cNvSpPr>
          <p:nvPr>
            <p:ph type="sldNum" sz="quarter" idx="12"/>
          </p:nvPr>
        </p:nvSpPr>
        <p:spPr/>
        <p:txBody>
          <a:bodyPr/>
          <a:lstStyle/>
          <a:p>
            <a:fld id="{BC5217A8-0E06-4059-AC45-433E2E67A85D}" type="slidenum">
              <a:rPr lang="en-US" smtClean="0">
                <a:solidFill>
                  <a:srgbClr val="04617B">
                    <a:shade val="90000"/>
                  </a:srgbClr>
                </a:solidFill>
              </a:rPr>
              <a:pPr/>
              <a:t>‹#›</a:t>
            </a:fld>
            <a:endParaRPr lang="en-US" dirty="0">
              <a:solidFill>
                <a:srgbClr val="04617B">
                  <a:shade val="90000"/>
                </a:srgbClr>
              </a:solidFill>
            </a:endParaRPr>
          </a:p>
        </p:txBody>
      </p:sp>
    </p:spTree>
    <p:extLst>
      <p:ext uri="{BB962C8B-B14F-4D97-AF65-F5344CB8AC3E}">
        <p14:creationId xmlns:p14="http://schemas.microsoft.com/office/powerpoint/2010/main" val="6413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5"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5"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srgbClr val="04617B">
                    <a:shade val="90000"/>
                  </a:srgbClr>
                </a:solidFill>
              </a:rPr>
              <a:t>سسسس</a:t>
            </a:r>
            <a:endParaRPr lang="en-US" dirty="0">
              <a:solidFill>
                <a:srgbClr val="04617B">
                  <a:shade val="90000"/>
                </a:srgbClr>
              </a:solidFill>
            </a:endParaRPr>
          </a:p>
        </p:txBody>
      </p:sp>
      <p:sp>
        <p:nvSpPr>
          <p:cNvPr id="6" name="Footer Placeholder 5"/>
          <p:cNvSpPr>
            <a:spLocks noGrp="1"/>
          </p:cNvSpPr>
          <p:nvPr>
            <p:ph type="ftr" sz="quarter" idx="11"/>
          </p:nvPr>
        </p:nvSpPr>
        <p:spPr/>
        <p:txBody>
          <a:bodyPr/>
          <a:lstStyle/>
          <a:p>
            <a:r>
              <a:rPr lang="ar-EG">
                <a:solidFill>
                  <a:srgbClr val="04617B">
                    <a:shade val="90000"/>
                  </a:srgbClr>
                </a:solidFill>
              </a:rPr>
              <a:t>نننن</a:t>
            </a:r>
            <a:endParaRPr lang="en-US" dirty="0">
              <a:solidFill>
                <a:srgbClr val="04617B">
                  <a:shade val="90000"/>
                </a:srgbClr>
              </a:solidFill>
            </a:endParaRPr>
          </a:p>
        </p:txBody>
      </p:sp>
      <p:sp>
        <p:nvSpPr>
          <p:cNvPr id="7" name="Slide Number Placeholder 6"/>
          <p:cNvSpPr>
            <a:spLocks noGrp="1"/>
          </p:cNvSpPr>
          <p:nvPr>
            <p:ph type="sldNum" sz="quarter" idx="12"/>
          </p:nvPr>
        </p:nvSpPr>
        <p:spPr/>
        <p:txBody>
          <a:bodyPr/>
          <a:lstStyle/>
          <a:p>
            <a:fld id="{BC5217A8-0E06-4059-AC45-433E2E67A85D}" type="slidenum">
              <a:rPr lang="en-US" smtClean="0">
                <a:solidFill>
                  <a:srgbClr val="04617B">
                    <a:shade val="90000"/>
                  </a:srgbClr>
                </a:solidFill>
              </a:rPr>
              <a:pPr/>
              <a:t>‹#›</a:t>
            </a:fld>
            <a:endParaRPr lang="en-US" dirty="0">
              <a:solidFill>
                <a:srgbClr val="04617B">
                  <a:shade val="90000"/>
                </a:srgbClr>
              </a:solidFill>
            </a:endParaRPr>
          </a:p>
        </p:txBody>
      </p:sp>
    </p:spTree>
    <p:extLst>
      <p:ext uri="{BB962C8B-B14F-4D97-AF65-F5344CB8AC3E}">
        <p14:creationId xmlns:p14="http://schemas.microsoft.com/office/powerpoint/2010/main" val="1169384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solidFill>
                  <a:srgbClr val="04617B">
                    <a:shade val="90000"/>
                  </a:srgbClr>
                </a:solidFill>
              </a:rPr>
              <a:t>سسسس</a:t>
            </a:r>
            <a:endParaRPr lang="en-US" sz="1000" dirty="0">
              <a:solidFill>
                <a:srgbClr val="04617B"/>
              </a:solidFill>
            </a:endParaRPr>
          </a:p>
        </p:txBody>
      </p:sp>
      <p:sp>
        <p:nvSpPr>
          <p:cNvPr id="5" name="Footer Placeholder 4"/>
          <p:cNvSpPr>
            <a:spLocks noGrp="1"/>
          </p:cNvSpPr>
          <p:nvPr>
            <p:ph type="ftr" sz="quarter" idx="11"/>
          </p:nvPr>
        </p:nvSpPr>
        <p:spPr/>
        <p:txBody>
          <a:bodyPr/>
          <a:lstStyle/>
          <a:p>
            <a:pPr algn="r"/>
            <a:r>
              <a:rPr lang="ar-EG" sz="1000">
                <a:solidFill>
                  <a:srgbClr val="04617B"/>
                </a:solidFill>
              </a:rPr>
              <a:t>نننن</a:t>
            </a:r>
            <a:endParaRPr lang="en-US" sz="1000" dirty="0">
              <a:solidFill>
                <a:srgbClr val="04617B"/>
              </a:solidFill>
            </a:endParaRPr>
          </a:p>
        </p:txBody>
      </p:sp>
      <p:sp>
        <p:nvSpPr>
          <p:cNvPr id="6" name="Slide Number Placeholder 5"/>
          <p:cNvSpPr>
            <a:spLocks noGrp="1"/>
          </p:cNvSpPr>
          <p:nvPr>
            <p:ph type="sldNum" sz="quarter" idx="12"/>
          </p:nvPr>
        </p:nvSpPr>
        <p:spPr/>
        <p:txBody>
          <a:bodyPr/>
          <a:lstStyle/>
          <a:p>
            <a:fld id="{BC5217A8-0E06-4059-AC45-433E2E67A85D}" type="slidenum">
              <a:rPr lang="en-US" smtClean="0">
                <a:solidFill>
                  <a:srgbClr val="04617B">
                    <a:shade val="90000"/>
                  </a:srgbClr>
                </a:solidFill>
              </a:rPr>
              <a:pPr/>
              <a:t>‹#›</a:t>
            </a:fld>
            <a:endParaRPr lang="en-US" sz="1100" dirty="0">
              <a:solidFill>
                <a:srgbClr val="04617B"/>
              </a:solidFill>
            </a:endParaRPr>
          </a:p>
        </p:txBody>
      </p:sp>
    </p:spTree>
    <p:extLst>
      <p:ext uri="{BB962C8B-B14F-4D97-AF65-F5344CB8AC3E}">
        <p14:creationId xmlns:p14="http://schemas.microsoft.com/office/powerpoint/2010/main" val="743171662"/>
      </p:ext>
    </p:extLst>
  </p:cSld>
  <p:clrMapOvr>
    <a:masterClrMapping/>
  </p:clrMapOvr>
  <p:hf sldNum="0"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solidFill>
                  <a:srgbClr val="04617B">
                    <a:shade val="90000"/>
                  </a:srgbClr>
                </a:solidFill>
              </a:rPr>
              <a:t>سسسس</a:t>
            </a:r>
            <a:endParaRPr lang="en-US" sz="1000" dirty="0">
              <a:solidFill>
                <a:srgbClr val="04617B"/>
              </a:solidFill>
            </a:endParaRPr>
          </a:p>
        </p:txBody>
      </p:sp>
      <p:sp>
        <p:nvSpPr>
          <p:cNvPr id="5" name="Footer Placeholder 4"/>
          <p:cNvSpPr>
            <a:spLocks noGrp="1"/>
          </p:cNvSpPr>
          <p:nvPr>
            <p:ph type="ftr" sz="quarter" idx="11"/>
          </p:nvPr>
        </p:nvSpPr>
        <p:spPr/>
        <p:txBody>
          <a:bodyPr/>
          <a:lstStyle/>
          <a:p>
            <a:pPr algn="r"/>
            <a:r>
              <a:rPr lang="ar-EG" sz="1000">
                <a:solidFill>
                  <a:srgbClr val="04617B"/>
                </a:solidFill>
              </a:rPr>
              <a:t>نننن</a:t>
            </a:r>
            <a:endParaRPr lang="en-US" sz="1000" dirty="0">
              <a:solidFill>
                <a:srgbClr val="04617B"/>
              </a:solidFill>
            </a:endParaRPr>
          </a:p>
        </p:txBody>
      </p:sp>
      <p:sp>
        <p:nvSpPr>
          <p:cNvPr id="6" name="Slide Number Placeholder 5"/>
          <p:cNvSpPr>
            <a:spLocks noGrp="1"/>
          </p:cNvSpPr>
          <p:nvPr>
            <p:ph type="sldNum" sz="quarter" idx="12"/>
          </p:nvPr>
        </p:nvSpPr>
        <p:spPr/>
        <p:txBody>
          <a:bodyPr/>
          <a:lstStyle/>
          <a:p>
            <a:fld id="{BC5217A8-0E06-4059-AC45-433E2E67A85D}" type="slidenum">
              <a:rPr lang="en-US" smtClean="0">
                <a:solidFill>
                  <a:srgbClr val="04617B">
                    <a:shade val="90000"/>
                  </a:srgbClr>
                </a:solidFill>
              </a:rPr>
              <a:pPr/>
              <a:t>‹#›</a:t>
            </a:fld>
            <a:endParaRPr lang="en-US" sz="1100" dirty="0">
              <a:solidFill>
                <a:srgbClr val="04617B"/>
              </a:solidFill>
            </a:endParaRPr>
          </a:p>
        </p:txBody>
      </p:sp>
      <p:sp>
        <p:nvSpPr>
          <p:cNvPr id="20" name="TextBox 19"/>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95990507"/>
      </p:ext>
    </p:extLst>
  </p:cSld>
  <p:clrMapOvr>
    <a:masterClrMapping/>
  </p:clrMapOvr>
  <p:hf sldNum="0"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solidFill>
                  <a:srgbClr val="04617B">
                    <a:shade val="90000"/>
                  </a:srgbClr>
                </a:solidFill>
              </a:rPr>
              <a:t>سسسس</a:t>
            </a:r>
            <a:endParaRPr lang="en-US" sz="1000" dirty="0">
              <a:solidFill>
                <a:srgbClr val="04617B"/>
              </a:solidFill>
            </a:endParaRPr>
          </a:p>
        </p:txBody>
      </p:sp>
      <p:sp>
        <p:nvSpPr>
          <p:cNvPr id="5" name="Footer Placeholder 4"/>
          <p:cNvSpPr>
            <a:spLocks noGrp="1"/>
          </p:cNvSpPr>
          <p:nvPr>
            <p:ph type="ftr" sz="quarter" idx="11"/>
          </p:nvPr>
        </p:nvSpPr>
        <p:spPr/>
        <p:txBody>
          <a:bodyPr/>
          <a:lstStyle/>
          <a:p>
            <a:pPr algn="r"/>
            <a:r>
              <a:rPr lang="ar-EG" sz="1000">
                <a:solidFill>
                  <a:srgbClr val="04617B"/>
                </a:solidFill>
              </a:rPr>
              <a:t>نننن</a:t>
            </a:r>
            <a:endParaRPr lang="en-US" sz="1000" dirty="0">
              <a:solidFill>
                <a:srgbClr val="04617B"/>
              </a:solidFill>
            </a:endParaRPr>
          </a:p>
        </p:txBody>
      </p:sp>
      <p:sp>
        <p:nvSpPr>
          <p:cNvPr id="6" name="Slide Number Placeholder 5"/>
          <p:cNvSpPr>
            <a:spLocks noGrp="1"/>
          </p:cNvSpPr>
          <p:nvPr>
            <p:ph type="sldNum" sz="quarter" idx="12"/>
          </p:nvPr>
        </p:nvSpPr>
        <p:spPr/>
        <p:txBody>
          <a:bodyPr/>
          <a:lstStyle/>
          <a:p>
            <a:fld id="{BC5217A8-0E06-4059-AC45-433E2E67A85D}" type="slidenum">
              <a:rPr lang="en-US" smtClean="0">
                <a:solidFill>
                  <a:srgbClr val="04617B">
                    <a:shade val="90000"/>
                  </a:srgbClr>
                </a:solidFill>
              </a:rPr>
              <a:pPr/>
              <a:t>‹#›</a:t>
            </a:fld>
            <a:endParaRPr lang="en-US" sz="1100" dirty="0">
              <a:solidFill>
                <a:srgbClr val="04617B"/>
              </a:solidFill>
            </a:endParaRPr>
          </a:p>
        </p:txBody>
      </p:sp>
    </p:spTree>
    <p:extLst>
      <p:ext uri="{BB962C8B-B14F-4D97-AF65-F5344CB8AC3E}">
        <p14:creationId xmlns:p14="http://schemas.microsoft.com/office/powerpoint/2010/main" val="3417304805"/>
      </p:ext>
    </p:extLst>
  </p:cSld>
  <p:clrMapOvr>
    <a:masterClrMapping/>
  </p:clrMapOvr>
  <p:hf sldNum="0" hd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solidFill>
                  <a:srgbClr val="04617B">
                    <a:shade val="90000"/>
                  </a:srgbClr>
                </a:solidFill>
              </a:rPr>
              <a:t>سسسس</a:t>
            </a:r>
            <a:endParaRPr lang="en-US" sz="1000" dirty="0">
              <a:solidFill>
                <a:srgbClr val="04617B"/>
              </a:solidFill>
            </a:endParaRPr>
          </a:p>
        </p:txBody>
      </p:sp>
      <p:sp>
        <p:nvSpPr>
          <p:cNvPr id="5" name="Footer Placeholder 4"/>
          <p:cNvSpPr>
            <a:spLocks noGrp="1"/>
          </p:cNvSpPr>
          <p:nvPr>
            <p:ph type="ftr" sz="quarter" idx="11"/>
          </p:nvPr>
        </p:nvSpPr>
        <p:spPr/>
        <p:txBody>
          <a:bodyPr/>
          <a:lstStyle/>
          <a:p>
            <a:pPr algn="r"/>
            <a:r>
              <a:rPr lang="ar-EG" sz="1000">
                <a:solidFill>
                  <a:srgbClr val="04617B"/>
                </a:solidFill>
              </a:rPr>
              <a:t>نننن</a:t>
            </a:r>
            <a:endParaRPr lang="en-US" sz="1000" dirty="0">
              <a:solidFill>
                <a:srgbClr val="04617B"/>
              </a:solidFill>
            </a:endParaRPr>
          </a:p>
        </p:txBody>
      </p:sp>
      <p:sp>
        <p:nvSpPr>
          <p:cNvPr id="6" name="Slide Number Placeholder 5"/>
          <p:cNvSpPr>
            <a:spLocks noGrp="1"/>
          </p:cNvSpPr>
          <p:nvPr>
            <p:ph type="sldNum" sz="quarter" idx="12"/>
          </p:nvPr>
        </p:nvSpPr>
        <p:spPr/>
        <p:txBody>
          <a:bodyPr/>
          <a:lstStyle/>
          <a:p>
            <a:fld id="{BC5217A8-0E06-4059-AC45-433E2E67A85D}" type="slidenum">
              <a:rPr lang="en-US" smtClean="0">
                <a:solidFill>
                  <a:srgbClr val="04617B">
                    <a:shade val="90000"/>
                  </a:srgbClr>
                </a:solidFill>
              </a:rPr>
              <a:pPr/>
              <a:t>‹#›</a:t>
            </a:fld>
            <a:endParaRPr lang="en-US" sz="1100" dirty="0">
              <a:solidFill>
                <a:srgbClr val="04617B"/>
              </a:solidFill>
            </a:endParaRPr>
          </a:p>
        </p:txBody>
      </p:sp>
      <p:sp>
        <p:nvSpPr>
          <p:cNvPr id="24" name="TextBox 23"/>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85308319"/>
      </p:ext>
    </p:extLst>
  </p:cSld>
  <p:clrMapOvr>
    <a:masterClrMapping/>
  </p:clrMapOvr>
  <p:hf sldNum="0" hd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solidFill>
                  <a:srgbClr val="04617B">
                    <a:shade val="90000"/>
                  </a:srgbClr>
                </a:solidFill>
              </a:rPr>
              <a:t>سسسس</a:t>
            </a:r>
            <a:endParaRPr lang="en-US" sz="1000" dirty="0">
              <a:solidFill>
                <a:srgbClr val="04617B"/>
              </a:solidFill>
            </a:endParaRPr>
          </a:p>
        </p:txBody>
      </p:sp>
      <p:sp>
        <p:nvSpPr>
          <p:cNvPr id="5" name="Footer Placeholder 4"/>
          <p:cNvSpPr>
            <a:spLocks noGrp="1"/>
          </p:cNvSpPr>
          <p:nvPr>
            <p:ph type="ftr" sz="quarter" idx="11"/>
          </p:nvPr>
        </p:nvSpPr>
        <p:spPr/>
        <p:txBody>
          <a:bodyPr/>
          <a:lstStyle/>
          <a:p>
            <a:pPr algn="r"/>
            <a:r>
              <a:rPr lang="ar-EG" sz="1000">
                <a:solidFill>
                  <a:srgbClr val="04617B"/>
                </a:solidFill>
              </a:rPr>
              <a:t>نننن</a:t>
            </a:r>
            <a:endParaRPr lang="en-US" sz="1000" dirty="0">
              <a:solidFill>
                <a:srgbClr val="04617B"/>
              </a:solidFill>
            </a:endParaRPr>
          </a:p>
        </p:txBody>
      </p:sp>
      <p:sp>
        <p:nvSpPr>
          <p:cNvPr id="6" name="Slide Number Placeholder 5"/>
          <p:cNvSpPr>
            <a:spLocks noGrp="1"/>
          </p:cNvSpPr>
          <p:nvPr>
            <p:ph type="sldNum" sz="quarter" idx="12"/>
          </p:nvPr>
        </p:nvSpPr>
        <p:spPr/>
        <p:txBody>
          <a:bodyPr/>
          <a:lstStyle/>
          <a:p>
            <a:fld id="{BC5217A8-0E06-4059-AC45-433E2E67A85D}" type="slidenum">
              <a:rPr lang="en-US" smtClean="0">
                <a:solidFill>
                  <a:srgbClr val="04617B">
                    <a:shade val="90000"/>
                  </a:srgbClr>
                </a:solidFill>
              </a:rPr>
              <a:pPr/>
              <a:t>‹#›</a:t>
            </a:fld>
            <a:endParaRPr lang="en-US" sz="1100" dirty="0">
              <a:solidFill>
                <a:srgbClr val="04617B"/>
              </a:solidFill>
            </a:endParaRPr>
          </a:p>
        </p:txBody>
      </p:sp>
    </p:spTree>
    <p:extLst>
      <p:ext uri="{BB962C8B-B14F-4D97-AF65-F5344CB8AC3E}">
        <p14:creationId xmlns:p14="http://schemas.microsoft.com/office/powerpoint/2010/main" val="2095540529"/>
      </p:ext>
    </p:extLst>
  </p:cSld>
  <p:clrMapOvr>
    <a:masterClrMapping/>
  </p:clrMapOvr>
  <p:hf sldNum="0" hd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solidFill>
                  <a:srgbClr val="04617B">
                    <a:shade val="90000"/>
                  </a:srgbClr>
                </a:solidFill>
              </a:rPr>
              <a:t>سسسس</a:t>
            </a:r>
            <a:endParaRPr lang="en-US" dirty="0">
              <a:solidFill>
                <a:srgbClr val="04617B">
                  <a:shade val="90000"/>
                </a:srgbClr>
              </a:solidFill>
            </a:endParaRPr>
          </a:p>
        </p:txBody>
      </p:sp>
      <p:sp>
        <p:nvSpPr>
          <p:cNvPr id="5" name="Footer Placeholder 4"/>
          <p:cNvSpPr>
            <a:spLocks noGrp="1"/>
          </p:cNvSpPr>
          <p:nvPr>
            <p:ph type="ftr" sz="quarter" idx="11"/>
          </p:nvPr>
        </p:nvSpPr>
        <p:spPr/>
        <p:txBody>
          <a:bodyPr/>
          <a:lstStyle/>
          <a:p>
            <a:r>
              <a:rPr lang="ar-EG">
                <a:solidFill>
                  <a:srgbClr val="04617B">
                    <a:shade val="90000"/>
                  </a:srgbClr>
                </a:solidFill>
              </a:rPr>
              <a:t>نننن</a:t>
            </a:r>
            <a:endParaRPr lang="en-US"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BC5217A8-0E06-4059-AC45-433E2E67A85D}" type="slidenum">
              <a:rPr lang="en-US" smtClean="0">
                <a:solidFill>
                  <a:srgbClr val="04617B">
                    <a:shade val="90000"/>
                  </a:srgbClr>
                </a:solidFill>
              </a:rPr>
              <a:pPr/>
              <a:t>‹#›</a:t>
            </a:fld>
            <a:endParaRPr lang="en-US" dirty="0">
              <a:solidFill>
                <a:srgbClr val="04617B">
                  <a:shade val="90000"/>
                </a:srgbClr>
              </a:solidFill>
            </a:endParaRPr>
          </a:p>
        </p:txBody>
      </p:sp>
    </p:spTree>
    <p:extLst>
      <p:ext uri="{BB962C8B-B14F-4D97-AF65-F5344CB8AC3E}">
        <p14:creationId xmlns:p14="http://schemas.microsoft.com/office/powerpoint/2010/main" val="30045541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4" y="609601"/>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solidFill>
                  <a:srgbClr val="04617B">
                    <a:shade val="90000"/>
                  </a:srgbClr>
                </a:solidFill>
              </a:rPr>
              <a:t>سسسس</a:t>
            </a:r>
            <a:endParaRPr lang="en-US" dirty="0">
              <a:solidFill>
                <a:srgbClr val="04617B">
                  <a:shade val="90000"/>
                </a:srgbClr>
              </a:solidFill>
            </a:endParaRPr>
          </a:p>
        </p:txBody>
      </p:sp>
      <p:sp>
        <p:nvSpPr>
          <p:cNvPr id="5" name="Footer Placeholder 4"/>
          <p:cNvSpPr>
            <a:spLocks noGrp="1"/>
          </p:cNvSpPr>
          <p:nvPr>
            <p:ph type="ftr" sz="quarter" idx="11"/>
          </p:nvPr>
        </p:nvSpPr>
        <p:spPr/>
        <p:txBody>
          <a:bodyPr/>
          <a:lstStyle/>
          <a:p>
            <a:r>
              <a:rPr lang="ar-EG">
                <a:solidFill>
                  <a:srgbClr val="04617B">
                    <a:shade val="90000"/>
                  </a:srgbClr>
                </a:solidFill>
              </a:rPr>
              <a:t>نننن</a:t>
            </a:r>
            <a:endParaRPr lang="en-US" dirty="0">
              <a:solidFill>
                <a:srgbClr val="04617B">
                  <a:shade val="90000"/>
                </a:srgbClr>
              </a:solidFill>
            </a:endParaRPr>
          </a:p>
        </p:txBody>
      </p:sp>
      <p:sp>
        <p:nvSpPr>
          <p:cNvPr id="6" name="Slide Number Placeholder 5"/>
          <p:cNvSpPr>
            <a:spLocks noGrp="1"/>
          </p:cNvSpPr>
          <p:nvPr>
            <p:ph type="sldNum" sz="quarter" idx="12"/>
          </p:nvPr>
        </p:nvSpPr>
        <p:spPr/>
        <p:txBody>
          <a:bodyPr/>
          <a:lstStyle/>
          <a:p>
            <a:fld id="{BC5217A8-0E06-4059-AC45-433E2E67A85D}" type="slidenum">
              <a:rPr lang="en-US" smtClean="0">
                <a:solidFill>
                  <a:srgbClr val="04617B">
                    <a:shade val="90000"/>
                  </a:srgbClr>
                </a:solidFill>
              </a:rPr>
              <a:pPr/>
              <a:t>‹#›</a:t>
            </a:fld>
            <a:endParaRPr lang="en-US" dirty="0">
              <a:solidFill>
                <a:srgbClr val="04617B"/>
              </a:solidFill>
            </a:endParaRPr>
          </a:p>
        </p:txBody>
      </p:sp>
    </p:spTree>
    <p:extLst>
      <p:ext uri="{BB962C8B-B14F-4D97-AF65-F5344CB8AC3E}">
        <p14:creationId xmlns:p14="http://schemas.microsoft.com/office/powerpoint/2010/main" val="814529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9875">
              <a:srgbClr val="233139"/>
            </a:gs>
            <a:gs pos="99750">
              <a:srgbClr val="456271"/>
            </a:gs>
            <a:gs pos="99500">
              <a:srgbClr val="89C3E1"/>
            </a:gs>
            <a:gs pos="40000">
              <a:schemeClr val="accent1">
                <a:lumMod val="75000"/>
              </a:schemeClr>
            </a:gs>
          </a:gsLst>
          <a:lin ang="2700000" scaled="1"/>
          <a:tileRect/>
        </a:gradFill>
        <a:effectLst/>
      </p:bgPr>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5"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5" y="2160590"/>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4"/>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solidFill>
                  <a:srgbClr val="04617B">
                    <a:shade val="90000"/>
                  </a:srgbClr>
                </a:solidFill>
              </a:rPr>
              <a:t>سسسس</a:t>
            </a:r>
            <a:endParaRPr lang="en-US" sz="1000" dirty="0">
              <a:solidFill>
                <a:srgbClr val="04617B"/>
              </a:solidFill>
            </a:endParaRPr>
          </a:p>
        </p:txBody>
      </p:sp>
      <p:sp>
        <p:nvSpPr>
          <p:cNvPr id="5" name="Footer Placeholder 4"/>
          <p:cNvSpPr>
            <a:spLocks noGrp="1"/>
          </p:cNvSpPr>
          <p:nvPr>
            <p:ph type="ftr" sz="quarter" idx="3"/>
          </p:nvPr>
        </p:nvSpPr>
        <p:spPr>
          <a:xfrm>
            <a:off x="677335" y="6041364"/>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lgn="r"/>
            <a:r>
              <a:rPr lang="ar-EG" sz="1000">
                <a:solidFill>
                  <a:srgbClr val="04617B"/>
                </a:solidFill>
              </a:rPr>
              <a:t>نننن</a:t>
            </a:r>
            <a:endParaRPr lang="en-US" sz="1000" dirty="0">
              <a:solidFill>
                <a:srgbClr val="04617B"/>
              </a:solidFill>
            </a:endParaRPr>
          </a:p>
        </p:txBody>
      </p:sp>
      <p:sp>
        <p:nvSpPr>
          <p:cNvPr id="6" name="Slide Number Placeholder 5"/>
          <p:cNvSpPr>
            <a:spLocks noGrp="1"/>
          </p:cNvSpPr>
          <p:nvPr>
            <p:ph type="sldNum" sz="quarter" idx="4"/>
          </p:nvPr>
        </p:nvSpPr>
        <p:spPr>
          <a:xfrm>
            <a:off x="8590664" y="6041364"/>
            <a:ext cx="683339" cy="365125"/>
          </a:xfrm>
          <a:prstGeom prst="rect">
            <a:avLst/>
          </a:prstGeom>
        </p:spPr>
        <p:txBody>
          <a:bodyPr vert="horz" lIns="91440" tIns="45720" rIns="91440" bIns="45720" rtlCol="0" anchor="ctr"/>
          <a:lstStyle>
            <a:lvl1pPr algn="r">
              <a:defRPr sz="900">
                <a:solidFill>
                  <a:schemeClr val="accent1"/>
                </a:solidFill>
              </a:defRPr>
            </a:lvl1pPr>
          </a:lstStyle>
          <a:p>
            <a:fld id="{BC5217A8-0E06-4059-AC45-433E2E67A85D}" type="slidenum">
              <a:rPr lang="en-US" smtClean="0">
                <a:solidFill>
                  <a:srgbClr val="04617B">
                    <a:shade val="90000"/>
                  </a:srgbClr>
                </a:solidFill>
              </a:rPr>
              <a:pPr/>
              <a:t>‹#›</a:t>
            </a:fld>
            <a:endParaRPr lang="en-US" sz="1100" dirty="0">
              <a:solidFill>
                <a:srgbClr val="04617B"/>
              </a:solidFill>
            </a:endParaRPr>
          </a:p>
        </p:txBody>
      </p:sp>
    </p:spTree>
    <p:extLst>
      <p:ext uri="{BB962C8B-B14F-4D97-AF65-F5344CB8AC3E}">
        <p14:creationId xmlns:p14="http://schemas.microsoft.com/office/powerpoint/2010/main" val="1528006292"/>
      </p:ext>
    </p:extLst>
  </p:cSld>
  <p:clrMap bg1="dk1" tx1="lt1" bg2="dk2" tx2="lt2" accent1="accent1" accent2="accent2" accent3="accent3" accent4="accent4" accent5="accent5" accent6="accent6" hlink="hlink" folHlink="folHlink"/>
  <p:sldLayoutIdLst>
    <p:sldLayoutId id="2147483953" r:id="rId1"/>
    <p:sldLayoutId id="2147483954"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3" r:id="rId11"/>
    <p:sldLayoutId id="2147483964" r:id="rId12"/>
    <p:sldLayoutId id="2147483965" r:id="rId13"/>
    <p:sldLayoutId id="2147483966" r:id="rId14"/>
    <p:sldLayoutId id="2147483967" r:id="rId15"/>
    <p:sldLayoutId id="2147483968" r:id="rId16"/>
  </p:sldLayoutIdLst>
  <p:hf sldNum="0" hd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4D6701-E539-413D-B6A6-9410C2CA232A}"/>
              </a:ext>
            </a:extLst>
          </p:cNvPr>
          <p:cNvPicPr>
            <a:picLocks noChangeAspect="1"/>
          </p:cNvPicPr>
          <p:nvPr/>
        </p:nvPicPr>
        <p:blipFill>
          <a:blip r:embed="rId3"/>
          <a:stretch>
            <a:fillRect/>
          </a:stretch>
        </p:blipFill>
        <p:spPr>
          <a:xfrm>
            <a:off x="1447800" y="419100"/>
            <a:ext cx="9067799" cy="6019800"/>
          </a:xfrm>
          <a:prstGeom prst="rect">
            <a:avLst/>
          </a:prstGeom>
          <a:effectLst>
            <a:glow rad="139700">
              <a:schemeClr val="accent1">
                <a:satMod val="175000"/>
                <a:alpha val="40000"/>
              </a:schemeClr>
            </a:glow>
          </a:effectLst>
        </p:spPr>
      </p:pic>
      <p:sp>
        <p:nvSpPr>
          <p:cNvPr id="9" name="TextBox 8">
            <a:extLst>
              <a:ext uri="{FF2B5EF4-FFF2-40B4-BE49-F238E27FC236}">
                <a16:creationId xmlns:a16="http://schemas.microsoft.com/office/drawing/2014/main" id="{5C56EEB5-F838-4732-B907-9028DD799C66}"/>
              </a:ext>
            </a:extLst>
          </p:cNvPr>
          <p:cNvSpPr txBox="1"/>
          <p:nvPr/>
        </p:nvSpPr>
        <p:spPr>
          <a:xfrm>
            <a:off x="1460310" y="533400"/>
            <a:ext cx="9067799" cy="6822893"/>
          </a:xfrm>
          <a:prstGeom prst="rect">
            <a:avLst/>
          </a:prstGeom>
          <a:noFill/>
        </p:spPr>
        <p:txBody>
          <a:bodyPr wrap="square">
            <a:spAutoFit/>
          </a:bodyPr>
          <a:lstStyle/>
          <a:p>
            <a:pPr algn="ctr" rtl="1">
              <a:lnSpc>
                <a:spcPct val="115000"/>
              </a:lnSpc>
              <a:spcAft>
                <a:spcPts val="1000"/>
              </a:spcAft>
            </a:pPr>
            <a:r>
              <a:rPr lang="ar-EG" sz="4800" dirty="0">
                <a:latin typeface="Calibri"/>
                <a:ea typeface="Calibri"/>
                <a:cs typeface="Andalus"/>
              </a:rPr>
              <a:t>بسم الله الرحمن الرحيم</a:t>
            </a:r>
            <a:endParaRPr lang="en-US" sz="1600" dirty="0">
              <a:latin typeface="Calibri"/>
              <a:ea typeface="Calibri"/>
              <a:cs typeface="Arial"/>
            </a:endParaRPr>
          </a:p>
          <a:p>
            <a:pPr algn="r" rtl="1"/>
            <a:r>
              <a:rPr lang="ar-EG" sz="3000" dirty="0">
                <a:latin typeface="Times New Roman" panose="02020603050405020304" pitchFamily="18" charset="0"/>
                <a:ea typeface="Times New Roman" panose="02020603050405020304" pitchFamily="18" charset="0"/>
                <a:cs typeface="Andalus" panose="02020603050405020304" pitchFamily="18" charset="-78"/>
              </a:rPr>
              <a:t> </a:t>
            </a:r>
          </a:p>
          <a:p>
            <a:pPr algn="ctr" rtl="1">
              <a:lnSpc>
                <a:spcPts val="4000"/>
              </a:lnSpc>
              <a:defRPr/>
            </a:pPr>
            <a:r>
              <a:rPr lang="ar-EG" sz="4400" kern="0" dirty="0">
                <a:latin typeface="Andalus" panose="02020603050405020304" pitchFamily="18" charset="-78"/>
                <a:ea typeface="Times New Roman" panose="02020603050405020304" pitchFamily="18" charset="0"/>
                <a:cs typeface="Andalus" panose="02020603050405020304" pitchFamily="18" charset="-78"/>
                <a:sym typeface="Arial"/>
              </a:rPr>
              <a:t>    ﴿</a:t>
            </a:r>
            <a:r>
              <a:rPr lang="ar-SA" sz="4400" kern="0" dirty="0">
                <a:latin typeface="Andalus" panose="02020603050405020304" pitchFamily="18" charset="-78"/>
                <a:ea typeface="Calibri" panose="020F0502020204030204" pitchFamily="34" charset="0"/>
                <a:cs typeface="Andalus" panose="02020603050405020304" pitchFamily="18" charset="-78"/>
                <a:sym typeface="Arial"/>
              </a:rPr>
              <a:t> </a:t>
            </a:r>
            <a:r>
              <a:rPr lang="ar-EG" sz="4800" dirty="0">
                <a:latin typeface="Times New Roman" panose="02020603050405020304" pitchFamily="18" charset="0"/>
                <a:ea typeface="Times New Roman" panose="02020603050405020304" pitchFamily="18" charset="0"/>
                <a:cs typeface="Andalus" panose="02020603050405020304" pitchFamily="18" charset="-78"/>
                <a:sym typeface="Arial"/>
              </a:rPr>
              <a:t> يَرْفَعِ اللَّهُ الَّذِينَ آمَنُوا مِنكُمْ وَالَّذِينَ </a:t>
            </a:r>
            <a:endParaRPr lang="en-US" dirty="0">
              <a:latin typeface="Times New Roman" panose="02020603050405020304" pitchFamily="18" charset="0"/>
              <a:ea typeface="Times New Roman" panose="02020603050405020304" pitchFamily="18" charset="0"/>
              <a:cs typeface="Arial"/>
              <a:sym typeface="Arial"/>
            </a:endParaRPr>
          </a:p>
          <a:p>
            <a:pPr algn="ctr" rtl="1">
              <a:lnSpc>
                <a:spcPts val="2300"/>
              </a:lnSpc>
              <a:defRPr/>
            </a:pPr>
            <a:r>
              <a:rPr lang="ar-EG" sz="4800" dirty="0">
                <a:latin typeface="Times New Roman" panose="02020603050405020304" pitchFamily="18" charset="0"/>
                <a:ea typeface="Times New Roman" panose="02020603050405020304" pitchFamily="18" charset="0"/>
                <a:cs typeface="Andalus" panose="02020603050405020304" pitchFamily="18" charset="-78"/>
                <a:sym typeface="Arial"/>
              </a:rPr>
              <a:t> </a:t>
            </a:r>
            <a:endParaRPr lang="en-US" dirty="0">
              <a:latin typeface="Times New Roman" panose="02020603050405020304" pitchFamily="18" charset="0"/>
              <a:ea typeface="Times New Roman" panose="02020603050405020304" pitchFamily="18" charset="0"/>
              <a:cs typeface="Arial"/>
              <a:sym typeface="Arial"/>
            </a:endParaRPr>
          </a:p>
          <a:p>
            <a:pPr lvl="0" algn="ctr">
              <a:defRPr/>
            </a:pPr>
            <a:r>
              <a:rPr lang="ar-EG" sz="4800" dirty="0">
                <a:ea typeface="Times New Roman" panose="02020603050405020304" pitchFamily="18" charset="0"/>
                <a:cs typeface="Andalus" panose="02020603050405020304" pitchFamily="18" charset="-78"/>
                <a:sym typeface="Arial"/>
              </a:rPr>
              <a:t>       أوتُوا الْعِلْمَ دَرَجَاتٍ وَاللَّهُ بِمَا تَعْمَلُونَ خَبِير </a:t>
            </a:r>
            <a:r>
              <a:rPr lang="ar-SA" sz="4400" kern="0" dirty="0">
                <a:latin typeface="Andalus" panose="02020603050405020304" pitchFamily="18" charset="-78"/>
                <a:ea typeface="Calibri" panose="020F0502020204030204" pitchFamily="34" charset="0"/>
                <a:cs typeface="Andalus" panose="02020603050405020304" pitchFamily="18" charset="-78"/>
                <a:sym typeface="Arial"/>
              </a:rPr>
              <a:t>﴾</a:t>
            </a:r>
            <a:endParaRPr lang="en-US" sz="4400" kern="0" dirty="0">
              <a:latin typeface="Andalus" panose="02020603050405020304" pitchFamily="18" charset="-78"/>
              <a:ea typeface="Times New Roman" panose="02020603050405020304" pitchFamily="18" charset="0"/>
              <a:cs typeface="Andalus" panose="02020603050405020304" pitchFamily="18" charset="-78"/>
              <a:sym typeface="Arial"/>
            </a:endParaRPr>
          </a:p>
          <a:p>
            <a:pPr algn="ctr" rtl="1">
              <a:spcAft>
                <a:spcPts val="750"/>
              </a:spcAft>
              <a:buClr>
                <a:srgbClr val="000000"/>
              </a:buClr>
            </a:pPr>
            <a:r>
              <a:rPr lang="ar-EG" sz="2000" b="1" kern="0" dirty="0">
                <a:latin typeface="Times New Roman" panose="02020603050405020304" pitchFamily="18" charset="0"/>
                <a:ea typeface="Times New Roman" panose="02020603050405020304" pitchFamily="18" charset="0"/>
                <a:cs typeface="Times" panose="02020603050405020304" pitchFamily="18" charset="0"/>
                <a:sym typeface="Arial"/>
              </a:rPr>
              <a:t>                                                                                    </a:t>
            </a:r>
          </a:p>
          <a:p>
            <a:pPr algn="ctr" rtl="1">
              <a:spcAft>
                <a:spcPts val="750"/>
              </a:spcAft>
              <a:buClr>
                <a:srgbClr val="000000"/>
              </a:buClr>
            </a:pPr>
            <a:r>
              <a:rPr lang="ar-EG" sz="2000" b="1" kern="0" dirty="0">
                <a:latin typeface="Times New Roman" panose="02020603050405020304" pitchFamily="18" charset="0"/>
                <a:ea typeface="Times New Roman" panose="02020603050405020304" pitchFamily="18" charset="0"/>
                <a:cs typeface="Times" panose="02020603050405020304" pitchFamily="18" charset="0"/>
                <a:sym typeface="Arial"/>
              </a:rPr>
              <a:t>                                                                                    </a:t>
            </a:r>
            <a:r>
              <a:rPr lang="ar-EG" sz="3600" kern="0" dirty="0">
                <a:latin typeface="Times New Roman" panose="02020603050405020304" pitchFamily="18" charset="0"/>
                <a:ea typeface="Times New Roman" panose="02020603050405020304" pitchFamily="18" charset="0"/>
                <a:cs typeface="Andalus" panose="02020603050405020304" pitchFamily="18" charset="-78"/>
                <a:sym typeface="Arial"/>
              </a:rPr>
              <a:t>صدق الله العظيم </a:t>
            </a:r>
            <a:endParaRPr lang="en-US" sz="3600" kern="0" dirty="0">
              <a:latin typeface="Times New Roman" panose="02020603050405020304" pitchFamily="18" charset="0"/>
              <a:ea typeface="Times New Roman" panose="02020603050405020304" pitchFamily="18" charset="0"/>
              <a:cs typeface="Arial"/>
              <a:sym typeface="Arial"/>
            </a:endParaRPr>
          </a:p>
          <a:p>
            <a:pPr marR="457200" algn="ctr" rtl="1">
              <a:buClr>
                <a:srgbClr val="000000"/>
              </a:buClr>
            </a:pPr>
            <a:r>
              <a:rPr lang="ar-EG" sz="2500" b="1" kern="0" dirty="0">
                <a:latin typeface="Times New Roman" panose="02020603050405020304" pitchFamily="18" charset="0"/>
                <a:cs typeface="Andalus" panose="02020603050405020304" pitchFamily="18" charset="-78"/>
                <a:sym typeface="Arial"/>
              </a:rPr>
              <a:t>                                                                        الآية (11) من سورة المجادلة</a:t>
            </a:r>
            <a:endParaRPr lang="en-US" sz="2500" b="1" kern="0" dirty="0">
              <a:latin typeface="Times New Roman" panose="02020603050405020304" pitchFamily="18" charset="0"/>
              <a:cs typeface="Andalus" panose="02020603050405020304" pitchFamily="18" charset="-78"/>
              <a:sym typeface="Arial"/>
            </a:endParaRPr>
          </a:p>
          <a:p>
            <a:pPr algn="r" rtl="1"/>
            <a:endParaRPr lang="ar-EG" sz="3000" dirty="0">
              <a:solidFill>
                <a:schemeClr val="bg1"/>
              </a:solidFill>
              <a:latin typeface="Times New Roman" panose="02020603050405020304" pitchFamily="18" charset="0"/>
              <a:ea typeface="Calibri" panose="020F0502020204030204" pitchFamily="34" charset="0"/>
              <a:cs typeface="Andalus" panose="02020603050405020304" pitchFamily="18" charset="-78"/>
            </a:endParaRPr>
          </a:p>
          <a:p>
            <a:pPr algn="r" rtl="1"/>
            <a:endParaRPr lang="ar-EG" sz="3000" dirty="0">
              <a:solidFill>
                <a:schemeClr val="bg1"/>
              </a:solidFill>
              <a:latin typeface="Times New Roman" panose="02020603050405020304" pitchFamily="18" charset="0"/>
              <a:ea typeface="Calibri" panose="020F0502020204030204" pitchFamily="34" charset="0"/>
              <a:cs typeface="Andalus" panose="02020603050405020304" pitchFamily="18" charset="-78"/>
            </a:endParaRPr>
          </a:p>
          <a:p>
            <a:pPr algn="r" rtl="1"/>
            <a:endParaRPr lang="ar-EG" sz="3000" dirty="0">
              <a:solidFill>
                <a:schemeClr val="bg1"/>
              </a:solidFill>
              <a:latin typeface="Times New Roman" panose="02020603050405020304" pitchFamily="18" charset="0"/>
              <a:ea typeface="Calibri" panose="020F0502020204030204" pitchFamily="34" charset="0"/>
              <a:cs typeface="Andalus" panose="02020603050405020304" pitchFamily="18" charset="-78"/>
            </a:endParaRPr>
          </a:p>
          <a:p>
            <a:pPr algn="r" rtl="1"/>
            <a:endParaRPr lang="en-US" sz="1100" dirty="0">
              <a:solidFill>
                <a:schemeClr val="bg1"/>
              </a:solidFill>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69101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Rectangle 6"/>
          <p:cNvSpPr>
            <a:spLocks noChangeArrowheads="1"/>
          </p:cNvSpPr>
          <p:nvPr/>
        </p:nvSpPr>
        <p:spPr bwMode="auto">
          <a:xfrm>
            <a:off x="2889256" y="255059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8"/>
          <p:cNvSpPr>
            <a:spLocks noChangeArrowheads="1"/>
          </p:cNvSpPr>
          <p:nvPr/>
        </p:nvSpPr>
        <p:spPr bwMode="auto">
          <a:xfrm>
            <a:off x="2889250" y="2963863"/>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r" rtl="1" eaLnBrk="0" fontAlgn="base" hangingPunct="0">
              <a:spcBef>
                <a:spcPct val="0"/>
              </a:spcBef>
              <a:spcAft>
                <a:spcPct val="0"/>
              </a:spcAft>
            </a:pPr>
            <a:r>
              <a:rPr lang="ar-EG" altLang="en-US">
                <a:latin typeface="Arial Black" panose="020B0A04020102020204" pitchFamily="34" charset="0"/>
                <a:ea typeface="Times New Roman" panose="02020603050405020304" pitchFamily="18" charset="0"/>
                <a:cs typeface="Arial" panose="020B0604020202020204" pitchFamily="34" charset="0"/>
              </a:rPr>
              <a:t>  </a:t>
            </a:r>
            <a:endParaRPr lang="ar-EG" altLang="en-US">
              <a:latin typeface="Arial" panose="020B0604020202020204" pitchFamily="34" charset="0"/>
              <a:cs typeface="Arial" panose="020B0604020202020204" pitchFamily="34" charset="0"/>
            </a:endParaRPr>
          </a:p>
        </p:txBody>
      </p:sp>
      <p:sp>
        <p:nvSpPr>
          <p:cNvPr id="10" name="Rectangle 9"/>
          <p:cNvSpPr>
            <a:spLocks noChangeArrowheads="1"/>
          </p:cNvSpPr>
          <p:nvPr/>
        </p:nvSpPr>
        <p:spPr bwMode="auto">
          <a:xfrm>
            <a:off x="2063385" y="3817423"/>
            <a:ext cx="8258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r" rtl="1" eaLnBrk="0" fontAlgn="base" hangingPunct="0">
              <a:spcBef>
                <a:spcPct val="0"/>
              </a:spcBef>
              <a:spcAft>
                <a:spcPct val="0"/>
              </a:spcAft>
            </a:pPr>
            <a:r>
              <a:rPr lang="ar-EG" altLang="en-US">
                <a:latin typeface="Arial Black" panose="020B0A04020102020204" pitchFamily="34" charset="0"/>
                <a:ea typeface="Times New Roman" panose="02020603050405020304" pitchFamily="18" charset="0"/>
                <a:cs typeface="Arial" panose="020B0604020202020204" pitchFamily="34" charset="0"/>
              </a:rPr>
              <a:t>          </a:t>
            </a:r>
            <a:endParaRPr lang="ar-EG" altLang="en-US">
              <a:latin typeface="Arial" panose="020B0604020202020204" pitchFamily="34" charset="0"/>
              <a:cs typeface="Arial" panose="020B0604020202020204" pitchFamily="34" charset="0"/>
            </a:endParaRPr>
          </a:p>
        </p:txBody>
      </p:sp>
      <p:pic>
        <p:nvPicPr>
          <p:cNvPr id="2050" name="Picture 17" descr="A picture containing diagram&#10;&#10;Description automatically generated">
            <a:extLst>
              <a:ext uri="{FF2B5EF4-FFF2-40B4-BE49-F238E27FC236}">
                <a16:creationId xmlns:a16="http://schemas.microsoft.com/office/drawing/2014/main" id="{22AE3E19-D8D6-5CFC-78B3-9CA75FC4C5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10830" y="2"/>
            <a:ext cx="1499394" cy="1445919"/>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049" name="صورة 15">
            <a:extLst>
              <a:ext uri="{FF2B5EF4-FFF2-40B4-BE49-F238E27FC236}">
                <a16:creationId xmlns:a16="http://schemas.microsoft.com/office/drawing/2014/main" id="{DA36242A-0929-A37D-5034-89DA3CCD04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6506" b="5984"/>
          <a:stretch>
            <a:fillRect/>
          </a:stretch>
        </p:blipFill>
        <p:spPr bwMode="auto">
          <a:xfrm>
            <a:off x="0" y="24876"/>
            <a:ext cx="1594740" cy="1396165"/>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884E5F30-6A22-CC1C-BE37-A9BF30C9F707}"/>
              </a:ext>
            </a:extLst>
          </p:cNvPr>
          <p:cNvSpPr>
            <a:spLocks noChangeArrowheads="1"/>
          </p:cNvSpPr>
          <p:nvPr/>
        </p:nvSpPr>
        <p:spPr bwMode="auto">
          <a:xfrm>
            <a:off x="352425" y="15716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4">
            <a:extLst>
              <a:ext uri="{FF2B5EF4-FFF2-40B4-BE49-F238E27FC236}">
                <a16:creationId xmlns:a16="http://schemas.microsoft.com/office/drawing/2014/main" id="{7BCE6F2D-1991-53DA-00D4-1BCA03942040}"/>
              </a:ext>
            </a:extLst>
          </p:cNvPr>
          <p:cNvSpPr>
            <a:spLocks noChangeArrowheads="1"/>
          </p:cNvSpPr>
          <p:nvPr/>
        </p:nvSpPr>
        <p:spPr bwMode="auto">
          <a:xfrm>
            <a:off x="352425" y="385764"/>
            <a:ext cx="1219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5" name="Rectangle 5">
            <a:extLst>
              <a:ext uri="{FF2B5EF4-FFF2-40B4-BE49-F238E27FC236}">
                <a16:creationId xmlns:a16="http://schemas.microsoft.com/office/drawing/2014/main" id="{440B6429-D440-D9BE-E571-651F8BB10BED}"/>
              </a:ext>
            </a:extLst>
          </p:cNvPr>
          <p:cNvSpPr>
            <a:spLocks noChangeArrowheads="1"/>
          </p:cNvSpPr>
          <p:nvPr/>
        </p:nvSpPr>
        <p:spPr bwMode="auto">
          <a:xfrm>
            <a:off x="-5576" y="5411"/>
            <a:ext cx="12115800" cy="6932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defTabSz="914400" rtl="1"/>
            <a:endParaRPr lang="en-US" altLang="en-US" sz="1500" b="1" dirty="0" bmk="_Hlk94991748">
              <a:latin typeface="Simplified Arabic" panose="02020603050405020304" pitchFamily="18" charset="-78"/>
              <a:ea typeface="Times New Roman" panose="02020603050405020304" pitchFamily="18" charset="0"/>
              <a:cs typeface="Simplified Arabic" panose="02020603050405020304" pitchFamily="18" charset="-78"/>
            </a:endParaRPr>
          </a:p>
          <a:p>
            <a:pPr algn="ctr" defTabSz="914400" rtl="1"/>
            <a:r>
              <a:rPr lang="ar-EG" altLang="en-US" sz="1600" b="1" dirty="0" bmk="_Hlk94991748">
                <a:latin typeface="Simplified Arabic" panose="02020603050405020304" pitchFamily="18" charset="-78"/>
                <a:ea typeface="Times New Roman" panose="02020603050405020304" pitchFamily="18" charset="0"/>
                <a:cs typeface="Simplified Arabic" panose="02020603050405020304" pitchFamily="18" charset="-78"/>
              </a:rPr>
              <a:t>جامعة طنطا</a:t>
            </a:r>
            <a:endParaRPr lang="en-US" altLang="en-US" sz="1000" dirty="0" bmk="_Hlk94991748"/>
          </a:p>
          <a:p>
            <a:pPr algn="ctr" defTabSz="914400" rtl="1"/>
            <a:r>
              <a:rPr lang="ar-EG" altLang="en-US" sz="1600" b="1" dirty="0" bmk="_Hlk94991748">
                <a:latin typeface="Simplified Arabic" panose="02020603050405020304" pitchFamily="18" charset="-78"/>
                <a:ea typeface="Times New Roman" panose="02020603050405020304" pitchFamily="18" charset="0"/>
                <a:cs typeface="Simplified Arabic" panose="02020603050405020304" pitchFamily="18" charset="-78"/>
              </a:rPr>
              <a:t>كلية التجارة</a:t>
            </a:r>
            <a:endParaRPr lang="en-US" altLang="en-US" sz="1000" dirty="0"/>
          </a:p>
          <a:p>
            <a:pPr algn="ctr" defTabSz="914400" rtl="1"/>
            <a:r>
              <a:rPr lang="ar-EG" altLang="en-US" sz="1600" b="1" dirty="0">
                <a:latin typeface="Simplified Arabic" panose="02020603050405020304" pitchFamily="18" charset="-78"/>
                <a:ea typeface="Times New Roman" panose="02020603050405020304" pitchFamily="18" charset="0"/>
                <a:cs typeface="Simplified Arabic" panose="02020603050405020304" pitchFamily="18" charset="-78"/>
              </a:rPr>
              <a:t>شعبة المحاسبة والتمويل</a:t>
            </a:r>
            <a:endParaRPr lang="en-US" altLang="en-US" sz="1000" dirty="0"/>
          </a:p>
          <a:p>
            <a:pPr algn="ctr" defTabSz="914400" rtl="1"/>
            <a:r>
              <a:rPr lang="en-US" altLang="en-US" sz="1100" dirty="0">
                <a:latin typeface="Calibri" panose="020F0502020204030204" pitchFamily="34" charset="0"/>
                <a:ea typeface="Calibri" panose="020F0502020204030204" pitchFamily="34" charset="0"/>
                <a:cs typeface="Arial" panose="020B0604020202020204" pitchFamily="34" charset="0"/>
              </a:rPr>
              <a:t> </a:t>
            </a:r>
            <a:endParaRPr lang="en-US" altLang="en-US" sz="900" dirty="0"/>
          </a:p>
          <a:p>
            <a:pPr algn="ctr" defTabSz="914400" rtl="1"/>
            <a:r>
              <a:rPr lang="ar-EG" altLang="en-US" sz="2800" dirty="0">
                <a:solidFill>
                  <a:srgbClr val="FF0000"/>
                </a:solidFill>
                <a:latin typeface="Times New Roman" panose="02020603050405020304" pitchFamily="18" charset="0"/>
                <a:ea typeface="Times New Roman" panose="02020603050405020304" pitchFamily="18" charset="0"/>
                <a:cs typeface="PT Bold Heading" panose="00000400000000000000" pitchFamily="2" charset="-78"/>
              </a:rPr>
              <a:t>" دور التمويل الأخضر فى تحقيق التنمية المستدامة </a:t>
            </a:r>
            <a:endParaRPr lang="en-US" altLang="en-US" sz="1000" dirty="0"/>
          </a:p>
          <a:p>
            <a:pPr algn="ctr" defTabSz="914400" rtl="1"/>
            <a:r>
              <a:rPr lang="ar-EG" altLang="en-US" sz="2800" dirty="0">
                <a:solidFill>
                  <a:srgbClr val="FF0000"/>
                </a:solidFill>
                <a:latin typeface="Times New Roman" panose="02020603050405020304" pitchFamily="18" charset="0"/>
                <a:ea typeface="Times New Roman" panose="02020603050405020304" pitchFamily="18" charset="0"/>
                <a:cs typeface="PT Bold Heading" panose="00000400000000000000" pitchFamily="2" charset="-78"/>
              </a:rPr>
              <a:t>دراسة تطبيقية " </a:t>
            </a:r>
            <a:endParaRPr lang="en-US" altLang="en-US" sz="2800" dirty="0">
              <a:solidFill>
                <a:srgbClr val="FF0000"/>
              </a:solidFill>
              <a:latin typeface="Times New Roman" panose="02020603050405020304" pitchFamily="18" charset="0"/>
              <a:ea typeface="Times New Roman" panose="02020603050405020304" pitchFamily="18" charset="0"/>
              <a:cs typeface="PT Bold Heading" panose="00000400000000000000" pitchFamily="2" charset="-78"/>
            </a:endParaRPr>
          </a:p>
          <a:p>
            <a:pPr algn="ctr" defTabSz="914400" rtl="1"/>
            <a:endParaRPr lang="en-US" altLang="en-US" sz="1000" dirty="0"/>
          </a:p>
          <a:p>
            <a:pPr algn="ctr" defTabSz="914400" rtl="1"/>
            <a:r>
              <a:rPr lang="ar-EG" altLang="en-US" sz="2000" b="1" dirty="0">
                <a:latin typeface="Simplified Arabic" panose="02020603050405020304" pitchFamily="18" charset="-78"/>
                <a:ea typeface="Times New Roman" panose="02020603050405020304" pitchFamily="18" charset="0"/>
                <a:cs typeface="Simplified Arabic" panose="02020603050405020304" pitchFamily="18" charset="-78"/>
              </a:rPr>
              <a:t>م</a:t>
            </a:r>
            <a:r>
              <a:rPr lang="ar-EG" altLang="en-US" sz="2000" b="1" dirty="0" bmk="">
                <a:latin typeface="Simplified Arabic" panose="02020603050405020304" pitchFamily="18" charset="-78"/>
                <a:ea typeface="Times New Roman" panose="02020603050405020304" pitchFamily="18" charset="0"/>
                <a:cs typeface="Simplified Arabic" panose="02020603050405020304" pitchFamily="18" charset="-78"/>
              </a:rPr>
              <a:t>شروع بحث مقدم كأحد متطلبات الحصول على درجة البكالوريوس</a:t>
            </a:r>
            <a:endParaRPr lang="en-US" altLang="en-US" sz="1050" dirty="0" bmk=""/>
          </a:p>
          <a:p>
            <a:pPr algn="ctr" defTabSz="914400" rtl="1"/>
            <a:r>
              <a:rPr lang="ar-EG" altLang="en-US" sz="2000" b="1" dirty="0" bmk="">
                <a:latin typeface="Simplified Arabic" panose="02020603050405020304" pitchFamily="18" charset="-78"/>
                <a:ea typeface="Times New Roman" panose="02020603050405020304" pitchFamily="18" charset="0"/>
                <a:cs typeface="Simplified Arabic" panose="02020603050405020304" pitchFamily="18" charset="-78"/>
              </a:rPr>
              <a:t>(شعبة المحاسبة والتمويل)</a:t>
            </a:r>
            <a:endParaRPr lang="en-US" altLang="en-US" sz="2000" b="1" dirty="0" bmk="">
              <a:latin typeface="Simplified Arabic" panose="02020603050405020304" pitchFamily="18" charset="-78"/>
              <a:ea typeface="Times New Roman" panose="02020603050405020304" pitchFamily="18" charset="0"/>
              <a:cs typeface="Simplified Arabic" panose="02020603050405020304" pitchFamily="18" charset="-78"/>
            </a:endParaRPr>
          </a:p>
          <a:p>
            <a:pPr algn="ctr" defTabSz="914400" rtl="1"/>
            <a:r>
              <a:rPr lang="ar-EG" altLang="en-US" sz="2800" b="1" dirty="0" bmk="">
                <a:solidFill>
                  <a:srgbClr val="FF0000"/>
                </a:solidFill>
                <a:ea typeface="Times New Roman" panose="02020603050405020304" pitchFamily="18" charset="0"/>
                <a:cs typeface="Arial" panose="020B0604020202020204" pitchFamily="34" charset="0"/>
              </a:rPr>
              <a:t>إعداد</a:t>
            </a:r>
            <a:endParaRPr lang="en-US" altLang="en-US" sz="1100" dirty="0" bmk="">
              <a:solidFill>
                <a:srgbClr val="FF0000"/>
              </a:solidFill>
            </a:endParaRPr>
          </a:p>
          <a:p>
            <a:pPr algn="ctr" defTabSz="914400" rtl="1"/>
            <a:r>
              <a:rPr lang="ar-EG" altLang="en-US" dirty="0" bmk="">
                <a:latin typeface="Times New Roman" panose="02020603050405020304" pitchFamily="18" charset="0"/>
                <a:ea typeface="Times New Roman" panose="02020603050405020304" pitchFamily="18" charset="0"/>
                <a:cs typeface="PT Bold Heading" panose="00000400000000000000" pitchFamily="2" charset="-78"/>
              </a:rPr>
              <a:t>حسام السيد عبد العزيز محمد</a:t>
            </a:r>
          </a:p>
          <a:p>
            <a:pPr algn="ctr" defTabSz="914400" rtl="1"/>
            <a:r>
              <a:rPr lang="ar-EG" altLang="en-US" dirty="0" bmk="">
                <a:latin typeface="Times New Roman" panose="02020603050405020304" pitchFamily="18" charset="0"/>
                <a:ea typeface="Times New Roman" panose="02020603050405020304" pitchFamily="18" charset="0"/>
                <a:cs typeface="PT Bold Heading" panose="00000400000000000000" pitchFamily="2" charset="-78"/>
              </a:rPr>
              <a:t>حسن محمد حسن البهى</a:t>
            </a:r>
          </a:p>
          <a:p>
            <a:pPr algn="ctr" defTabSz="914400" rtl="1"/>
            <a:r>
              <a:rPr lang="ar-EG" altLang="en-US" dirty="0" bmk="">
                <a:latin typeface="Times New Roman" panose="02020603050405020304" pitchFamily="18" charset="0"/>
                <a:ea typeface="Times New Roman" panose="02020603050405020304" pitchFamily="18" charset="0"/>
                <a:cs typeface="PT Bold Heading" panose="00000400000000000000" pitchFamily="2" charset="-78"/>
              </a:rPr>
              <a:t>عبد الرحمن خالد سعد محمد</a:t>
            </a:r>
          </a:p>
          <a:p>
            <a:pPr algn="ctr" defTabSz="914400" rtl="1"/>
            <a:r>
              <a:rPr lang="ar-EG" altLang="en-US" dirty="0" bmk="">
                <a:latin typeface="Times New Roman" panose="02020603050405020304" pitchFamily="18" charset="0"/>
                <a:ea typeface="Times New Roman" panose="02020603050405020304" pitchFamily="18" charset="0"/>
                <a:cs typeface="PT Bold Heading" panose="00000400000000000000" pitchFamily="2" charset="-78"/>
              </a:rPr>
              <a:t>محمد طارق محمد عزت الحسينى</a:t>
            </a:r>
          </a:p>
          <a:p>
            <a:pPr algn="ctr" defTabSz="914400" rtl="1"/>
            <a:r>
              <a:rPr lang="ar-EG" altLang="en-US" dirty="0" bmk="">
                <a:latin typeface="Times New Roman" panose="02020603050405020304" pitchFamily="18" charset="0"/>
                <a:ea typeface="Times New Roman" panose="02020603050405020304" pitchFamily="18" charset="0"/>
                <a:cs typeface="PT Bold Heading" panose="00000400000000000000" pitchFamily="2" charset="-78"/>
              </a:rPr>
              <a:t>مصطفى محمود عبده ماجد</a:t>
            </a:r>
          </a:p>
          <a:p>
            <a:pPr algn="ctr" defTabSz="914400" rtl="1"/>
            <a:endParaRPr lang="en-US" altLang="en-US" sz="900" dirty="0" bmk=""/>
          </a:p>
          <a:p>
            <a:pPr algn="ctr" defTabSz="914400" rtl="1"/>
            <a:r>
              <a:rPr lang="ar-EG" altLang="en-US" sz="2000" dirty="0" bmk="">
                <a:solidFill>
                  <a:srgbClr val="FF0000"/>
                </a:solidFill>
                <a:latin typeface="Simplified Arabic" panose="02020603050405020304" pitchFamily="18" charset="-78"/>
                <a:ea typeface="Calibri" panose="020F0502020204030204" pitchFamily="34" charset="0"/>
                <a:cs typeface="PT Bold Heading" panose="00000400000000000000" pitchFamily="2" charset="-78"/>
              </a:rPr>
              <a:t>تحت إشراف</a:t>
            </a:r>
            <a:endParaRPr lang="en-US" altLang="en-US" sz="2000" dirty="0" bmk="">
              <a:solidFill>
                <a:srgbClr val="FF0000"/>
              </a:solidFill>
              <a:latin typeface="Simplified Arabic" panose="02020603050405020304" pitchFamily="18" charset="-78"/>
              <a:ea typeface="Calibri" panose="020F0502020204030204" pitchFamily="34" charset="0"/>
              <a:cs typeface="PT Bold Heading" panose="00000400000000000000" pitchFamily="2" charset="-78"/>
            </a:endParaRPr>
          </a:p>
          <a:p>
            <a:pPr algn="ctr" defTabSz="914400" rtl="1"/>
            <a:endParaRPr lang="en-US" altLang="en-US" sz="900" dirty="0"/>
          </a:p>
          <a:p>
            <a:pPr algn="ctr" defTabSz="914400" rtl="1"/>
            <a:r>
              <a:rPr lang="ar-EG" altLang="en-US" sz="2000" b="1" dirty="0">
                <a:ea typeface="Times New Roman" panose="02020603050405020304" pitchFamily="18" charset="0"/>
                <a:cs typeface="Arial" panose="020B0604020202020204" pitchFamily="34" charset="0"/>
              </a:rPr>
              <a:t>الدكتور</a:t>
            </a:r>
            <a:endParaRPr lang="en-US" altLang="en-US" sz="1000" dirty="0"/>
          </a:p>
          <a:p>
            <a:pPr algn="ctr" defTabSz="914400" rtl="1"/>
            <a:r>
              <a:rPr lang="ar-EG" altLang="en-US" sz="2400" dirty="0">
                <a:latin typeface="Times New Roman" panose="02020603050405020304" pitchFamily="18" charset="0"/>
                <a:ea typeface="Times New Roman" panose="02020603050405020304" pitchFamily="18" charset="0"/>
                <a:cs typeface="PT Bold Heading" panose="00000400000000000000" pitchFamily="2" charset="-78"/>
              </a:rPr>
              <a:t>سامح عبد المنعم سراج</a:t>
            </a:r>
            <a:endParaRPr lang="en-US" altLang="en-US" sz="1000" dirty="0"/>
          </a:p>
          <a:p>
            <a:pPr algn="ctr" defTabSz="914400" rtl="1"/>
            <a:r>
              <a:rPr lang="ar-EG" altLang="en-US" b="1" dirty="0">
                <a:ea typeface="Times New Roman" panose="02020603050405020304" pitchFamily="18" charset="0"/>
                <a:cs typeface="Arial" panose="020B0604020202020204" pitchFamily="34" charset="0"/>
              </a:rPr>
              <a:t>المدرس بقسم إدارة الأعمال</a:t>
            </a:r>
            <a:endParaRPr lang="en-US" altLang="en-US" sz="1000" dirty="0"/>
          </a:p>
          <a:p>
            <a:pPr algn="ctr" defTabSz="914400" rtl="1"/>
            <a:r>
              <a:rPr lang="ar-EG" altLang="en-US" b="1" dirty="0">
                <a:ea typeface="Times New Roman" panose="02020603050405020304" pitchFamily="18" charset="0"/>
                <a:cs typeface="Arial" panose="020B0604020202020204" pitchFamily="34" charset="0"/>
              </a:rPr>
              <a:t>كلية التجارة – جامعة طنطا</a:t>
            </a:r>
            <a:endParaRPr lang="en-US" altLang="en-US" sz="1000" dirty="0"/>
          </a:p>
          <a:p>
            <a:pPr algn="ctr" defTabSz="914400" rtl="1"/>
            <a:r>
              <a:rPr lang="ar-EG" altLang="en-US" sz="2000" b="1" dirty="0">
                <a:latin typeface="Simplified Arabic" panose="02020603050405020304" pitchFamily="18" charset="-78"/>
                <a:ea typeface="Calibri" panose="020F0502020204030204" pitchFamily="34" charset="0"/>
                <a:cs typeface="Simplified Arabic" panose="02020603050405020304" pitchFamily="18" charset="-78"/>
              </a:rPr>
              <a:t>202</a:t>
            </a:r>
            <a:r>
              <a:rPr lang="ar-SA" altLang="en-US" sz="2000" b="1" dirty="0">
                <a:latin typeface="Simplified Arabic" panose="02020603050405020304" pitchFamily="18" charset="-78"/>
                <a:ea typeface="Calibri" panose="020F0502020204030204" pitchFamily="34" charset="0"/>
                <a:cs typeface="Simplified Arabic" panose="02020603050405020304" pitchFamily="18" charset="-78"/>
              </a:rPr>
              <a:t>5</a:t>
            </a:r>
            <a:endParaRPr lang="ar-EG" altLang="en-US" dirty="0">
              <a:cs typeface="Arial" panose="020B0604020202020204" pitchFamily="34" charset="0"/>
            </a:endParaRPr>
          </a:p>
        </p:txBody>
      </p:sp>
    </p:spTree>
    <p:extLst>
      <p:ext uri="{BB962C8B-B14F-4D97-AF65-F5344CB8AC3E}">
        <p14:creationId xmlns:p14="http://schemas.microsoft.com/office/powerpoint/2010/main" val="2875736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 name="Title 2"/>
          <p:cNvSpPr>
            <a:spLocks noGrp="1"/>
          </p:cNvSpPr>
          <p:nvPr>
            <p:ph type="ctrTitle"/>
          </p:nvPr>
        </p:nvSpPr>
        <p:spPr>
          <a:xfrm>
            <a:off x="-24298" y="65387"/>
            <a:ext cx="12192002" cy="762000"/>
          </a:xfrm>
        </p:spPr>
        <p:txBody>
          <a:bodyPr>
            <a:noAutofit/>
          </a:bodyPr>
          <a:lstStyle/>
          <a:p>
            <a:pPr algn="ctr" rtl="1"/>
            <a:r>
              <a:rPr lang="en-US" sz="52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                                                       </a:t>
            </a:r>
            <a:r>
              <a:rPr lang="ar-EG" sz="5200" dirty="0">
                <a:solidFill>
                  <a:srgbClr val="FF0000"/>
                </a:solidFill>
                <a:effectLst>
                  <a:outerShdw blurRad="38100" dist="38100" dir="2700000" algn="tl">
                    <a:srgbClr val="000000">
                      <a:alpha val="43137"/>
                    </a:srgbClr>
                  </a:outerShdw>
                </a:effectLst>
                <a:latin typeface="Simplified Arabic" panose="02020603050405020304" pitchFamily="18" charset="-78"/>
                <a:cs typeface="Simplified Arabic" panose="02020603050405020304" pitchFamily="18" charset="-78"/>
              </a:rPr>
              <a:t>    ال</a:t>
            </a:r>
            <a:r>
              <a:rPr lang="ar-EG" sz="5200" dirty="0">
                <a:solidFill>
                  <a:srgbClr val="FF0000"/>
                </a:solidFill>
                <a:latin typeface="Simplified Arabic" panose="02020603050405020304" pitchFamily="18" charset="-78"/>
                <a:cs typeface="Simplified Arabic" panose="02020603050405020304" pitchFamily="18" charset="-78"/>
              </a:rPr>
              <a:t>مقـدمة</a:t>
            </a:r>
            <a:endParaRPr lang="en-US" sz="5200" dirty="0">
              <a:solidFill>
                <a:srgbClr val="FF0000"/>
              </a:solidFill>
              <a:latin typeface="Simplified Arabic" panose="02020603050405020304" pitchFamily="18" charset="-78"/>
              <a:cs typeface="Simplified Arabic" panose="02020603050405020304" pitchFamily="18" charset="-78"/>
            </a:endParaRPr>
          </a:p>
        </p:txBody>
      </p:sp>
      <p:sp>
        <p:nvSpPr>
          <p:cNvPr id="32" name="TextBox 31"/>
          <p:cNvSpPr txBox="1"/>
          <p:nvPr/>
        </p:nvSpPr>
        <p:spPr>
          <a:xfrm rot="4201642">
            <a:off x="4311780" y="3829577"/>
            <a:ext cx="524637" cy="292388"/>
          </a:xfrm>
          <a:prstGeom prst="rect">
            <a:avLst/>
          </a:prstGeom>
          <a:noFill/>
        </p:spPr>
        <p:txBody>
          <a:bodyPr wrap="square" rtlCol="1">
            <a:spAutoFit/>
          </a:bodyPr>
          <a:lstStyle/>
          <a:p>
            <a:endParaRPr lang="ar-EG" sz="1300" b="1" dirty="0">
              <a:effectLst>
                <a:outerShdw blurRad="38100" dist="38100" dir="2700000" algn="tl">
                  <a:srgbClr val="000000">
                    <a:alpha val="43137"/>
                  </a:srgbClr>
                </a:outerShdw>
              </a:effectLst>
            </a:endParaRPr>
          </a:p>
        </p:txBody>
      </p:sp>
      <p:sp>
        <p:nvSpPr>
          <p:cNvPr id="37" name="TextBox 36"/>
          <p:cNvSpPr txBox="1"/>
          <p:nvPr/>
        </p:nvSpPr>
        <p:spPr>
          <a:xfrm rot="200209">
            <a:off x="2581620" y="4399621"/>
            <a:ext cx="717386" cy="307777"/>
          </a:xfrm>
          <a:prstGeom prst="rect">
            <a:avLst/>
          </a:prstGeom>
          <a:noFill/>
        </p:spPr>
        <p:txBody>
          <a:bodyPr wrap="square" rtlCol="1">
            <a:spAutoFit/>
          </a:bodyPr>
          <a:lstStyle/>
          <a:p>
            <a:endParaRPr lang="ar-EG" sz="1400" b="1" dirty="0">
              <a:effectLst>
                <a:outerShdw blurRad="38100" dist="38100" dir="2700000" algn="tl">
                  <a:srgbClr val="000000">
                    <a:alpha val="43137"/>
                  </a:srgbClr>
                </a:outerShdw>
              </a:effectLst>
            </a:endParaRPr>
          </a:p>
        </p:txBody>
      </p:sp>
      <p:sp>
        <p:nvSpPr>
          <p:cNvPr id="38" name="TextBox 37"/>
          <p:cNvSpPr txBox="1"/>
          <p:nvPr/>
        </p:nvSpPr>
        <p:spPr>
          <a:xfrm rot="19518756">
            <a:off x="3119905" y="5856784"/>
            <a:ext cx="620047" cy="307777"/>
          </a:xfrm>
          <a:prstGeom prst="rect">
            <a:avLst/>
          </a:prstGeom>
          <a:noFill/>
        </p:spPr>
        <p:txBody>
          <a:bodyPr wrap="square" rtlCol="1">
            <a:spAutoFit/>
          </a:bodyPr>
          <a:lstStyle/>
          <a:p>
            <a:endParaRPr lang="ar-EG" sz="1400" b="1" dirty="0">
              <a:effectLst>
                <a:outerShdw blurRad="38100" dist="38100" dir="2700000" algn="tl">
                  <a:srgbClr val="000000">
                    <a:alpha val="43137"/>
                  </a:srgbClr>
                </a:outerShdw>
              </a:effectLst>
            </a:endParaRPr>
          </a:p>
        </p:txBody>
      </p:sp>
      <p:sp>
        <p:nvSpPr>
          <p:cNvPr id="39" name="TextBox 38"/>
          <p:cNvSpPr txBox="1"/>
          <p:nvPr/>
        </p:nvSpPr>
        <p:spPr>
          <a:xfrm rot="19405547">
            <a:off x="2100395" y="4500548"/>
            <a:ext cx="551996" cy="307777"/>
          </a:xfrm>
          <a:prstGeom prst="rect">
            <a:avLst/>
          </a:prstGeom>
          <a:noFill/>
        </p:spPr>
        <p:txBody>
          <a:bodyPr wrap="square" rtlCol="1">
            <a:spAutoFit/>
          </a:bodyPr>
          <a:lstStyle/>
          <a:p>
            <a:endParaRPr lang="ar-EG" sz="1400" b="1" dirty="0">
              <a:effectLst>
                <a:outerShdw blurRad="38100" dist="38100" dir="2700000" algn="tl">
                  <a:srgbClr val="000000">
                    <a:alpha val="43137"/>
                  </a:srgbClr>
                </a:outerShdw>
              </a:effectLst>
            </a:endParaRPr>
          </a:p>
        </p:txBody>
      </p:sp>
      <p:sp>
        <p:nvSpPr>
          <p:cNvPr id="42" name="TextBox 41"/>
          <p:cNvSpPr txBox="1"/>
          <p:nvPr/>
        </p:nvSpPr>
        <p:spPr>
          <a:xfrm rot="18589828">
            <a:off x="1731256" y="4754203"/>
            <a:ext cx="807677" cy="307777"/>
          </a:xfrm>
          <a:prstGeom prst="rect">
            <a:avLst/>
          </a:prstGeom>
          <a:noFill/>
        </p:spPr>
        <p:txBody>
          <a:bodyPr wrap="square" rtlCol="1">
            <a:spAutoFit/>
          </a:bodyPr>
          <a:lstStyle/>
          <a:p>
            <a:endParaRPr lang="ar-EG" sz="1400" dirty="0"/>
          </a:p>
        </p:txBody>
      </p:sp>
      <p:sp>
        <p:nvSpPr>
          <p:cNvPr id="11" name="TextBox 10">
            <a:extLst>
              <a:ext uri="{FF2B5EF4-FFF2-40B4-BE49-F238E27FC236}">
                <a16:creationId xmlns:a16="http://schemas.microsoft.com/office/drawing/2014/main" id="{4A62F27F-2B5A-4189-8D85-7312F5108E3B}"/>
              </a:ext>
            </a:extLst>
          </p:cNvPr>
          <p:cNvSpPr txBox="1"/>
          <p:nvPr/>
        </p:nvSpPr>
        <p:spPr>
          <a:xfrm>
            <a:off x="101600" y="593824"/>
            <a:ext cx="12090400" cy="6201698"/>
          </a:xfrm>
          <a:prstGeom prst="rect">
            <a:avLst/>
          </a:prstGeom>
          <a:noFill/>
        </p:spPr>
        <p:txBody>
          <a:bodyPr wrap="square">
            <a:spAutoFit/>
          </a:bodyPr>
          <a:lstStyle/>
          <a:p>
            <a:pPr marL="457200" indent="-457200" algn="just" rtl="1">
              <a:buClr>
                <a:srgbClr val="FF0000"/>
              </a:buClr>
              <a:buFont typeface="Wingdings" panose="05000000000000000000" pitchFamily="2" charset="2"/>
              <a:buChar char="q"/>
            </a:pPr>
            <a:r>
              <a:rPr lang="ar-EG" sz="2300" b="1" dirty="0">
                <a:latin typeface="Times New Roman" panose="02020603050405020304" pitchFamily="18" charset="0"/>
                <a:ea typeface="Times New Roman"/>
                <a:cs typeface="Times New Roman" panose="02020603050405020304" pitchFamily="18" charset="0"/>
              </a:rPr>
              <a:t>شهد العالم فى العقود الأخيرة تحولات كبيرة في مختلف المجالات، لا سيما فى مجالى الإقتصاد والبيئة، حيث أفرز النمو الإقتصادى السريع تحديات بيئية متزايدة تمثلت فى التغيرات المناخية، والتلوث، وإستنزاف الموارد الطبيعية، ومع تصاعد هذه التحديات برزت الحاجة الملحة إلى نماذج تنموية جديدة توازن بين النمو الإقتصادى والحفاظ على البيئة، وفى هذا السياق، برز التمويل الأخضر كأداة فعالة لدعم التحول نحو إقتصاد مستدام، حيث يهدف إلى تمويل المشاريع والمبادرات التى تراعى الأبعاد البيئية والإجتماعية إلى جانب العائد الإقتصادى، فالتمويل الأخضر لا يقتصر على كونه آلية لتوفير الموارد المالية، بل يمثل وسيلة إستراتيجية لتحقيق التحول الهيكلى نحو التنمية المستدامة، من خلال دعم الطاقة المتجددة، وتعزيز كفاءة الطاقة، وتقليل الإنبعاثات الكربونية، وتطوير البنية التحتية الخضراء، كما أن التمويل الأخضر يعرف بأنه "مجموعة من الآليات والأدوات المالية التى تهدف إلى تمويل المشاريع الإقتصادية التى تراعى الجوانب البيئية، وتسهم فى تقليل الآثار السلبية للنشاط الإقتصادى على البيئة".</a:t>
            </a:r>
          </a:p>
          <a:p>
            <a:pPr marL="457200" indent="-457200" algn="just" rtl="1">
              <a:buClr>
                <a:schemeClr val="tx1"/>
              </a:buClr>
              <a:buFont typeface="Wingdings" panose="05000000000000000000" pitchFamily="2" charset="2"/>
              <a:buChar char="q"/>
            </a:pPr>
            <a:r>
              <a:rPr lang="ar-EG" sz="23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وتعد التنمية المستدامة مفهوما أساسيا فى العصر الحديث، حيث تهدف إلى تحقيق التوازن بين الإحتياجات الإقتصادية والإجتماعية والبيئية، لضمان تلبية متطلبات الأجيال الحالية دون المساس بقدرة الأجيال المستقبلية على تلبية إحتياجاتها</a:t>
            </a:r>
            <a:r>
              <a:rPr lang="ar-SA" sz="23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t>
            </a:r>
          </a:p>
          <a:p>
            <a:pPr marL="457200" indent="-457200" algn="just" rtl="1">
              <a:buClr>
                <a:srgbClr val="FF0000"/>
              </a:buClr>
              <a:buFont typeface="Wingdings" panose="05000000000000000000" pitchFamily="2" charset="2"/>
              <a:buChar char="q"/>
            </a:pPr>
            <a:r>
              <a:rPr lang="ar-EG" sz="2300" b="1" dirty="0">
                <a:latin typeface="Times New Roman" panose="02020603050405020304" pitchFamily="18" charset="0"/>
                <a:cs typeface="Times New Roman" panose="02020603050405020304" pitchFamily="18" charset="0"/>
              </a:rPr>
              <a:t>ولقد أدركت العديد من الدول أهمية التمويل الأخضر فى تحقيق التنمية المستدامة، فسعت إلى إدماج السياسات البيئية ضمن إستراتيجياتها الإقتصادية والمالية، حيث أن التمويل الأخضر يمثل أحد محاور الإقتصاد المستدام الذى يعكس تداخلا متزايدا بين الإستقرار البيئى والنمو الإقتصادى،  ويستند التمويل الأخضر فى تحقيق التنمية المستدامة إلى عدة مبادئ أساسية، أبرزها: توجيه الإستثمارات نحو الأنشطة ذات التأثير الإيجابى على البيئة، والحد من تمويل المشاريع الضارة بيئيا، وتشجيع الإفصاح البيئى من قبل الشركات والمؤسسات المالية، كما يسهم التمويل الأخضر فى تحسين كفاءة استخدام الموارد الطبيعية، وتحقيق مرونة اقتصادية أعلى فى مواجهة التغيرات المناخية </a:t>
            </a:r>
          </a:p>
        </p:txBody>
      </p:sp>
    </p:spTree>
    <p:extLst>
      <p:ext uri="{BB962C8B-B14F-4D97-AF65-F5344CB8AC3E}">
        <p14:creationId xmlns:p14="http://schemas.microsoft.com/office/powerpoint/2010/main" val="1672676762"/>
      </p:ext>
    </p:extLst>
  </p:cSld>
  <p:clrMapOvr>
    <a:masterClrMapping/>
  </p:clrMapOvr>
  <mc:AlternateContent xmlns:mc="http://schemas.openxmlformats.org/markup-compatibility/2006" xmlns:p14="http://schemas.microsoft.com/office/powerpoint/2010/main">
    <mc:Choice Requires="p14">
      <p:transition spd="slow" p14:dur="1600">
        <p14:prism dir="r"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750" fill="hold"/>
                                        <p:tgtEl>
                                          <p:spTgt spid="35"/>
                                        </p:tgtEl>
                                        <p:attrNameLst>
                                          <p:attrName>ppt_x</p:attrName>
                                        </p:attrNameLst>
                                      </p:cBhvr>
                                      <p:tavLst>
                                        <p:tav tm="0">
                                          <p:val>
                                            <p:strVal val="#ppt_x"/>
                                          </p:val>
                                        </p:tav>
                                        <p:tav tm="100000">
                                          <p:val>
                                            <p:strVal val="#ppt_x"/>
                                          </p:val>
                                        </p:tav>
                                      </p:tavLst>
                                    </p:anim>
                                    <p:anim calcmode="lin" valueType="num">
                                      <p:cBhvr additive="base">
                                        <p:cTn id="8" dur="75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1E87716-577D-4587-88B2-20F0D9B2BFF5}"/>
              </a:ext>
            </a:extLst>
          </p:cNvPr>
          <p:cNvSpPr txBox="1"/>
          <p:nvPr/>
        </p:nvSpPr>
        <p:spPr>
          <a:xfrm>
            <a:off x="0" y="62629"/>
            <a:ext cx="12192000" cy="6763518"/>
          </a:xfrm>
          <a:prstGeom prst="rect">
            <a:avLst/>
          </a:prstGeom>
          <a:noFill/>
        </p:spPr>
        <p:txBody>
          <a:bodyPr wrap="square">
            <a:spAutoFit/>
          </a:bodyPr>
          <a:lstStyle/>
          <a:p>
            <a:pPr algn="r" rtl="1"/>
            <a:r>
              <a:rPr lang="ar-EG" sz="4800" b="1" dirty="0">
                <a:solidFill>
                  <a:srgbClr val="FF0000"/>
                </a:solidFill>
                <a:latin typeface="Simplified Arabic" panose="02020603050405020304" pitchFamily="18" charset="-78"/>
                <a:cs typeface="Simplified Arabic" panose="02020603050405020304" pitchFamily="18" charset="-78"/>
              </a:rPr>
              <a:t>  </a:t>
            </a:r>
            <a:r>
              <a:rPr lang="en-US" sz="4800" b="1" dirty="0">
                <a:solidFill>
                  <a:srgbClr val="FF0000"/>
                </a:solidFill>
                <a:latin typeface="Simplified Arabic" panose="02020603050405020304" pitchFamily="18" charset="-78"/>
                <a:cs typeface="Simplified Arabic" panose="02020603050405020304" pitchFamily="18" charset="-78"/>
              </a:rPr>
              <a:t>                      </a:t>
            </a:r>
            <a:r>
              <a:rPr lang="ar-EG" sz="4800" b="1" dirty="0">
                <a:solidFill>
                  <a:srgbClr val="FF0000"/>
                </a:solidFill>
                <a:latin typeface="Simplified Arabic" panose="02020603050405020304" pitchFamily="18" charset="-78"/>
                <a:cs typeface="Simplified Arabic" panose="02020603050405020304" pitchFamily="18" charset="-78"/>
              </a:rPr>
              <a:t>مشكلة البحث </a:t>
            </a:r>
          </a:p>
          <a:p>
            <a:pPr algn="just" rtl="1">
              <a:lnSpc>
                <a:spcPct val="107000"/>
              </a:lnSpc>
            </a:pPr>
            <a:r>
              <a:rPr lang="ar-EG" sz="2400" b="1" kern="100" dirty="0">
                <a:latin typeface="Times New Roman" panose="02020603050405020304" pitchFamily="18" charset="0"/>
                <a:ea typeface="Calibri" panose="020F0502020204030204" pitchFamily="34" charset="0"/>
                <a:cs typeface="Times New Roman" panose="02020603050405020304" pitchFamily="18" charset="0"/>
              </a:rPr>
              <a:t>أصبحت التحديات البيئية التى يشهدها العالم فى الوقت الحاضر من أكثر القضايا إلحاحا على جدول أعمال صانعي السياسات، لا سيما فى ظل تزايد حدة التغيرات المناخية، وتلوث الهواء والمياة، وإرتفاع مستويات إنبعاثات الغازات الدفيئة، إضافة إلى إستنزاف الموارد الطبيعية وتدهور الأنظمة البيئية، ولعل أحد أبرز مظاهر هذا التحول هو إدراك المجتمع الدولى بأن النمو الإقتصادى لا يمكن أن يكون هدفا قائما بذاته إذا لم يراعِ الأبعاد البيئية والإجتماعية، وهو ما أدى إلى بروز مفهوم التنمية المستدامة بوصفه الإطار الشامل الذى يعنى بتلبية حاجات الأجيال الحالية دون المساس بقدرة الأجيال المقبلة على تلبية حاجاتها، من خلال التوازن بين النمو الإقتصادى والحفاظ على البيئة والعدالة الإجتماعية، وفى إطار السعى لتحقيق هذا النوع من التنمية برز مفهوم التمويل الأخضر كإحدى الآليات الإقتصادية الحديثة التى تهدف إلى إعادة توجيه رؤوس الأموال نحو أنشطة ومشروعات تراعي الجوانب البيئية والإجتماعية، ويعد التمويل الأخضر اليوم من الركائز الأساسية للإقتصاد المستدام إذ يمثل نقطة الإلتقاء بين أهداف التمويل التقليدى ومتطلبات الحفاظ على البيئة، ورغم الأهمية المتزايدة لهذا النوع من التمويل على الساحة العالمية، إلا أن تطبيقاته العملية خاصة في الدول العربية لا تزال تواجه العديد من التحديات والعوائق المؤسسية والتمويلية والتشريعية، وتنبع أهمية تحديد هذه المشكلة من الحاجة الملحة إلى تحليل واقع التمويل الأخضر، وتحديد دوره في دعم التحول نحو تنمية مستدامة حقيقية، وفهم الإشكاليات البنيوية والتنظيمية التى تحول دون توظيفه بالشكل الأمثل.</a:t>
            </a:r>
            <a:endParaRPr lang="ar-SA" sz="2400" b="1" kern="100" dirty="0">
              <a:latin typeface="Times New Roman" panose="02020603050405020304" pitchFamily="18" charset="0"/>
              <a:ea typeface="Calibri" panose="020F0502020204030204" pitchFamily="34" charset="0"/>
              <a:cs typeface="Times New Roman" panose="02020603050405020304" pitchFamily="18" charset="0"/>
            </a:endParaRPr>
          </a:p>
          <a:p>
            <a:pPr algn="just" rtl="1">
              <a:lnSpc>
                <a:spcPct val="107000"/>
              </a:lnSpc>
            </a:pPr>
            <a:r>
              <a:rPr lang="ar-SA" sz="2400" b="1" kern="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وعليه يمكن صياغة مشكلة البحث كما يلى:</a:t>
            </a:r>
            <a:endParaRPr lang="en-US" sz="2400" b="1" kern="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algn="ctr" rtl="1"/>
            <a:r>
              <a:rPr lang="ar-EG" sz="26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r>
              <a:rPr lang="ar-EG" sz="2600" dirty="0">
                <a:solidFill>
                  <a:srgbClr val="FF0000"/>
                </a:solidFill>
                <a:effectLst/>
                <a:latin typeface="Simplified Arabic" panose="02010000000000000000" pitchFamily="2" charset="-78"/>
                <a:ea typeface="Calibri" panose="020F0502020204030204" pitchFamily="34" charset="0"/>
                <a:cs typeface="PT Bold Heading" panose="00000400000000000000" pitchFamily="2" charset="-78"/>
              </a:rPr>
              <a:t>ما هو دور التمويل الأخضر فى تحقيق التنمية المستدامة </a:t>
            </a:r>
            <a:r>
              <a:rPr lang="ar-EG" sz="26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endParaRPr lang="ar-EG" sz="26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8865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9E718BF-BE97-4FBA-88ED-535264564522}"/>
              </a:ext>
            </a:extLst>
          </p:cNvPr>
          <p:cNvSpPr txBox="1"/>
          <p:nvPr/>
        </p:nvSpPr>
        <p:spPr>
          <a:xfrm>
            <a:off x="0" y="-533400"/>
            <a:ext cx="12192000" cy="8063746"/>
          </a:xfrm>
          <a:prstGeom prst="rect">
            <a:avLst/>
          </a:prstGeom>
          <a:noFill/>
        </p:spPr>
        <p:txBody>
          <a:bodyPr wrap="square">
            <a:spAutoFit/>
          </a:bodyPr>
          <a:lstStyle/>
          <a:p>
            <a:pPr algn="r" rtl="1"/>
            <a:endParaRPr lang="ar-EG" sz="4800" b="1" dirty="0">
              <a:solidFill>
                <a:srgbClr val="FFFF00"/>
              </a:solidFill>
              <a:latin typeface="Simplified Arabic" panose="02020603050405020304" pitchFamily="18" charset="-78"/>
              <a:cs typeface="Simplified Arabic" panose="02020603050405020304" pitchFamily="18" charset="-78"/>
            </a:endParaRPr>
          </a:p>
          <a:p>
            <a:pPr algn="r" rtl="1"/>
            <a:r>
              <a:rPr lang="en-US" sz="4800" b="1" dirty="0">
                <a:solidFill>
                  <a:srgbClr val="FF0000"/>
                </a:solidFill>
                <a:latin typeface="Times New Roman" panose="02020603050405020304" pitchFamily="18" charset="0"/>
                <a:cs typeface="Times New Roman" panose="02020603050405020304" pitchFamily="18" charset="0"/>
              </a:rPr>
              <a:t>                               </a:t>
            </a:r>
            <a:r>
              <a:rPr lang="ar-EG" sz="4800" b="1" dirty="0">
                <a:solidFill>
                  <a:srgbClr val="FF0000"/>
                </a:solidFill>
                <a:latin typeface="Times New Roman" panose="02020603050405020304" pitchFamily="18" charset="0"/>
                <a:cs typeface="Times New Roman" panose="02020603050405020304" pitchFamily="18" charset="0"/>
              </a:rPr>
              <a:t>أهداف البحث</a:t>
            </a:r>
          </a:p>
          <a:p>
            <a:pPr algn="just" rtl="1"/>
            <a:r>
              <a:rPr lang="ar-EG" sz="3400" b="1" dirty="0">
                <a:latin typeface="Times New Roman" panose="02020603050405020304" pitchFamily="18" charset="0"/>
                <a:ea typeface="Calibri" panose="020F0502020204030204" pitchFamily="34" charset="0"/>
                <a:cs typeface="Times New Roman" panose="02020603050405020304" pitchFamily="18" charset="0"/>
              </a:rPr>
              <a:t>إن الهدف الرئيسى للبحث هو التعرف على </a:t>
            </a:r>
            <a:r>
              <a:rPr lang="ar-EG" sz="3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دور التمويل الأخضر فى تحقيق التنمية المستدامة </a:t>
            </a:r>
            <a:r>
              <a:rPr lang="ar-EG" sz="3400" b="1" dirty="0">
                <a:solidFill>
                  <a:srgbClr val="FF0000"/>
                </a:solidFill>
                <a:latin typeface="Times New Roman" panose="02020603050405020304" pitchFamily="18" charset="0"/>
                <a:cs typeface="Times New Roman" panose="02020603050405020304" pitchFamily="18" charset="0"/>
              </a:rPr>
              <a:t>" </a:t>
            </a:r>
            <a:r>
              <a:rPr lang="ar-EG" sz="3400" b="1" dirty="0">
                <a:solidFill>
                  <a:srgbClr val="FFC000"/>
                </a:solidFill>
                <a:latin typeface="Times New Roman" panose="02020603050405020304" pitchFamily="18" charset="0"/>
                <a:ea typeface="Calibri" panose="020F0502020204030204" pitchFamily="34" charset="0"/>
                <a:cs typeface="Times New Roman" panose="02020603050405020304" pitchFamily="18" charset="0"/>
              </a:rPr>
              <a:t> </a:t>
            </a:r>
          </a:p>
          <a:p>
            <a:pPr algn="just" rtl="1"/>
            <a:r>
              <a:rPr lang="ar-EG" sz="3200" b="1" dirty="0">
                <a:latin typeface="Times New Roman" panose="02020603050405020304" pitchFamily="18" charset="0"/>
                <a:ea typeface="Calibri" panose="020F0502020204030204" pitchFamily="34" charset="0"/>
                <a:cs typeface="Times New Roman" panose="02020603050405020304" pitchFamily="18" charset="0"/>
              </a:rPr>
              <a:t>وذلك من خلال بعض الأهداف الفرعية التالية :</a:t>
            </a:r>
            <a:endParaRPr lang="en-US" sz="3200" b="1"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rtl="1">
              <a:lnSpc>
                <a:spcPct val="150000"/>
              </a:lnSpc>
              <a:buClr>
                <a:schemeClr val="tx1"/>
              </a:buClr>
              <a:buFont typeface="Wingdings" panose="05000000000000000000" pitchFamily="2" charset="2"/>
              <a:buChar char="q"/>
            </a:pPr>
            <a:r>
              <a:rPr lang="ar-EG" sz="24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تحديد المفاهيم الأساسية للتمويل الأخضر، وتوضيح علاقته بالمفاهيم المتصلة مثل الإقتصاد الأخضر، والتمويل المستدام.</a:t>
            </a:r>
            <a:endParaRPr lang="en-US" sz="24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rtl="1">
              <a:lnSpc>
                <a:spcPct val="150000"/>
              </a:lnSpc>
              <a:buClr>
                <a:srgbClr val="FF0000"/>
              </a:buClr>
              <a:buFont typeface="Wingdings" panose="05000000000000000000" pitchFamily="2" charset="2"/>
              <a:buChar char="q"/>
            </a:pPr>
            <a:r>
              <a:rPr lang="ar-EG" sz="2400" b="1" kern="100" dirty="0">
                <a:latin typeface="Times New Roman" panose="02020603050405020304" pitchFamily="18" charset="0"/>
                <a:ea typeface="Calibri" panose="020F0502020204030204" pitchFamily="34" charset="0"/>
                <a:cs typeface="Times New Roman" panose="02020603050405020304" pitchFamily="18" charset="0"/>
              </a:rPr>
              <a:t>تحليل العلاقة بين التمويل الأخضر والتنمية المستدامة، من خلال إستعراض كيفية مساهمة أدوات التمويل الأخضر فى دعم الأبعاد البيئية والإقتصادية والإجتماعية للتنمية المستدامة.</a:t>
            </a:r>
            <a:endParaRPr lang="en-US" sz="2400" b="1" kern="1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rtl="1">
              <a:lnSpc>
                <a:spcPct val="150000"/>
              </a:lnSpc>
              <a:buClr>
                <a:schemeClr val="tx1"/>
              </a:buClr>
              <a:buFont typeface="Wingdings" panose="05000000000000000000" pitchFamily="2" charset="2"/>
              <a:buChar char="q"/>
            </a:pPr>
            <a:r>
              <a:rPr lang="ar-EG" sz="24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التعرف على التحديات التى تعيق تفعيل التمويل الأخضر، سواء كانت تشريعية أو مؤسسية أو مالية أو تتعلق بنقص الوعى والمعرفة لدى المستثمرين والجهات التمويلية.</a:t>
            </a:r>
            <a:endParaRPr lang="en-US" sz="24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rtl="1">
              <a:lnSpc>
                <a:spcPct val="150000"/>
              </a:lnSpc>
              <a:buClr>
                <a:srgbClr val="FF0000"/>
              </a:buClr>
              <a:buFont typeface="Wingdings" panose="05000000000000000000" pitchFamily="2" charset="2"/>
              <a:buChar char="q"/>
            </a:pPr>
            <a:r>
              <a:rPr lang="ar-EG" sz="2400" b="1" kern="100" dirty="0">
                <a:latin typeface="Times New Roman" panose="02020603050405020304" pitchFamily="18" charset="0"/>
                <a:ea typeface="Calibri" panose="020F0502020204030204" pitchFamily="34" charset="0"/>
                <a:cs typeface="Times New Roman" panose="02020603050405020304" pitchFamily="18" charset="0"/>
              </a:rPr>
              <a:t>إقتراح سياسات وآليات فعالة لتعزيز دور التمويل الأخضر فى دعم مشاريع التنمية المستدامة على المستوى الوطنى والإقليمى.</a:t>
            </a:r>
            <a:r>
              <a:rPr lang="ar-EG" sz="2400" kern="100" dirty="0">
                <a:latin typeface="Calibri" panose="020F0502020204030204" pitchFamily="34" charset="0"/>
                <a:ea typeface="Calibri" panose="020F0502020204030204" pitchFamily="34" charset="0"/>
                <a:cs typeface="Simplified Arabic" panose="02020603050405020304" pitchFamily="18" charset="-78"/>
              </a:rPr>
              <a:t> </a:t>
            </a:r>
            <a:endParaRPr lang="en-US" sz="2400" kern="100" dirty="0">
              <a:latin typeface="Calibri" panose="020F0502020204030204" pitchFamily="34" charset="0"/>
              <a:ea typeface="Calibri" panose="020F0502020204030204" pitchFamily="34" charset="0"/>
              <a:cs typeface="Arial" panose="020B0604020202020204" pitchFamily="34" charset="0"/>
            </a:endParaRPr>
          </a:p>
          <a:p>
            <a:pPr rtl="1"/>
            <a:r>
              <a:rPr lang="ar-SA" sz="3200" dirty="0"/>
              <a:t> </a:t>
            </a:r>
            <a:endParaRPr lang="ar-EG" sz="3000" b="1"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3508663265"/>
      </p:ext>
    </p:extLst>
  </p:cSld>
  <p:clrMapOvr>
    <a:masterClrMapping/>
  </p:clrMapOvr>
  <mc:AlternateContent xmlns:mc="http://schemas.openxmlformats.org/markup-compatibility/2006" xmlns:p14="http://schemas.microsoft.com/office/powerpoint/2010/main">
    <mc:Choice Requires="p14">
      <p:transition spd="slow" p14:dur="1600">
        <p14:conveyor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4C3AB91-3E7F-4279-AD05-D51B7FBAFB67}"/>
              </a:ext>
            </a:extLst>
          </p:cNvPr>
          <p:cNvSpPr txBox="1"/>
          <p:nvPr/>
        </p:nvSpPr>
        <p:spPr>
          <a:xfrm>
            <a:off x="-35257" y="-2275"/>
            <a:ext cx="12192000" cy="6678751"/>
          </a:xfrm>
          <a:prstGeom prst="rect">
            <a:avLst/>
          </a:prstGeom>
          <a:noFill/>
        </p:spPr>
        <p:txBody>
          <a:bodyPr wrap="square">
            <a:spAutoFit/>
          </a:bodyPr>
          <a:lstStyle/>
          <a:p>
            <a:pPr algn="ctr" rtl="1"/>
            <a:r>
              <a:rPr lang="ar-EG" sz="4600" b="1" dirty="0">
                <a:solidFill>
                  <a:srgbClr val="FF0000"/>
                </a:solidFill>
                <a:latin typeface="Times New Roman" panose="02020603050405020304" pitchFamily="18" charset="0"/>
                <a:cs typeface="Times New Roman" panose="02020603050405020304" pitchFamily="18" charset="0"/>
              </a:rPr>
              <a:t>أهمية البحث</a:t>
            </a:r>
          </a:p>
          <a:p>
            <a:pPr marL="457202" indent="-457202" algn="r" rtl="1">
              <a:buClr>
                <a:srgbClr val="C00000"/>
              </a:buClr>
              <a:buFont typeface="Wingdings" panose="05000000000000000000" pitchFamily="2" charset="2"/>
              <a:buChar char="v"/>
            </a:pPr>
            <a:r>
              <a:rPr lang="ar-EG" sz="3200" b="1" dirty="0">
                <a:solidFill>
                  <a:srgbClr val="C00000"/>
                </a:solidFill>
                <a:latin typeface="Times New Roman" panose="02020603050405020304" pitchFamily="18" charset="0"/>
                <a:cs typeface="Times New Roman" panose="02020603050405020304" pitchFamily="18" charset="0"/>
              </a:rPr>
              <a:t>الأهمية العلمية</a:t>
            </a:r>
          </a:p>
          <a:p>
            <a:pPr indent="-342900" algn="just" rtl="1">
              <a:lnSpc>
                <a:spcPts val="2400"/>
              </a:lnSpc>
              <a:buFont typeface="Wingdings" panose="05000000000000000000" pitchFamily="2" charset="2"/>
              <a:buChar char="v"/>
            </a:pPr>
            <a:r>
              <a:rPr lang="ar-EG" sz="2000" b="1" kern="100" dirty="0">
                <a:latin typeface="Times New Roman" panose="02020603050405020304" pitchFamily="18" charset="0"/>
                <a:ea typeface="Calibri" panose="020F0502020204030204" pitchFamily="34" charset="0"/>
                <a:cs typeface="Times New Roman" panose="02020603050405020304" pitchFamily="18" charset="0"/>
              </a:rPr>
              <a:t>تساهم الدراسة فى سد الفجوة المعرفية المتعلقة بالربط بين مفاهيم التمويل الأخضر والتنمية المستدامة، خاصة في السياقات العربية التى لا تزال تعانى من محدودية فى الدراسات الأكاديمية المتخصصة فى هذا المجال. </a:t>
            </a:r>
          </a:p>
          <a:p>
            <a:pPr indent="-342900" algn="just" rtl="1">
              <a:lnSpc>
                <a:spcPts val="2400"/>
              </a:lnSpc>
              <a:buFont typeface="Wingdings" panose="05000000000000000000" pitchFamily="2" charset="2"/>
              <a:buChar char="v"/>
            </a:pPr>
            <a:r>
              <a:rPr lang="ar-EG" sz="20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توضح الدراسة الأطر النظرية لمفاهيم التمويل الأخضر والتنمية المستدامة، وتسهم فى تنظيم العلاقة بين أدوات التمويل الأخضر ومجالات التنمية البيئية والإقتصادية والإجتماعية، مما يوفر أساسا نظريا يمكن الرجوع إليه فى أبحاث لاحقة.</a:t>
            </a:r>
          </a:p>
          <a:p>
            <a:pPr indent="-342900" algn="just" rtl="1">
              <a:lnSpc>
                <a:spcPts val="2400"/>
              </a:lnSpc>
              <a:buFont typeface="Wingdings" panose="05000000000000000000" pitchFamily="2" charset="2"/>
              <a:buChar char="v"/>
            </a:pPr>
            <a:r>
              <a:rPr lang="ar-EG" sz="2000" b="1" kern="100" dirty="0">
                <a:latin typeface="Times New Roman" panose="02020603050405020304" pitchFamily="18" charset="0"/>
                <a:ea typeface="Calibri" panose="020F0502020204030204" pitchFamily="34" charset="0"/>
                <a:cs typeface="Times New Roman" panose="02020603050405020304" pitchFamily="18" charset="0"/>
              </a:rPr>
              <a:t>تبرز الدراسة أهمية تكامل التخصصات، من خلال الربط بين الإقتصاد والتمويل من جهة، والبيئة والتنمية من جهة أخرى، وهو ما يعزز من الفهم متعدد التخصصات لموضوعات الإستدامة.</a:t>
            </a:r>
          </a:p>
          <a:p>
            <a:pPr indent="-342900" algn="just" rtl="1">
              <a:lnSpc>
                <a:spcPts val="2400"/>
              </a:lnSpc>
              <a:buFont typeface="Wingdings" panose="05000000000000000000" pitchFamily="2" charset="2"/>
              <a:buChar char="v"/>
            </a:pPr>
            <a:r>
              <a:rPr lang="ar-EG" sz="20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تعد الدراسة دافعا للباحثين والمهتمين بمجالات التمويل والسياسات البيئية للتوسع فى دراسة موضوع التمويل الأخضر، وإستكشاف أدواته وتحدياته وإمكانياته فى السياقات المحلية والإقليمية.</a:t>
            </a:r>
            <a:endParaRPr lang="ar-SA" sz="20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marL="457202" indent="-457202" algn="r" rtl="1">
              <a:lnSpc>
                <a:spcPts val="3600"/>
              </a:lnSpc>
              <a:buClr>
                <a:srgbClr val="C00000"/>
              </a:buClr>
              <a:buFont typeface="Wingdings" panose="05000000000000000000" pitchFamily="2" charset="2"/>
              <a:buChar char="v"/>
            </a:pPr>
            <a:r>
              <a:rPr lang="ar-EG" sz="3200" b="1" dirty="0">
                <a:solidFill>
                  <a:srgbClr val="C00000"/>
                </a:solidFill>
                <a:latin typeface="Times New Roman" panose="02020603050405020304" pitchFamily="18" charset="0"/>
                <a:cs typeface="Times New Roman" panose="02020603050405020304" pitchFamily="18" charset="0"/>
              </a:rPr>
              <a:t> الأهمية التطبيقية</a:t>
            </a:r>
          </a:p>
          <a:p>
            <a:pPr indent="-342900" algn="just" rtl="1">
              <a:lnSpc>
                <a:spcPts val="2400"/>
              </a:lnSpc>
              <a:buFont typeface="Wingdings" panose="05000000000000000000" pitchFamily="2" charset="2"/>
              <a:buChar char="v"/>
            </a:pPr>
            <a:r>
              <a:rPr lang="ar-EG" sz="2000" b="1" kern="100" dirty="0">
                <a:latin typeface="Times New Roman" panose="02020603050405020304" pitchFamily="18" charset="0"/>
                <a:cs typeface="Times New Roman" panose="02020603050405020304" pitchFamily="18" charset="0"/>
              </a:rPr>
              <a:t>تهدف الدراسة إلى وضع حلول واقعية قابلة للتطبيق تساعد متخذى القرار على تطوير سياسات تمويلية وتشريعية داعمة للتحول نحو الإقتصاد الأخضر والتنمية المستدامة. </a:t>
            </a:r>
            <a:endParaRPr lang="en-US" sz="2000" b="1" kern="100" dirty="0">
              <a:latin typeface="Times New Roman" panose="02020603050405020304" pitchFamily="18" charset="0"/>
              <a:cs typeface="Times New Roman" panose="02020603050405020304" pitchFamily="18" charset="0"/>
            </a:endParaRPr>
          </a:p>
          <a:p>
            <a:pPr indent="-342900" algn="just" rtl="1">
              <a:lnSpc>
                <a:spcPts val="2400"/>
              </a:lnSpc>
              <a:buFont typeface="Wingdings" panose="05000000000000000000" pitchFamily="2" charset="2"/>
              <a:buChar char="v"/>
            </a:pPr>
            <a:r>
              <a:rPr lang="ar-EG" sz="2000" b="1" kern="100" dirty="0">
                <a:solidFill>
                  <a:srgbClr val="FF0000"/>
                </a:solidFill>
                <a:latin typeface="Times New Roman" panose="02020603050405020304" pitchFamily="18" charset="0"/>
                <a:cs typeface="Times New Roman" panose="02020603050405020304" pitchFamily="18" charset="0"/>
              </a:rPr>
              <a:t>تقدم الدراسة رؤى وأدوات يمكن أن تستفيد منها البنوك والمؤسسات المالية فى إعادة هيكلة إستراتيجياتها التمويلية لتشمل الإعتبارات البيئية والإجتماعية بما يعزز دورها التنموى.</a:t>
            </a:r>
          </a:p>
          <a:p>
            <a:pPr indent="-342900" algn="just" rtl="1">
              <a:lnSpc>
                <a:spcPts val="2400"/>
              </a:lnSpc>
              <a:buFont typeface="Wingdings" panose="05000000000000000000" pitchFamily="2" charset="2"/>
              <a:buChar char="v"/>
            </a:pPr>
            <a:r>
              <a:rPr lang="ar-EG" sz="2000" b="1" kern="100" dirty="0">
                <a:latin typeface="Times New Roman" panose="02020603050405020304" pitchFamily="18" charset="0"/>
                <a:cs typeface="Times New Roman" panose="02020603050405020304" pitchFamily="18" charset="0"/>
              </a:rPr>
              <a:t>تسلط الدراسة الضوء على المعوقات التى تحول دون فاعلية التمويل الأخضر، مثل ضعف الإطار التشريعى، وقلة الوعي البيئى، وغياب الحوافز، مما يساعد على معالجتها بشكل منهجى.</a:t>
            </a:r>
            <a:endParaRPr lang="ar-SA" sz="2000" b="1" kern="100" dirty="0">
              <a:latin typeface="Times New Roman" panose="02020603050405020304" pitchFamily="18" charset="0"/>
              <a:cs typeface="Times New Roman" panose="02020603050405020304" pitchFamily="18" charset="0"/>
            </a:endParaRPr>
          </a:p>
          <a:p>
            <a:pPr indent="-342900" algn="just" rtl="1">
              <a:lnSpc>
                <a:spcPts val="2400"/>
              </a:lnSpc>
              <a:buFont typeface="Wingdings" panose="05000000000000000000" pitchFamily="2" charset="2"/>
              <a:buChar char="v"/>
            </a:pPr>
            <a:r>
              <a:rPr lang="ar-EG" sz="2000" b="1" kern="100" dirty="0">
                <a:solidFill>
                  <a:srgbClr val="C00000"/>
                </a:solidFill>
                <a:latin typeface="Times New Roman" panose="02020603050405020304" pitchFamily="18" charset="0"/>
                <a:cs typeface="Times New Roman" panose="02020603050405020304" pitchFamily="18" charset="0"/>
              </a:rPr>
              <a:t>تسهم نتائج الدراسة فى رفع مستوى الوعى البيئى والمالى لدى المستثمرين، مما يشجعهم على تبني أدوات التمويل الأخضر وتوجيه رؤوس أموالهم نحو مشاريع تحقق عائدا ماليا وبيئيا في آنٍ واحد.</a:t>
            </a:r>
          </a:p>
        </p:txBody>
      </p:sp>
    </p:spTree>
    <p:extLst>
      <p:ext uri="{BB962C8B-B14F-4D97-AF65-F5344CB8AC3E}">
        <p14:creationId xmlns:p14="http://schemas.microsoft.com/office/powerpoint/2010/main" val="394330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5F5147-7313-C205-DCD5-7CDD126820C2}"/>
              </a:ext>
            </a:extLst>
          </p:cNvPr>
          <p:cNvSpPr>
            <a:spLocks noGrp="1"/>
          </p:cNvSpPr>
          <p:nvPr>
            <p:ph type="dt" sz="half" idx="10"/>
          </p:nvPr>
        </p:nvSpPr>
        <p:spPr/>
        <p:txBody>
          <a:bodyPr/>
          <a:lstStyle/>
          <a:p>
            <a:r>
              <a:rPr lang="en-US">
                <a:solidFill>
                  <a:srgbClr val="04617B">
                    <a:shade val="90000"/>
                  </a:srgbClr>
                </a:solidFill>
              </a:rPr>
              <a:t>سسسس</a:t>
            </a:r>
            <a:endParaRPr lang="en-US" dirty="0">
              <a:solidFill>
                <a:srgbClr val="04617B"/>
              </a:solidFill>
            </a:endParaRPr>
          </a:p>
        </p:txBody>
      </p:sp>
      <p:sp>
        <p:nvSpPr>
          <p:cNvPr id="3" name="Footer Placeholder 2">
            <a:extLst>
              <a:ext uri="{FF2B5EF4-FFF2-40B4-BE49-F238E27FC236}">
                <a16:creationId xmlns:a16="http://schemas.microsoft.com/office/drawing/2014/main" id="{A90673EF-96F3-C079-A983-60D82E8884BB}"/>
              </a:ext>
            </a:extLst>
          </p:cNvPr>
          <p:cNvSpPr>
            <a:spLocks noGrp="1"/>
          </p:cNvSpPr>
          <p:nvPr>
            <p:ph type="ftr" sz="quarter" idx="11"/>
          </p:nvPr>
        </p:nvSpPr>
        <p:spPr/>
        <p:txBody>
          <a:bodyPr/>
          <a:lstStyle/>
          <a:p>
            <a:r>
              <a:rPr lang="ar-EG">
                <a:solidFill>
                  <a:srgbClr val="04617B"/>
                </a:solidFill>
              </a:rPr>
              <a:t>نننن</a:t>
            </a:r>
            <a:endParaRPr lang="en-US" dirty="0">
              <a:solidFill>
                <a:srgbClr val="04617B"/>
              </a:solidFill>
            </a:endParaRPr>
          </a:p>
        </p:txBody>
      </p:sp>
      <p:sp>
        <p:nvSpPr>
          <p:cNvPr id="20" name="TextBox 19">
            <a:extLst>
              <a:ext uri="{FF2B5EF4-FFF2-40B4-BE49-F238E27FC236}">
                <a16:creationId xmlns:a16="http://schemas.microsoft.com/office/drawing/2014/main" id="{9D727105-75A7-639E-09AD-4F990792F725}"/>
              </a:ext>
            </a:extLst>
          </p:cNvPr>
          <p:cNvSpPr txBox="1"/>
          <p:nvPr/>
        </p:nvSpPr>
        <p:spPr>
          <a:xfrm>
            <a:off x="-76200" y="165815"/>
            <a:ext cx="12268200" cy="584775"/>
          </a:xfrm>
          <a:prstGeom prst="rect">
            <a:avLst/>
          </a:prstGeom>
          <a:noFill/>
        </p:spPr>
        <p:txBody>
          <a:bodyPr wrap="square">
            <a:spAutoFit/>
          </a:bodyPr>
          <a:lstStyle/>
          <a:p>
            <a:pPr algn="ctr"/>
            <a:r>
              <a:rPr lang="ar-IQ" sz="3200" b="1" dirty="0">
                <a:solidFill>
                  <a:srgbClr val="FF0000"/>
                </a:solidFill>
                <a:latin typeface="Times New Roman" panose="02020603050405020304" pitchFamily="18" charset="0"/>
                <a:cs typeface="Times New Roman" panose="02020603050405020304" pitchFamily="18" charset="0"/>
              </a:rPr>
              <a:t>العلاقة بين متغيرات البحث وفروضه</a:t>
            </a:r>
            <a:endParaRPr lang="en-US" sz="3200" b="1" dirty="0">
              <a:solidFill>
                <a:srgbClr val="FF0000"/>
              </a:solidFill>
              <a:latin typeface="Times New Roman" panose="02020603050405020304" pitchFamily="18" charset="0"/>
              <a:cs typeface="Times New Roman" panose="02020603050405020304" pitchFamily="18" charset="0"/>
            </a:endParaRPr>
          </a:p>
        </p:txBody>
      </p:sp>
      <p:grpSp>
        <p:nvGrpSpPr>
          <p:cNvPr id="21" name="Group 20">
            <a:extLst>
              <a:ext uri="{FF2B5EF4-FFF2-40B4-BE49-F238E27FC236}">
                <a16:creationId xmlns:a16="http://schemas.microsoft.com/office/drawing/2014/main" id="{9B2E2236-2DF7-4E2C-70AC-00AFDA5D1974}"/>
              </a:ext>
            </a:extLst>
          </p:cNvPr>
          <p:cNvGrpSpPr/>
          <p:nvPr/>
        </p:nvGrpSpPr>
        <p:grpSpPr>
          <a:xfrm>
            <a:off x="381000" y="1036287"/>
            <a:ext cx="11506200" cy="5655899"/>
            <a:chOff x="323850" y="0"/>
            <a:chExt cx="5591175" cy="3921760"/>
          </a:xfrm>
        </p:grpSpPr>
        <p:grpSp>
          <p:nvGrpSpPr>
            <p:cNvPr id="22" name="Group 21">
              <a:extLst>
                <a:ext uri="{FF2B5EF4-FFF2-40B4-BE49-F238E27FC236}">
                  <a16:creationId xmlns:a16="http://schemas.microsoft.com/office/drawing/2014/main" id="{5786F43A-38DA-F5D4-8140-DBD636A60C64}"/>
                </a:ext>
              </a:extLst>
            </p:cNvPr>
            <p:cNvGrpSpPr/>
            <p:nvPr/>
          </p:nvGrpSpPr>
          <p:grpSpPr>
            <a:xfrm>
              <a:off x="323850" y="0"/>
              <a:ext cx="5591175" cy="3921760"/>
              <a:chOff x="0" y="0"/>
              <a:chExt cx="5591175" cy="3921760"/>
            </a:xfrm>
          </p:grpSpPr>
          <p:sp>
            <p:nvSpPr>
              <p:cNvPr id="30" name="Rectangle 29">
                <a:extLst>
                  <a:ext uri="{FF2B5EF4-FFF2-40B4-BE49-F238E27FC236}">
                    <a16:creationId xmlns:a16="http://schemas.microsoft.com/office/drawing/2014/main" id="{F1B18C63-192B-8CDE-D667-FDCF8C2F12B9}"/>
                  </a:ext>
                </a:extLst>
              </p:cNvPr>
              <p:cNvSpPr>
                <a:spLocks noChangeArrowheads="1"/>
              </p:cNvSpPr>
              <p:nvPr/>
            </p:nvSpPr>
            <p:spPr bwMode="auto">
              <a:xfrm>
                <a:off x="2638425" y="781050"/>
                <a:ext cx="2952750" cy="314071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31" name="Group 30">
                <a:extLst>
                  <a:ext uri="{FF2B5EF4-FFF2-40B4-BE49-F238E27FC236}">
                    <a16:creationId xmlns:a16="http://schemas.microsoft.com/office/drawing/2014/main" id="{463237D6-DBB8-C358-EB00-B5D2EE311B19}"/>
                  </a:ext>
                </a:extLst>
              </p:cNvPr>
              <p:cNvGrpSpPr/>
              <p:nvPr/>
            </p:nvGrpSpPr>
            <p:grpSpPr>
              <a:xfrm>
                <a:off x="0" y="0"/>
                <a:ext cx="5064760" cy="3461595"/>
                <a:chOff x="0" y="0"/>
                <a:chExt cx="5064760" cy="3461595"/>
              </a:xfrm>
            </p:grpSpPr>
            <p:grpSp>
              <p:nvGrpSpPr>
                <p:cNvPr id="32" name="Group 31">
                  <a:extLst>
                    <a:ext uri="{FF2B5EF4-FFF2-40B4-BE49-F238E27FC236}">
                      <a16:creationId xmlns:a16="http://schemas.microsoft.com/office/drawing/2014/main" id="{289F3556-2686-8E14-6A19-07E2B33C8DAB}"/>
                    </a:ext>
                  </a:extLst>
                </p:cNvPr>
                <p:cNvGrpSpPr/>
                <p:nvPr/>
              </p:nvGrpSpPr>
              <p:grpSpPr>
                <a:xfrm>
                  <a:off x="3028950" y="0"/>
                  <a:ext cx="2035810" cy="546735"/>
                  <a:chOff x="0" y="0"/>
                  <a:chExt cx="2035810" cy="546735"/>
                </a:xfrm>
              </p:grpSpPr>
              <p:sp>
                <p:nvSpPr>
                  <p:cNvPr id="41" name="Oval 40">
                    <a:extLst>
                      <a:ext uri="{FF2B5EF4-FFF2-40B4-BE49-F238E27FC236}">
                        <a16:creationId xmlns:a16="http://schemas.microsoft.com/office/drawing/2014/main" id="{CD2FCE74-2B73-F9B6-431C-E547B8A3F2E3}"/>
                      </a:ext>
                    </a:extLst>
                  </p:cNvPr>
                  <p:cNvSpPr>
                    <a:spLocks noChangeArrowheads="1"/>
                  </p:cNvSpPr>
                  <p:nvPr/>
                </p:nvSpPr>
                <p:spPr bwMode="auto">
                  <a:xfrm>
                    <a:off x="0" y="0"/>
                    <a:ext cx="2035810" cy="546735"/>
                  </a:xfrm>
                  <a:prstGeom prst="ellipse">
                    <a:avLst/>
                  </a:prstGeom>
                  <a:solidFill>
                    <a:srgbClr val="1F497D">
                      <a:lumMod val="60000"/>
                      <a:lumOff val="40000"/>
                    </a:srgbClr>
                  </a:solidFill>
                  <a:ln w="19050">
                    <a:solidFill>
                      <a:srgbClr val="000000"/>
                    </a:solidFill>
                    <a:round/>
                    <a:headEnd/>
                    <a:tailEnd/>
                  </a:ln>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2" name="Text Box 1275384803">
                    <a:extLst>
                      <a:ext uri="{FF2B5EF4-FFF2-40B4-BE49-F238E27FC236}">
                        <a16:creationId xmlns:a16="http://schemas.microsoft.com/office/drawing/2014/main" id="{BDCDEA62-72B8-3FF9-B560-165EA209F0A5}"/>
                      </a:ext>
                    </a:extLst>
                  </p:cNvPr>
                  <p:cNvSpPr txBox="1">
                    <a:spLocks noChangeArrowheads="1"/>
                  </p:cNvSpPr>
                  <p:nvPr/>
                </p:nvSpPr>
                <p:spPr bwMode="auto">
                  <a:xfrm>
                    <a:off x="219075" y="95250"/>
                    <a:ext cx="1628775" cy="437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algn="ctr" defTabSz="914400" eaLnBrk="1" fontAlgn="auto" latinLnBrk="0" hangingPunct="1">
                      <a:lnSpc>
                        <a:spcPct val="115000"/>
                      </a:lnSpc>
                      <a:spcBef>
                        <a:spcPts val="0"/>
                      </a:spcBef>
                      <a:spcAft>
                        <a:spcPts val="1000"/>
                      </a:spcAft>
                      <a:buClrTx/>
                      <a:buSzTx/>
                      <a:buFontTx/>
                      <a:buNone/>
                      <a:tabLst/>
                      <a:defRPr/>
                    </a:pPr>
                    <a:r>
                      <a:rPr kumimoji="0" lang="ar-EG" sz="2800" b="1" i="0" u="none" strike="noStrike" kern="0" cap="none" spc="0" normalizeH="0" baseline="0" noProof="0" dirty="0">
                        <a:ln>
                          <a:noFill/>
                        </a:ln>
                        <a:solidFill>
                          <a:srgbClr val="FF0000"/>
                        </a:solidFill>
                        <a:effectLst/>
                        <a:uLnTx/>
                        <a:uFillTx/>
                        <a:latin typeface="Times New Roman" panose="02020603050405020304" pitchFamily="18" charset="0"/>
                        <a:ea typeface="Calibri"/>
                        <a:cs typeface="Times New Roman" panose="02020603050405020304" pitchFamily="18" charset="0"/>
                      </a:rPr>
                      <a:t>المتغير المستقل</a:t>
                    </a:r>
                    <a:endParaRPr kumimoji="0" lang="en-US" sz="2000" b="0" i="0" u="none" strike="noStrike" kern="0" cap="none" spc="0" normalizeH="0" baseline="0" noProof="0" dirty="0">
                      <a:ln>
                        <a:noFill/>
                      </a:ln>
                      <a:solidFill>
                        <a:srgbClr val="FF0000"/>
                      </a:solidFill>
                      <a:effectLst/>
                      <a:uLnTx/>
                      <a:uFillTx/>
                      <a:latin typeface="Times New Roman" panose="02020603050405020304" pitchFamily="18" charset="0"/>
                      <a:ea typeface="Calibri"/>
                      <a:cs typeface="Times New Roman" panose="02020603050405020304" pitchFamily="18" charset="0"/>
                    </a:endParaRPr>
                  </a:p>
                </p:txBody>
              </p:sp>
            </p:grpSp>
            <p:grpSp>
              <p:nvGrpSpPr>
                <p:cNvPr id="33" name="Group 32">
                  <a:extLst>
                    <a:ext uri="{FF2B5EF4-FFF2-40B4-BE49-F238E27FC236}">
                      <a16:creationId xmlns:a16="http://schemas.microsoft.com/office/drawing/2014/main" id="{56F5CF10-BF26-2D90-839A-ED7CD5FCAF15}"/>
                    </a:ext>
                  </a:extLst>
                </p:cNvPr>
                <p:cNvGrpSpPr/>
                <p:nvPr/>
              </p:nvGrpSpPr>
              <p:grpSpPr>
                <a:xfrm>
                  <a:off x="0" y="0"/>
                  <a:ext cx="2035810" cy="546735"/>
                  <a:chOff x="0" y="0"/>
                  <a:chExt cx="2035810" cy="546735"/>
                </a:xfrm>
              </p:grpSpPr>
              <p:sp>
                <p:nvSpPr>
                  <p:cNvPr id="39" name="Oval 38">
                    <a:extLst>
                      <a:ext uri="{FF2B5EF4-FFF2-40B4-BE49-F238E27FC236}">
                        <a16:creationId xmlns:a16="http://schemas.microsoft.com/office/drawing/2014/main" id="{ECA57280-0EB3-08A0-5995-C2ADE524E962}"/>
                      </a:ext>
                    </a:extLst>
                  </p:cNvPr>
                  <p:cNvSpPr>
                    <a:spLocks noChangeArrowheads="1"/>
                  </p:cNvSpPr>
                  <p:nvPr/>
                </p:nvSpPr>
                <p:spPr bwMode="auto">
                  <a:xfrm>
                    <a:off x="0" y="0"/>
                    <a:ext cx="2035810" cy="546735"/>
                  </a:xfrm>
                  <a:prstGeom prst="ellipse">
                    <a:avLst/>
                  </a:prstGeom>
                  <a:solidFill>
                    <a:srgbClr val="1F497D">
                      <a:lumMod val="60000"/>
                      <a:lumOff val="40000"/>
                    </a:srgbClr>
                  </a:solidFill>
                  <a:ln w="19050">
                    <a:solidFill>
                      <a:srgbClr val="000000"/>
                    </a:solidFill>
                    <a:round/>
                    <a:headEnd/>
                    <a:tailEnd/>
                  </a:ln>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0" name="Text Box 1275384805">
                    <a:extLst>
                      <a:ext uri="{FF2B5EF4-FFF2-40B4-BE49-F238E27FC236}">
                        <a16:creationId xmlns:a16="http://schemas.microsoft.com/office/drawing/2014/main" id="{5D906961-11C9-C548-FB2B-9C66C9D54376}"/>
                      </a:ext>
                    </a:extLst>
                  </p:cNvPr>
                  <p:cNvSpPr txBox="1">
                    <a:spLocks noChangeArrowheads="1"/>
                  </p:cNvSpPr>
                  <p:nvPr/>
                </p:nvSpPr>
                <p:spPr bwMode="auto">
                  <a:xfrm>
                    <a:off x="219075" y="95250"/>
                    <a:ext cx="1628775" cy="437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lvl="0" indent="0" algn="ctr" defTabSz="914400" eaLnBrk="1" fontAlgn="auto" latinLnBrk="0" hangingPunct="1">
                      <a:lnSpc>
                        <a:spcPct val="115000"/>
                      </a:lnSpc>
                      <a:spcBef>
                        <a:spcPts val="0"/>
                      </a:spcBef>
                      <a:spcAft>
                        <a:spcPts val="1000"/>
                      </a:spcAft>
                      <a:buClrTx/>
                      <a:buSzTx/>
                      <a:buFontTx/>
                      <a:buNone/>
                      <a:tabLst/>
                      <a:defRPr/>
                    </a:pPr>
                    <a:r>
                      <a:rPr kumimoji="0" lang="ar-EG" sz="2800" b="1" i="0" u="none" strike="noStrike" kern="0" cap="none" spc="0" normalizeH="0" baseline="0" noProof="0" dirty="0">
                        <a:ln>
                          <a:noFill/>
                        </a:ln>
                        <a:solidFill>
                          <a:srgbClr val="FF0000"/>
                        </a:solidFill>
                        <a:effectLst/>
                        <a:uLnTx/>
                        <a:uFillTx/>
                        <a:latin typeface="Times New Roman" panose="02020603050405020304" pitchFamily="18" charset="0"/>
                        <a:ea typeface="Calibri"/>
                        <a:cs typeface="Times New Roman" panose="02020603050405020304" pitchFamily="18" charset="0"/>
                      </a:rPr>
                      <a:t>المتغير التابـع</a:t>
                    </a:r>
                    <a:endParaRPr kumimoji="0" lang="en-US" sz="2000" b="0" i="0" u="none" strike="noStrike" kern="0" cap="none" spc="0" normalizeH="0" baseline="0" noProof="0" dirty="0">
                      <a:ln>
                        <a:noFill/>
                      </a:ln>
                      <a:solidFill>
                        <a:srgbClr val="FF0000"/>
                      </a:solidFill>
                      <a:effectLst/>
                      <a:uLnTx/>
                      <a:uFillTx/>
                      <a:latin typeface="Times New Roman" panose="02020603050405020304" pitchFamily="18" charset="0"/>
                      <a:ea typeface="Calibri"/>
                      <a:cs typeface="Times New Roman" panose="02020603050405020304" pitchFamily="18" charset="0"/>
                    </a:endParaRPr>
                  </a:p>
                </p:txBody>
              </p:sp>
            </p:grpSp>
            <p:grpSp>
              <p:nvGrpSpPr>
                <p:cNvPr id="34" name="Group 33">
                  <a:extLst>
                    <a:ext uri="{FF2B5EF4-FFF2-40B4-BE49-F238E27FC236}">
                      <a16:creationId xmlns:a16="http://schemas.microsoft.com/office/drawing/2014/main" id="{05E84604-4D88-0372-F6AE-28602552C41A}"/>
                    </a:ext>
                  </a:extLst>
                </p:cNvPr>
                <p:cNvGrpSpPr/>
                <p:nvPr/>
              </p:nvGrpSpPr>
              <p:grpSpPr>
                <a:xfrm>
                  <a:off x="931544" y="552450"/>
                  <a:ext cx="3192781" cy="2909145"/>
                  <a:chOff x="-220981" y="0"/>
                  <a:chExt cx="3192781" cy="2909145"/>
                </a:xfrm>
              </p:grpSpPr>
              <p:cxnSp>
                <p:nvCxnSpPr>
                  <p:cNvPr id="35" name="Straight Connector 34">
                    <a:extLst>
                      <a:ext uri="{FF2B5EF4-FFF2-40B4-BE49-F238E27FC236}">
                        <a16:creationId xmlns:a16="http://schemas.microsoft.com/office/drawing/2014/main" id="{6B26281B-1685-CC1A-00AD-B52CA6FE0091}"/>
                      </a:ext>
                    </a:extLst>
                  </p:cNvPr>
                  <p:cNvCxnSpPr>
                    <a:cxnSpLocks noChangeShapeType="1"/>
                  </p:cNvCxnSpPr>
                  <p:nvPr/>
                </p:nvCxnSpPr>
                <p:spPr bwMode="auto">
                  <a:xfrm>
                    <a:off x="-220981" y="9525"/>
                    <a:ext cx="0" cy="61658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6" name="Straight Connector 35">
                    <a:extLst>
                      <a:ext uri="{FF2B5EF4-FFF2-40B4-BE49-F238E27FC236}">
                        <a16:creationId xmlns:a16="http://schemas.microsoft.com/office/drawing/2014/main" id="{ED5E55DF-8843-C209-6A7E-1FB753012037}"/>
                      </a:ext>
                    </a:extLst>
                  </p:cNvPr>
                  <p:cNvCxnSpPr>
                    <a:cxnSpLocks noChangeShapeType="1"/>
                  </p:cNvCxnSpPr>
                  <p:nvPr/>
                </p:nvCxnSpPr>
                <p:spPr bwMode="auto">
                  <a:xfrm>
                    <a:off x="2971799" y="0"/>
                    <a:ext cx="0" cy="22415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7" name="Straight Connector 36">
                    <a:extLst>
                      <a:ext uri="{FF2B5EF4-FFF2-40B4-BE49-F238E27FC236}">
                        <a16:creationId xmlns:a16="http://schemas.microsoft.com/office/drawing/2014/main" id="{BADA1D73-BFFA-3B0B-6284-AC5D5B311623}"/>
                      </a:ext>
                    </a:extLst>
                  </p:cNvPr>
                  <p:cNvCxnSpPr>
                    <a:cxnSpLocks noChangeShapeType="1"/>
                  </p:cNvCxnSpPr>
                  <p:nvPr/>
                </p:nvCxnSpPr>
                <p:spPr bwMode="auto">
                  <a:xfrm>
                    <a:off x="2971800" y="809625"/>
                    <a:ext cx="0" cy="22415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8" name="Straight Connector 37">
                    <a:extLst>
                      <a:ext uri="{FF2B5EF4-FFF2-40B4-BE49-F238E27FC236}">
                        <a16:creationId xmlns:a16="http://schemas.microsoft.com/office/drawing/2014/main" id="{8DD49BBA-D7BF-E3A7-AC52-545E6A0F067E}"/>
                      </a:ext>
                    </a:extLst>
                  </p:cNvPr>
                  <p:cNvCxnSpPr>
                    <a:cxnSpLocks noChangeShapeType="1"/>
                  </p:cNvCxnSpPr>
                  <p:nvPr/>
                </p:nvCxnSpPr>
                <p:spPr bwMode="auto">
                  <a:xfrm flipH="1">
                    <a:off x="571500" y="1685925"/>
                    <a:ext cx="9144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9" name="Straight Connector 48">
                    <a:extLst>
                      <a:ext uri="{FF2B5EF4-FFF2-40B4-BE49-F238E27FC236}">
                        <a16:creationId xmlns:a16="http://schemas.microsoft.com/office/drawing/2014/main" id="{F164EF54-5D74-2B13-7B8A-C623526A53F6}"/>
                      </a:ext>
                    </a:extLst>
                  </p:cNvPr>
                  <p:cNvCxnSpPr>
                    <a:cxnSpLocks noChangeShapeType="1"/>
                  </p:cNvCxnSpPr>
                  <p:nvPr/>
                </p:nvCxnSpPr>
                <p:spPr bwMode="auto">
                  <a:xfrm>
                    <a:off x="2971799" y="1471295"/>
                    <a:ext cx="0" cy="22415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0" name="Straight Connector 49">
                    <a:extLst>
                      <a:ext uri="{FF2B5EF4-FFF2-40B4-BE49-F238E27FC236}">
                        <a16:creationId xmlns:a16="http://schemas.microsoft.com/office/drawing/2014/main" id="{549D8D47-4137-B0F4-2E88-5FC31189D27B}"/>
                      </a:ext>
                    </a:extLst>
                  </p:cNvPr>
                  <p:cNvCxnSpPr>
                    <a:cxnSpLocks noChangeShapeType="1"/>
                  </p:cNvCxnSpPr>
                  <p:nvPr/>
                </p:nvCxnSpPr>
                <p:spPr bwMode="auto">
                  <a:xfrm>
                    <a:off x="2971799" y="2042795"/>
                    <a:ext cx="0" cy="22415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5" name="Straight Connector 54">
                    <a:extLst>
                      <a:ext uri="{FF2B5EF4-FFF2-40B4-BE49-F238E27FC236}">
                        <a16:creationId xmlns:a16="http://schemas.microsoft.com/office/drawing/2014/main" id="{C947BCA2-286E-F6DC-5F63-7C322C4F485F}"/>
                      </a:ext>
                    </a:extLst>
                  </p:cNvPr>
                  <p:cNvCxnSpPr>
                    <a:cxnSpLocks noChangeShapeType="1"/>
                  </p:cNvCxnSpPr>
                  <p:nvPr/>
                </p:nvCxnSpPr>
                <p:spPr bwMode="auto">
                  <a:xfrm>
                    <a:off x="2963948" y="2684990"/>
                    <a:ext cx="0" cy="22415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grpSp>
        </p:grpSp>
        <p:grpSp>
          <p:nvGrpSpPr>
            <p:cNvPr id="23" name="Group 22">
              <a:extLst>
                <a:ext uri="{FF2B5EF4-FFF2-40B4-BE49-F238E27FC236}">
                  <a16:creationId xmlns:a16="http://schemas.microsoft.com/office/drawing/2014/main" id="{28AFAD02-5412-A38A-C71F-77BC1AF79C66}"/>
                </a:ext>
              </a:extLst>
            </p:cNvPr>
            <p:cNvGrpSpPr/>
            <p:nvPr/>
          </p:nvGrpSpPr>
          <p:grpSpPr>
            <a:xfrm>
              <a:off x="462913" y="920298"/>
              <a:ext cx="5071746" cy="2914467"/>
              <a:chOff x="462913" y="-70302"/>
              <a:chExt cx="5071746" cy="2914467"/>
            </a:xfrm>
          </p:grpSpPr>
          <p:sp>
            <p:nvSpPr>
              <p:cNvPr id="24" name="Rectangle 23">
                <a:extLst>
                  <a:ext uri="{FF2B5EF4-FFF2-40B4-BE49-F238E27FC236}">
                    <a16:creationId xmlns:a16="http://schemas.microsoft.com/office/drawing/2014/main" id="{A5986975-7C7A-DEB0-FA07-D710E9C070FA}"/>
                  </a:ext>
                </a:extLst>
              </p:cNvPr>
              <p:cNvSpPr>
                <a:spLocks noChangeArrowheads="1"/>
              </p:cNvSpPr>
              <p:nvPr/>
            </p:nvSpPr>
            <p:spPr bwMode="auto">
              <a:xfrm>
                <a:off x="3657600" y="619984"/>
                <a:ext cx="1714500" cy="443865"/>
              </a:xfrm>
              <a:prstGeom prst="rect">
                <a:avLst/>
              </a:prstGeom>
              <a:solidFill>
                <a:srgbClr val="1F497D">
                  <a:lumMod val="60000"/>
                  <a:lumOff val="40000"/>
                </a:srgbClr>
              </a:solidFill>
              <a:ln w="19050">
                <a:solidFill>
                  <a:srgbClr val="000000"/>
                </a:solidFill>
                <a:miter lim="800000"/>
                <a:headEnd/>
                <a:tailEnd/>
              </a:ln>
            </p:spPr>
            <p:txBody>
              <a:bodyPr rot="0" vert="horz" wrap="square" lIns="91440" tIns="45720" rIns="91440" bIns="45720" anchor="t" anchorCtr="0" upright="1">
                <a:noAutofit/>
              </a:bodyPr>
              <a:lstStyle/>
              <a:p>
                <a:pPr marL="457200" marR="0" lvl="0" indent="-464185" algn="ctr" defTabSz="914400" rtl="1" eaLnBrk="1" fontAlgn="auto" latinLnBrk="0" hangingPunct="1">
                  <a:lnSpc>
                    <a:spcPts val="2300"/>
                  </a:lnSpc>
                  <a:spcBef>
                    <a:spcPts val="0"/>
                  </a:spcBef>
                  <a:spcAft>
                    <a:spcPts val="0"/>
                  </a:spcAft>
                  <a:buClrTx/>
                  <a:buSzTx/>
                  <a:buFontTx/>
                  <a:buNone/>
                  <a:tabLst>
                    <a:tab pos="206375" algn="l"/>
                  </a:tabLst>
                  <a:defRPr/>
                </a:pPr>
                <a:r>
                  <a:rPr kumimoji="0" lang="ar-EG" b="1" i="0" u="none" strike="noStrike" kern="0" cap="none" spc="0" normalizeH="0" baseline="0" noProof="0" dirty="0">
                    <a:ln>
                      <a:noFill/>
                    </a:ln>
                    <a:effectLst/>
                    <a:uLnTx/>
                    <a:uFillTx/>
                    <a:latin typeface="Times New Roman" panose="02020603050405020304" pitchFamily="18" charset="0"/>
                    <a:ea typeface="Calibri"/>
                    <a:cs typeface="Times New Roman" panose="02020603050405020304" pitchFamily="18" charset="0"/>
                  </a:rPr>
                  <a:t>•	</a:t>
                </a:r>
                <a:r>
                  <a:rPr kumimoji="0" lang="ar-SA" b="1" i="0" u="none" strike="noStrike" kern="0" cap="none" spc="0" normalizeH="0" baseline="0" noProof="0" dirty="0">
                    <a:ln>
                      <a:noFill/>
                    </a:ln>
                    <a:effectLst/>
                    <a:uLnTx/>
                    <a:uFillTx/>
                    <a:latin typeface="Times New Roman" panose="02020603050405020304" pitchFamily="18" charset="0"/>
                    <a:ea typeface="Calibri"/>
                    <a:cs typeface="Times New Roman" panose="02020603050405020304" pitchFamily="18" charset="0"/>
                  </a:rPr>
                  <a:t> </a:t>
                </a:r>
                <a:r>
                  <a:rPr kumimoji="0" lang="ar-EG" b="1" i="0" u="none" strike="noStrike" kern="0" cap="none" spc="0" normalizeH="0" baseline="0" noProof="0" dirty="0">
                    <a:ln>
                      <a:noFill/>
                    </a:ln>
                    <a:effectLst/>
                    <a:uLnTx/>
                    <a:uFillTx/>
                    <a:latin typeface="Times New Roman" panose="02020603050405020304" pitchFamily="18" charset="0"/>
                    <a:ea typeface="Calibri"/>
                    <a:cs typeface="Times New Roman" panose="02020603050405020304" pitchFamily="18" charset="0"/>
                  </a:rPr>
                  <a:t>الإستثمار في الطاقة المتجددة</a:t>
                </a:r>
                <a:endParaRPr kumimoji="0" lang="en-US" sz="1400" b="0" i="0" u="none" strike="noStrike" kern="0" cap="none" spc="0" normalizeH="0" baseline="0" noProof="0" dirty="0">
                  <a:ln>
                    <a:noFill/>
                  </a:ln>
                  <a:effectLst/>
                  <a:uLnTx/>
                  <a:uFillTx/>
                  <a:latin typeface="Times New Roman" panose="02020603050405020304" pitchFamily="18" charset="0"/>
                  <a:ea typeface="Calibri"/>
                  <a:cs typeface="Times New Roman" panose="02020603050405020304" pitchFamily="18" charset="0"/>
                </a:endParaRPr>
              </a:p>
            </p:txBody>
          </p:sp>
          <p:sp>
            <p:nvSpPr>
              <p:cNvPr id="25" name="Rectangle 24">
                <a:extLst>
                  <a:ext uri="{FF2B5EF4-FFF2-40B4-BE49-F238E27FC236}">
                    <a16:creationId xmlns:a16="http://schemas.microsoft.com/office/drawing/2014/main" id="{FAFE2FF8-F3FF-FD20-DEEC-F00C950C2B8F}"/>
                  </a:ext>
                </a:extLst>
              </p:cNvPr>
              <p:cNvSpPr>
                <a:spLocks noChangeArrowheads="1"/>
              </p:cNvSpPr>
              <p:nvPr/>
            </p:nvSpPr>
            <p:spPr bwMode="auto">
              <a:xfrm>
                <a:off x="3657600" y="1257300"/>
                <a:ext cx="1714500" cy="443865"/>
              </a:xfrm>
              <a:prstGeom prst="rect">
                <a:avLst/>
              </a:prstGeom>
              <a:solidFill>
                <a:srgbClr val="1F497D">
                  <a:lumMod val="60000"/>
                  <a:lumOff val="40000"/>
                </a:srgbClr>
              </a:solidFill>
              <a:ln w="19050">
                <a:solidFill>
                  <a:srgbClr val="000000"/>
                </a:solidFill>
                <a:miter lim="800000"/>
                <a:headEnd/>
                <a:tailEnd/>
              </a:ln>
            </p:spPr>
            <p:txBody>
              <a:bodyPr rot="0" vert="horz" wrap="square" lIns="91440" tIns="45720" rIns="91440" bIns="45720" anchor="t" anchorCtr="0" upright="1">
                <a:noAutofit/>
              </a:bodyPr>
              <a:lstStyle/>
              <a:p>
                <a:pPr marL="457200" marR="0" lvl="0" indent="-464185" algn="ctr" defTabSz="914400" rtl="1" eaLnBrk="1" fontAlgn="auto" latinLnBrk="0" hangingPunct="1">
                  <a:lnSpc>
                    <a:spcPts val="2300"/>
                  </a:lnSpc>
                  <a:spcBef>
                    <a:spcPts val="0"/>
                  </a:spcBef>
                  <a:spcAft>
                    <a:spcPts val="0"/>
                  </a:spcAft>
                  <a:buClrTx/>
                  <a:buSzTx/>
                  <a:buFontTx/>
                  <a:buNone/>
                  <a:tabLst>
                    <a:tab pos="206375" algn="l"/>
                  </a:tabLst>
                  <a:defRPr/>
                </a:pPr>
                <a:r>
                  <a:rPr kumimoji="0" lang="ar-EG" b="1" i="0" u="none" strike="noStrike" kern="0" cap="none" spc="0" normalizeH="0" baseline="0" noProof="0" dirty="0">
                    <a:ln>
                      <a:noFill/>
                    </a:ln>
                    <a:effectLst/>
                    <a:uLnTx/>
                    <a:uFillTx/>
                    <a:latin typeface="Times New Roman" panose="02020603050405020304" pitchFamily="18" charset="0"/>
                    <a:ea typeface="Calibri"/>
                    <a:cs typeface="Times New Roman" panose="02020603050405020304" pitchFamily="18" charset="0"/>
                  </a:rPr>
                  <a:t>•</a:t>
                </a:r>
                <a:r>
                  <a:rPr kumimoji="0" lang="ar-SA" b="1" i="0" u="none" strike="noStrike" kern="0" cap="none" spc="0" normalizeH="0" baseline="0" noProof="0" dirty="0">
                    <a:ln>
                      <a:noFill/>
                    </a:ln>
                    <a:effectLst/>
                    <a:uLnTx/>
                    <a:uFillTx/>
                    <a:latin typeface="Times New Roman" panose="02020603050405020304" pitchFamily="18" charset="0"/>
                    <a:ea typeface="Calibri"/>
                    <a:cs typeface="Times New Roman" panose="02020603050405020304" pitchFamily="18" charset="0"/>
                  </a:rPr>
                  <a:t> </a:t>
                </a:r>
                <a:r>
                  <a:rPr kumimoji="0" lang="ar-EG" b="1" i="0" u="none" strike="noStrike" kern="0" cap="none" spc="0" normalizeH="0" baseline="0" noProof="0" dirty="0">
                    <a:ln>
                      <a:noFill/>
                    </a:ln>
                    <a:effectLst/>
                    <a:uLnTx/>
                    <a:uFillTx/>
                    <a:latin typeface="Times New Roman" panose="02020603050405020304" pitchFamily="18" charset="0"/>
                    <a:ea typeface="Calibri"/>
                    <a:cs typeface="Times New Roman" panose="02020603050405020304" pitchFamily="18" charset="0"/>
                  </a:rPr>
                  <a:t>	تمويل البنية التحتية</a:t>
                </a:r>
                <a:endParaRPr kumimoji="0" lang="en-US" sz="1400" b="0" i="0" u="none" strike="noStrike" kern="0" cap="none" spc="0" normalizeH="0" baseline="0" noProof="0" dirty="0">
                  <a:ln>
                    <a:noFill/>
                  </a:ln>
                  <a:effectLst/>
                  <a:uLnTx/>
                  <a:uFillTx/>
                  <a:latin typeface="Times New Roman" panose="02020603050405020304" pitchFamily="18" charset="0"/>
                  <a:ea typeface="Calibri"/>
                  <a:cs typeface="Times New Roman" panose="02020603050405020304" pitchFamily="18" charset="0"/>
                </a:endParaRPr>
              </a:p>
            </p:txBody>
          </p:sp>
          <p:sp>
            <p:nvSpPr>
              <p:cNvPr id="26" name="Rectangle 25">
                <a:extLst>
                  <a:ext uri="{FF2B5EF4-FFF2-40B4-BE49-F238E27FC236}">
                    <a16:creationId xmlns:a16="http://schemas.microsoft.com/office/drawing/2014/main" id="{CC58252E-DF21-0815-8D84-9466D68B52B2}"/>
                  </a:ext>
                </a:extLst>
              </p:cNvPr>
              <p:cNvSpPr>
                <a:spLocks noChangeArrowheads="1"/>
              </p:cNvSpPr>
              <p:nvPr/>
            </p:nvSpPr>
            <p:spPr bwMode="auto">
              <a:xfrm>
                <a:off x="3657600" y="1828800"/>
                <a:ext cx="1714500" cy="443865"/>
              </a:xfrm>
              <a:prstGeom prst="rect">
                <a:avLst/>
              </a:prstGeom>
              <a:solidFill>
                <a:srgbClr val="1F497D">
                  <a:lumMod val="60000"/>
                  <a:lumOff val="40000"/>
                </a:srgbClr>
              </a:solidFill>
              <a:ln w="19050">
                <a:solidFill>
                  <a:srgbClr val="000000"/>
                </a:solidFill>
                <a:miter lim="800000"/>
                <a:headEnd/>
                <a:tailEnd/>
              </a:ln>
            </p:spPr>
            <p:txBody>
              <a:bodyPr rot="0" vert="horz" wrap="square" lIns="91440" tIns="45720" rIns="91440" bIns="45720" anchor="t" anchorCtr="0" upright="1">
                <a:noAutofit/>
              </a:bodyPr>
              <a:lstStyle/>
              <a:p>
                <a:pPr marL="457200" marR="0" lvl="0" indent="-464185" algn="ctr" defTabSz="914400" rtl="1" eaLnBrk="1" fontAlgn="auto" latinLnBrk="0" hangingPunct="1">
                  <a:lnSpc>
                    <a:spcPts val="2300"/>
                  </a:lnSpc>
                  <a:spcBef>
                    <a:spcPts val="0"/>
                  </a:spcBef>
                  <a:spcAft>
                    <a:spcPts val="0"/>
                  </a:spcAft>
                  <a:buClrTx/>
                  <a:buSzTx/>
                  <a:buFontTx/>
                  <a:buNone/>
                  <a:tabLst>
                    <a:tab pos="206375" algn="l"/>
                  </a:tabLst>
                  <a:defRPr/>
                </a:pPr>
                <a:r>
                  <a:rPr kumimoji="0" lang="ar-EG" b="1" i="0" u="none" strike="noStrike" kern="0" cap="none" spc="0" normalizeH="0" baseline="0" noProof="0" dirty="0">
                    <a:ln>
                      <a:noFill/>
                    </a:ln>
                    <a:effectLst/>
                    <a:uLnTx/>
                    <a:uFillTx/>
                    <a:latin typeface="Times New Roman" panose="02020603050405020304" pitchFamily="18" charset="0"/>
                    <a:ea typeface="Calibri"/>
                    <a:cs typeface="Times New Roman" panose="02020603050405020304" pitchFamily="18" charset="0"/>
                  </a:rPr>
                  <a:t>•</a:t>
                </a:r>
                <a:r>
                  <a:rPr kumimoji="0" lang="ar-SA" b="1" i="0" u="none" strike="noStrike" kern="0" cap="none" spc="0" normalizeH="0" baseline="0" noProof="0" dirty="0">
                    <a:ln>
                      <a:noFill/>
                    </a:ln>
                    <a:effectLst/>
                    <a:uLnTx/>
                    <a:uFillTx/>
                    <a:latin typeface="Times New Roman" panose="02020603050405020304" pitchFamily="18" charset="0"/>
                    <a:ea typeface="Calibri"/>
                    <a:cs typeface="Times New Roman" panose="02020603050405020304" pitchFamily="18" charset="0"/>
                  </a:rPr>
                  <a:t> </a:t>
                </a:r>
                <a:r>
                  <a:rPr kumimoji="0" lang="ar-EG" b="1" i="0" u="none" strike="noStrike" kern="0" cap="none" spc="0" normalizeH="0" baseline="0" noProof="0" dirty="0">
                    <a:ln>
                      <a:noFill/>
                    </a:ln>
                    <a:effectLst/>
                    <a:uLnTx/>
                    <a:uFillTx/>
                    <a:latin typeface="Times New Roman" panose="02020603050405020304" pitchFamily="18" charset="0"/>
                    <a:ea typeface="Calibri"/>
                    <a:cs typeface="Times New Roman" panose="02020603050405020304" pitchFamily="18" charset="0"/>
                  </a:rPr>
                  <a:t>	تمويل التكنولوجيا الخضراء</a:t>
                </a:r>
                <a:r>
                  <a:rPr kumimoji="0" lang="en-US" sz="11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Calibri"/>
                    <a:cs typeface="Times New Roman" panose="02020603050405020304" pitchFamily="18" charset="0"/>
                  </a:rPr>
                  <a:t> </a:t>
                </a:r>
              </a:p>
            </p:txBody>
          </p:sp>
          <p:sp>
            <p:nvSpPr>
              <p:cNvPr id="27" name="Rectangle 26">
                <a:extLst>
                  <a:ext uri="{FF2B5EF4-FFF2-40B4-BE49-F238E27FC236}">
                    <a16:creationId xmlns:a16="http://schemas.microsoft.com/office/drawing/2014/main" id="{9C4FD62B-CDF8-FF51-E252-AE94E4FA9725}"/>
                  </a:ext>
                </a:extLst>
              </p:cNvPr>
              <p:cNvSpPr>
                <a:spLocks noChangeArrowheads="1"/>
              </p:cNvSpPr>
              <p:nvPr/>
            </p:nvSpPr>
            <p:spPr bwMode="auto">
              <a:xfrm>
                <a:off x="3361689" y="-70302"/>
                <a:ext cx="2172970" cy="443864"/>
              </a:xfrm>
              <a:prstGeom prst="rect">
                <a:avLst/>
              </a:prstGeom>
              <a:solidFill>
                <a:srgbClr val="1F497D">
                  <a:lumMod val="60000"/>
                  <a:lumOff val="40000"/>
                </a:srgbClr>
              </a:solidFill>
              <a:ln w="19050">
                <a:solidFill>
                  <a:srgbClr val="000000"/>
                </a:solidFill>
                <a:miter lim="800000"/>
                <a:headEnd/>
                <a:tailEnd/>
              </a:ln>
            </p:spPr>
            <p:txBody>
              <a:bodyPr rot="0" vert="horz" wrap="square" lIns="91440" tIns="45720" rIns="91440" bIns="45720" anchor="t" anchorCtr="0" upright="1">
                <a:noAutofit/>
              </a:bodyPr>
              <a:lstStyle/>
              <a:p>
                <a:pPr marL="0" marR="0" lvl="0" indent="140400" algn="ctr" defTabSz="914400" eaLnBrk="1" fontAlgn="auto" latinLnBrk="0" hangingPunct="1">
                  <a:lnSpc>
                    <a:spcPts val="2600"/>
                  </a:lnSpc>
                  <a:spcBef>
                    <a:spcPts val="0"/>
                  </a:spcBef>
                  <a:spcAft>
                    <a:spcPts val="1000"/>
                  </a:spcAft>
                  <a:buClrTx/>
                  <a:buSzTx/>
                  <a:buFontTx/>
                  <a:buNone/>
                  <a:tabLst/>
                  <a:defRPr/>
                </a:pPr>
                <a:r>
                  <a:rPr kumimoji="0" lang="ar-EG" sz="2800" b="1" i="0" u="none" strike="noStrike" kern="0" cap="none" spc="0" normalizeH="0" baseline="0" noProof="0" dirty="0">
                    <a:ln>
                      <a:noFill/>
                    </a:ln>
                    <a:solidFill>
                      <a:srgbClr val="FF0000"/>
                    </a:solidFill>
                    <a:effectLst/>
                    <a:uLnTx/>
                    <a:uFillTx/>
                    <a:latin typeface="Times New Roman" panose="02020603050405020304" pitchFamily="18" charset="0"/>
                    <a:ea typeface="Calibri"/>
                    <a:cs typeface="Times New Roman" panose="02020603050405020304" pitchFamily="18" charset="0"/>
                  </a:rPr>
                  <a:t>أبعاد التمويل الأخضر</a:t>
                </a:r>
                <a:endParaRPr kumimoji="0" lang="ar-SA" sz="2800" b="1" i="0" u="none" strike="noStrike" kern="0" cap="none" spc="0" normalizeH="0" baseline="0" noProof="0" dirty="0">
                  <a:ln>
                    <a:noFill/>
                  </a:ln>
                  <a:solidFill>
                    <a:srgbClr val="FF0000"/>
                  </a:solidFill>
                  <a:effectLst/>
                  <a:uLnTx/>
                  <a:uFillTx/>
                  <a:latin typeface="Times New Roman" panose="02020603050405020304" pitchFamily="18" charset="0"/>
                  <a:ea typeface="Calibri"/>
                  <a:cs typeface="Times New Roman" panose="02020603050405020304" pitchFamily="18" charset="0"/>
                </a:endParaRPr>
              </a:p>
              <a:p>
                <a:pPr marL="0" marR="0" lvl="0" indent="0" algn="ctr" defTabSz="914400" eaLnBrk="1" fontAlgn="auto" latinLnBrk="0" hangingPunct="1">
                  <a:lnSpc>
                    <a:spcPts val="2300"/>
                  </a:lnSpc>
                  <a:spcBef>
                    <a:spcPts val="0"/>
                  </a:spcBef>
                  <a:spcAft>
                    <a:spcPts val="1000"/>
                  </a:spcAft>
                  <a:buClrTx/>
                  <a:buSzTx/>
                  <a:buFontTx/>
                  <a:buNone/>
                  <a:tabLst/>
                  <a:defRPr/>
                </a:pPr>
                <a:r>
                  <a:rPr kumimoji="0" lang="en-US" b="0" i="0" u="none" strike="noStrike" kern="0" cap="none" spc="0" normalizeH="0" baseline="0" noProof="0" dirty="0">
                    <a:ln>
                      <a:noFill/>
                    </a:ln>
                    <a:solidFill>
                      <a:sysClr val="windowText" lastClr="000000"/>
                    </a:solidFill>
                    <a:effectLst/>
                    <a:uLnTx/>
                    <a:uFillTx/>
                    <a:latin typeface="Times New Roman" panose="02020603050405020304" pitchFamily="18" charset="0"/>
                    <a:ea typeface="Calibri"/>
                    <a:cs typeface="Times New Roman" panose="02020603050405020304" pitchFamily="18" charset="0"/>
                  </a:rPr>
                  <a:t> </a:t>
                </a:r>
              </a:p>
            </p:txBody>
          </p:sp>
          <p:sp>
            <p:nvSpPr>
              <p:cNvPr id="28" name="Rectangle 27">
                <a:extLst>
                  <a:ext uri="{FF2B5EF4-FFF2-40B4-BE49-F238E27FC236}">
                    <a16:creationId xmlns:a16="http://schemas.microsoft.com/office/drawing/2014/main" id="{C7642273-302B-A7D1-5931-83AC2E9FA216}"/>
                  </a:ext>
                </a:extLst>
              </p:cNvPr>
              <p:cNvSpPr>
                <a:spLocks noChangeArrowheads="1"/>
              </p:cNvSpPr>
              <p:nvPr/>
            </p:nvSpPr>
            <p:spPr bwMode="auto">
              <a:xfrm>
                <a:off x="3657600" y="2400300"/>
                <a:ext cx="1714500" cy="443865"/>
              </a:xfrm>
              <a:prstGeom prst="rect">
                <a:avLst/>
              </a:prstGeom>
              <a:solidFill>
                <a:srgbClr val="1F497D">
                  <a:lumMod val="60000"/>
                  <a:lumOff val="40000"/>
                </a:srgbClr>
              </a:solidFill>
              <a:ln w="19050">
                <a:solidFill>
                  <a:srgbClr val="000000"/>
                </a:solidFill>
                <a:miter lim="800000"/>
                <a:headEnd/>
                <a:tailEnd/>
              </a:ln>
            </p:spPr>
            <p:txBody>
              <a:bodyPr rot="0" vert="horz" wrap="square" lIns="91440" tIns="45720" rIns="91440" bIns="45720" anchor="t" anchorCtr="0" upright="1">
                <a:noAutofit/>
              </a:bodyPr>
              <a:lstStyle/>
              <a:p>
                <a:pPr marL="457200" marR="0" lvl="0" indent="-464185" algn="ctr" defTabSz="914400" rtl="1" eaLnBrk="1" fontAlgn="auto" latinLnBrk="0" hangingPunct="1">
                  <a:lnSpc>
                    <a:spcPts val="2300"/>
                  </a:lnSpc>
                  <a:spcBef>
                    <a:spcPts val="0"/>
                  </a:spcBef>
                  <a:spcAft>
                    <a:spcPts val="0"/>
                  </a:spcAft>
                  <a:buClrTx/>
                  <a:buSzTx/>
                  <a:buFontTx/>
                  <a:buNone/>
                  <a:tabLst>
                    <a:tab pos="206375" algn="l"/>
                  </a:tabLst>
                  <a:defRPr/>
                </a:pPr>
                <a:r>
                  <a:rPr kumimoji="0" lang="ar-EG" b="1" i="0" u="none" strike="noStrike" kern="0" cap="none" spc="0" normalizeH="0" baseline="0" noProof="0" dirty="0">
                    <a:ln>
                      <a:noFill/>
                    </a:ln>
                    <a:effectLst/>
                    <a:uLnTx/>
                    <a:uFillTx/>
                    <a:latin typeface="Times New Roman" panose="02020603050405020304" pitchFamily="18" charset="0"/>
                    <a:ea typeface="Calibri"/>
                    <a:cs typeface="Times New Roman" panose="02020603050405020304" pitchFamily="18" charset="0"/>
                  </a:rPr>
                  <a:t>•	</a:t>
                </a:r>
                <a:r>
                  <a:rPr kumimoji="0" lang="ar-SA" b="1" i="0" u="none" strike="noStrike" kern="0" cap="none" spc="0" normalizeH="0" baseline="0" noProof="0" dirty="0">
                    <a:ln>
                      <a:noFill/>
                    </a:ln>
                    <a:effectLst/>
                    <a:uLnTx/>
                    <a:uFillTx/>
                    <a:latin typeface="Times New Roman" panose="02020603050405020304" pitchFamily="18" charset="0"/>
                    <a:ea typeface="Calibri"/>
                    <a:cs typeface="Times New Roman" panose="02020603050405020304" pitchFamily="18" charset="0"/>
                  </a:rPr>
                  <a:t> </a:t>
                </a:r>
                <a:r>
                  <a:rPr kumimoji="0" lang="ar-EG" b="1" i="0" u="none" strike="noStrike" kern="0" cap="none" spc="0" normalizeH="0" baseline="0" noProof="0" dirty="0">
                    <a:ln>
                      <a:noFill/>
                    </a:ln>
                    <a:effectLst/>
                    <a:uLnTx/>
                    <a:uFillTx/>
                    <a:latin typeface="Times New Roman" panose="02020603050405020304" pitchFamily="18" charset="0"/>
                    <a:ea typeface="Calibri"/>
                    <a:cs typeface="Times New Roman" panose="02020603050405020304" pitchFamily="18" charset="0"/>
                  </a:rPr>
                  <a:t>تمويل السندات الخضراء</a:t>
                </a:r>
                <a:r>
                  <a:rPr kumimoji="0" lang="en-US" sz="11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Calibri"/>
                    <a:cs typeface="Times New Roman" panose="02020603050405020304" pitchFamily="18" charset="0"/>
                  </a:rPr>
                  <a:t> </a:t>
                </a:r>
              </a:p>
            </p:txBody>
          </p:sp>
          <p:sp>
            <p:nvSpPr>
              <p:cNvPr id="29" name="Text Box 1951910525">
                <a:extLst>
                  <a:ext uri="{FF2B5EF4-FFF2-40B4-BE49-F238E27FC236}">
                    <a16:creationId xmlns:a16="http://schemas.microsoft.com/office/drawing/2014/main" id="{C2180B89-8745-5BDC-A571-192029ADF315}"/>
                  </a:ext>
                </a:extLst>
              </p:cNvPr>
              <p:cNvSpPr txBox="1">
                <a:spLocks noChangeArrowheads="1"/>
              </p:cNvSpPr>
              <p:nvPr/>
            </p:nvSpPr>
            <p:spPr bwMode="auto">
              <a:xfrm>
                <a:off x="462913" y="203200"/>
                <a:ext cx="1584962" cy="1910715"/>
              </a:xfrm>
              <a:prstGeom prst="rect">
                <a:avLst/>
              </a:prstGeom>
              <a:solidFill>
                <a:srgbClr val="1F497D">
                  <a:lumMod val="60000"/>
                  <a:lumOff val="40000"/>
                </a:srgbClr>
              </a:solidFill>
              <a:ln w="9525">
                <a:solidFill>
                  <a:srgbClr val="FFFFFF"/>
                </a:solidFill>
                <a:miter lim="800000"/>
                <a:headEnd/>
                <a:tailEnd/>
              </a:ln>
            </p:spPr>
            <p:txBody>
              <a:bodyPr rot="0" vert="horz" wrap="square" lIns="91440" tIns="45720" rIns="91440" bIns="45720" anchor="t" anchorCtr="0" upright="1">
                <a:noAutofit/>
              </a:bodyPr>
              <a:lstStyle/>
              <a:p>
                <a:pPr marL="0" marR="0" lvl="0" indent="0" algn="ctr" defTabSz="914400" rtl="1" eaLnBrk="1" fontAlgn="auto" latinLnBrk="0" hangingPunct="1">
                  <a:lnSpc>
                    <a:spcPts val="2300"/>
                  </a:lnSpc>
                  <a:spcBef>
                    <a:spcPts val="0"/>
                  </a:spcBef>
                  <a:spcAft>
                    <a:spcPts val="0"/>
                  </a:spcAft>
                  <a:buClrTx/>
                  <a:buSzTx/>
                  <a:buFontTx/>
                  <a:buNone/>
                  <a:tabLst/>
                  <a:defRPr/>
                </a:pPr>
                <a:endParaRPr kumimoji="0" lang="ar-SA" b="1" i="0" u="none" strike="noStrike" kern="0" cap="none" spc="0" normalizeH="0" baseline="0" noProof="0" dirty="0">
                  <a:ln>
                    <a:noFill/>
                  </a:ln>
                  <a:solidFill>
                    <a:srgbClr val="FF0000"/>
                  </a:solidFill>
                  <a:effectLst/>
                  <a:uLnTx/>
                  <a:uFillTx/>
                  <a:latin typeface="Calibri"/>
                  <a:ea typeface="Calibri"/>
                  <a:cs typeface="Simplified Arabic"/>
                </a:endParaRPr>
              </a:p>
              <a:p>
                <a:pPr marL="0" marR="0" lvl="0" indent="0" algn="ctr" defTabSz="914400" rtl="1" eaLnBrk="1" fontAlgn="auto" latinLnBrk="0" hangingPunct="1">
                  <a:lnSpc>
                    <a:spcPts val="2300"/>
                  </a:lnSpc>
                  <a:spcBef>
                    <a:spcPts val="0"/>
                  </a:spcBef>
                  <a:spcAft>
                    <a:spcPts val="0"/>
                  </a:spcAft>
                  <a:buClrTx/>
                  <a:buSzTx/>
                  <a:buFontTx/>
                  <a:buNone/>
                  <a:tabLst/>
                  <a:defRPr/>
                </a:pPr>
                <a:endParaRPr lang="ar-SA" b="1" kern="0" dirty="0">
                  <a:solidFill>
                    <a:srgbClr val="FF0000"/>
                  </a:solidFill>
                  <a:latin typeface="Calibri"/>
                  <a:ea typeface="Calibri"/>
                  <a:cs typeface="Simplified Arabic"/>
                </a:endParaRPr>
              </a:p>
              <a:p>
                <a:pPr marL="0" marR="0" lvl="0" indent="0" algn="ctr" defTabSz="914400" rtl="1" eaLnBrk="1" fontAlgn="auto" latinLnBrk="0" hangingPunct="1">
                  <a:lnSpc>
                    <a:spcPts val="2300"/>
                  </a:lnSpc>
                  <a:spcBef>
                    <a:spcPts val="0"/>
                  </a:spcBef>
                  <a:spcAft>
                    <a:spcPts val="0"/>
                  </a:spcAft>
                  <a:buClrTx/>
                  <a:buSzTx/>
                  <a:buFontTx/>
                  <a:buNone/>
                  <a:tabLst/>
                  <a:defRPr/>
                </a:pPr>
                <a:endParaRPr kumimoji="0" lang="ar-SA" b="1" i="0" u="none" strike="noStrike" kern="0" cap="none" spc="0" normalizeH="0" baseline="0" noProof="0" dirty="0">
                  <a:ln>
                    <a:noFill/>
                  </a:ln>
                  <a:solidFill>
                    <a:srgbClr val="FF0000"/>
                  </a:solidFill>
                  <a:effectLst/>
                  <a:uLnTx/>
                  <a:uFillTx/>
                  <a:latin typeface="Calibri"/>
                  <a:ea typeface="Calibri"/>
                  <a:cs typeface="Simplified Arabic"/>
                </a:endParaRPr>
              </a:p>
              <a:p>
                <a:pPr marL="0" marR="0" lvl="0" indent="0" algn="ctr" defTabSz="914400" rtl="1" eaLnBrk="1" fontAlgn="auto" latinLnBrk="0" hangingPunct="1">
                  <a:lnSpc>
                    <a:spcPts val="2300"/>
                  </a:lnSpc>
                  <a:spcBef>
                    <a:spcPts val="0"/>
                  </a:spcBef>
                  <a:spcAft>
                    <a:spcPts val="0"/>
                  </a:spcAft>
                  <a:buClrTx/>
                  <a:buSzTx/>
                  <a:buFontTx/>
                  <a:buNone/>
                  <a:tabLst/>
                  <a:defRPr/>
                </a:pPr>
                <a:endParaRPr lang="ar-SA" b="1" kern="0" dirty="0">
                  <a:solidFill>
                    <a:srgbClr val="FF0000"/>
                  </a:solidFill>
                  <a:latin typeface="Calibri"/>
                  <a:ea typeface="Calibri"/>
                  <a:cs typeface="Simplified Arabic"/>
                </a:endParaRPr>
              </a:p>
              <a:p>
                <a:pPr marL="0" marR="0" lvl="0" indent="0" algn="ctr" defTabSz="914400" rtl="1" eaLnBrk="1" fontAlgn="auto" latinLnBrk="0" hangingPunct="1">
                  <a:lnSpc>
                    <a:spcPts val="2300"/>
                  </a:lnSpc>
                  <a:spcBef>
                    <a:spcPts val="0"/>
                  </a:spcBef>
                  <a:spcAft>
                    <a:spcPts val="0"/>
                  </a:spcAft>
                  <a:buClrTx/>
                  <a:buSzTx/>
                  <a:buFontTx/>
                  <a:buNone/>
                  <a:tabLst/>
                  <a:defRPr/>
                </a:pPr>
                <a:r>
                  <a:rPr kumimoji="0" lang="ar-EG" sz="2800" b="1" i="0" u="none" strike="noStrike" kern="0" cap="none" spc="0" normalizeH="0" baseline="0" noProof="0" dirty="0">
                    <a:ln>
                      <a:noFill/>
                    </a:ln>
                    <a:solidFill>
                      <a:srgbClr val="FF0000"/>
                    </a:solidFill>
                    <a:effectLst/>
                    <a:uLnTx/>
                    <a:uFillTx/>
                    <a:latin typeface="Times New Roman" panose="02020603050405020304" pitchFamily="18" charset="0"/>
                    <a:ea typeface="Calibri"/>
                    <a:cs typeface="Times New Roman" panose="02020603050405020304" pitchFamily="18" charset="0"/>
                  </a:rPr>
                  <a:t>التنمية المستدامة</a:t>
                </a:r>
                <a:endParaRPr kumimoji="0" lang="en-US" sz="1600" b="0" i="0" u="none" strike="noStrike" kern="0" cap="none" spc="0" normalizeH="0" baseline="0" noProof="0" dirty="0">
                  <a:ln>
                    <a:noFill/>
                  </a:ln>
                  <a:effectLst/>
                  <a:uLnTx/>
                  <a:uFillTx/>
                  <a:latin typeface="Times New Roman" panose="02020603050405020304" pitchFamily="18" charset="0"/>
                  <a:ea typeface="Calibri"/>
                  <a:cs typeface="Times New Roman" panose="02020603050405020304" pitchFamily="18" charset="0"/>
                </a:endParaRPr>
              </a:p>
            </p:txBody>
          </p:sp>
        </p:grpSp>
      </p:grpSp>
    </p:spTree>
    <p:extLst>
      <p:ext uri="{BB962C8B-B14F-4D97-AF65-F5344CB8AC3E}">
        <p14:creationId xmlns:p14="http://schemas.microsoft.com/office/powerpoint/2010/main" val="4001650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56FE00A-ABED-41B2-A09F-BC18C2A47B22}"/>
              </a:ext>
            </a:extLst>
          </p:cNvPr>
          <p:cNvSpPr txBox="1"/>
          <p:nvPr/>
        </p:nvSpPr>
        <p:spPr>
          <a:xfrm>
            <a:off x="-76200" y="0"/>
            <a:ext cx="12268200" cy="7920438"/>
          </a:xfrm>
          <a:prstGeom prst="rect">
            <a:avLst/>
          </a:prstGeom>
          <a:noFill/>
        </p:spPr>
        <p:txBody>
          <a:bodyPr wrap="square">
            <a:spAutoFit/>
          </a:bodyPr>
          <a:lstStyle/>
          <a:p>
            <a:pPr algn="ctr" rtl="1"/>
            <a:r>
              <a:rPr lang="ar-EG" sz="4000" b="1" dirty="0">
                <a:solidFill>
                  <a:srgbClr val="FF0000"/>
                </a:solidFill>
                <a:latin typeface="Times New Roman" panose="02020603050405020304" pitchFamily="18" charset="0"/>
                <a:cs typeface="Times New Roman" panose="02020603050405020304" pitchFamily="18" charset="0"/>
              </a:rPr>
              <a:t>فروض البحث</a:t>
            </a:r>
          </a:p>
          <a:p>
            <a:pPr algn="just" rtl="1">
              <a:lnSpc>
                <a:spcPct val="107000"/>
              </a:lnSpc>
              <a:spcAft>
                <a:spcPts val="800"/>
              </a:spcAft>
            </a:pPr>
            <a:r>
              <a:rPr lang="ar-SA" sz="4000" b="1" kern="100"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الفرض الرئيسي الأول للبحث: </a:t>
            </a:r>
            <a:r>
              <a:rPr lang="ar-EG" sz="4000" b="1" kern="100" dirty="0">
                <a:latin typeface="Times New Roman" panose="02020603050405020304" pitchFamily="18" charset="0"/>
                <a:ea typeface="Calibri" panose="020F0502020204030204" pitchFamily="34" charset="0"/>
                <a:cs typeface="Times New Roman" panose="02020603050405020304" pitchFamily="18" charset="0"/>
              </a:rPr>
              <a:t>"تتوافر أبعاد التمويل الأخضر وفقا لآراء العاملين في البنوك محل الدراسة ".</a:t>
            </a:r>
          </a:p>
          <a:p>
            <a:pPr algn="just" rtl="1">
              <a:lnSpc>
                <a:spcPct val="107000"/>
              </a:lnSpc>
              <a:spcAft>
                <a:spcPts val="800"/>
              </a:spcAft>
            </a:pPr>
            <a:r>
              <a:rPr lang="en-US" sz="36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 </a:t>
            </a:r>
            <a:r>
              <a:rPr lang="ar-EG" sz="36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ويندرج تحت هذا الفرض الفروض الفرعية التالية: </a:t>
            </a:r>
          </a:p>
          <a:p>
            <a:pPr marL="457200" indent="-457200" algn="just" rtl="1">
              <a:lnSpc>
                <a:spcPct val="107000"/>
              </a:lnSpc>
              <a:spcAft>
                <a:spcPts val="800"/>
              </a:spcAft>
              <a:buFont typeface="Wingdings" panose="05000000000000000000" pitchFamily="2" charset="2"/>
              <a:buChar char="v"/>
            </a:pPr>
            <a:r>
              <a:rPr lang="ar-EG" sz="2700" b="1" kern="100" dirty="0">
                <a:latin typeface="Times New Roman" panose="02020603050405020304" pitchFamily="18" charset="0"/>
                <a:ea typeface="Calibri" panose="020F0502020204030204" pitchFamily="34" charset="0"/>
                <a:cs typeface="Times New Roman" panose="02020603050405020304" pitchFamily="18" charset="0"/>
              </a:rPr>
              <a:t>يتوافر بعد الإستثمار في الطاقة المتجددة كأحد أبعاد  التمويل الأخضر وفقا لآراء العاملين في البنوك محل الدراسة. </a:t>
            </a:r>
          </a:p>
          <a:p>
            <a:pPr marL="457200" indent="-457200" algn="just" rtl="1">
              <a:lnSpc>
                <a:spcPct val="107000"/>
              </a:lnSpc>
              <a:spcAft>
                <a:spcPts val="800"/>
              </a:spcAft>
              <a:buFont typeface="Wingdings" panose="05000000000000000000" pitchFamily="2" charset="2"/>
              <a:buChar char="v"/>
            </a:pPr>
            <a:r>
              <a:rPr lang="ar-EG" sz="27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يتوافر بعد تمويل البنية التحتية كأحد أبعاد  التمويل الأخضر وفقا لآراء العاملين في البنوك محل الدراسة.</a:t>
            </a:r>
          </a:p>
          <a:p>
            <a:pPr marL="457200" indent="-457200" algn="just" rtl="1">
              <a:lnSpc>
                <a:spcPct val="107000"/>
              </a:lnSpc>
              <a:spcAft>
                <a:spcPts val="800"/>
              </a:spcAft>
              <a:buFont typeface="Wingdings" panose="05000000000000000000" pitchFamily="2" charset="2"/>
              <a:buChar char="v"/>
            </a:pPr>
            <a:r>
              <a:rPr lang="ar-EG" sz="2700" b="1" kern="100" dirty="0">
                <a:latin typeface="Times New Roman" panose="02020603050405020304" pitchFamily="18" charset="0"/>
                <a:ea typeface="Calibri" panose="020F0502020204030204" pitchFamily="34" charset="0"/>
                <a:cs typeface="Times New Roman" panose="02020603050405020304" pitchFamily="18" charset="0"/>
              </a:rPr>
              <a:t>يتوافر بعد تمويل التكنولوجيا الخضراء كأحد أبعاد  التمويل الأخضر وفقا لآراء العاملين في البنوك محل الدراسة.</a:t>
            </a:r>
          </a:p>
          <a:p>
            <a:pPr marL="457200" indent="-457200" algn="just" rtl="1">
              <a:lnSpc>
                <a:spcPct val="107000"/>
              </a:lnSpc>
              <a:spcAft>
                <a:spcPts val="800"/>
              </a:spcAft>
              <a:buFont typeface="Wingdings" panose="05000000000000000000" pitchFamily="2" charset="2"/>
              <a:buChar char="v"/>
            </a:pPr>
            <a:r>
              <a:rPr lang="ar-IQ" sz="27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يتوافر بعد الإستثمار الجماعي كأحد أبعاد  التمويل الأخضر وفقا لآراء العاملين في البنوك محل الدراسة</a:t>
            </a:r>
            <a:r>
              <a:rPr lang="ar-EG" sz="27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t>
            </a:r>
            <a:endParaRPr lang="ar-SA" sz="27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rtl="1">
              <a:lnSpc>
                <a:spcPct val="107000"/>
              </a:lnSpc>
              <a:spcAft>
                <a:spcPts val="800"/>
              </a:spcAft>
              <a:buFont typeface="Wingdings" panose="05000000000000000000" pitchFamily="2" charset="2"/>
              <a:buChar char="v"/>
            </a:pPr>
            <a:r>
              <a:rPr lang="ar-IQ" sz="2700" b="1" kern="100" dirty="0">
                <a:latin typeface="Times New Roman" panose="02020603050405020304" pitchFamily="18" charset="0"/>
                <a:cs typeface="Times New Roman" panose="02020603050405020304" pitchFamily="18" charset="0"/>
              </a:rPr>
              <a:t>يتوافر بعد تمويل السندات الخضراء كأحد أبعاد  التمويل الأخضر وفقا لآراء العاملين في البنوك محل الدراس</a:t>
            </a:r>
            <a:r>
              <a:rPr lang="ar-SA" sz="2700" b="1" kern="100" dirty="0">
                <a:latin typeface="Times New Roman" panose="02020603050405020304" pitchFamily="18" charset="0"/>
                <a:cs typeface="Times New Roman" panose="02020603050405020304" pitchFamily="18" charset="0"/>
              </a:rPr>
              <a:t>ة</a:t>
            </a:r>
            <a:r>
              <a:rPr lang="ar-SA" sz="2600" b="1" kern="100" dirty="0">
                <a:latin typeface="Times New Roman" panose="02020603050405020304" pitchFamily="18" charset="0"/>
                <a:cs typeface="Times New Roman" panose="02020603050405020304" pitchFamily="18" charset="0"/>
              </a:rPr>
              <a:t>.</a:t>
            </a:r>
            <a:endParaRPr lang="ar-IQ" sz="2600" b="1" kern="100" dirty="0">
              <a:latin typeface="Times New Roman" panose="02020603050405020304" pitchFamily="18" charset="0"/>
              <a:cs typeface="Times New Roman" panose="02020603050405020304" pitchFamily="18" charset="0"/>
            </a:endParaRPr>
          </a:p>
          <a:p>
            <a:pPr algn="r" rtl="1">
              <a:lnSpc>
                <a:spcPct val="107000"/>
              </a:lnSpc>
              <a:spcAft>
                <a:spcPts val="800"/>
              </a:spcAft>
            </a:pPr>
            <a:endParaRPr lang="en-US" sz="3000" b="1" kern="100" dirty="0">
              <a:solidFill>
                <a:srgbClr val="FFFF00"/>
              </a:solidFill>
              <a:latin typeface="Times New Roman" panose="02020603050405020304" pitchFamily="18" charset="0"/>
              <a:ea typeface="Calibri" panose="020F0502020204030204" pitchFamily="34" charset="0"/>
              <a:cs typeface="Times New Roman" panose="02020603050405020304" pitchFamily="18" charset="0"/>
            </a:endParaRPr>
          </a:p>
          <a:p>
            <a:pPr algn="r" defTabSz="457202" rtl="1">
              <a:defRPr/>
            </a:pPr>
            <a:endParaRPr lang="ar-EG" sz="3200" b="1" dirty="0">
              <a:solidFill>
                <a:srgbClr val="FFFF00"/>
              </a:solidFill>
              <a:ea typeface="Calibri" panose="020F0502020204030204" pitchFamily="34" charset="0"/>
              <a:cs typeface="Simplified Arabic" panose="02020603050405020304" pitchFamily="18" charset="-78"/>
            </a:endParaRPr>
          </a:p>
        </p:txBody>
      </p:sp>
    </p:spTree>
    <p:extLst>
      <p:ext uri="{BB962C8B-B14F-4D97-AF65-F5344CB8AC3E}">
        <p14:creationId xmlns:p14="http://schemas.microsoft.com/office/powerpoint/2010/main" val="458888823"/>
      </p:ext>
    </p:extLst>
  </p:cSld>
  <p:clrMapOvr>
    <a:masterClrMapping/>
  </p:clrMapOvr>
  <mc:AlternateContent xmlns:mc="http://schemas.openxmlformats.org/markup-compatibility/2006" xmlns:p14="http://schemas.microsoft.com/office/powerpoint/2010/main">
    <mc:Choice Requires="p14">
      <p:transition spd="slow" p14:dur="1600">
        <p14:conveyor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098B3E5-2650-A185-EF16-3044ED44537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1D2F0BD-F2F3-8929-8FC1-C7E074C26798}"/>
              </a:ext>
            </a:extLst>
          </p:cNvPr>
          <p:cNvSpPr txBox="1"/>
          <p:nvPr/>
        </p:nvSpPr>
        <p:spPr>
          <a:xfrm>
            <a:off x="-76200" y="0"/>
            <a:ext cx="12268200" cy="6938631"/>
          </a:xfrm>
          <a:prstGeom prst="rect">
            <a:avLst/>
          </a:prstGeom>
          <a:noFill/>
        </p:spPr>
        <p:txBody>
          <a:bodyPr wrap="square">
            <a:spAutoFit/>
          </a:bodyPr>
          <a:lstStyle/>
          <a:p>
            <a:pPr algn="ctr" rtl="1"/>
            <a:r>
              <a:rPr lang="ar-EG" sz="3600" b="1" dirty="0">
                <a:solidFill>
                  <a:srgbClr val="FF0000"/>
                </a:solidFill>
                <a:latin typeface="Times New Roman" panose="02020603050405020304" pitchFamily="18" charset="0"/>
                <a:cs typeface="Times New Roman" panose="02020603050405020304" pitchFamily="18" charset="0"/>
              </a:rPr>
              <a:t>فروض البحث</a:t>
            </a:r>
          </a:p>
          <a:p>
            <a:pPr algn="just" rtl="1">
              <a:lnSpc>
                <a:spcPct val="107000"/>
              </a:lnSpc>
              <a:spcAft>
                <a:spcPts val="800"/>
              </a:spcAft>
            </a:pPr>
            <a:r>
              <a:rPr lang="ar-SA" sz="4000" b="1" kern="100"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الفرض الرئيسي الثانى للبحث: </a:t>
            </a:r>
            <a:r>
              <a:rPr lang="ar-EG" sz="4000" b="1" kern="100" dirty="0">
                <a:latin typeface="Times New Roman" panose="02020603050405020304" pitchFamily="18" charset="0"/>
                <a:ea typeface="Calibri" panose="020F0502020204030204" pitchFamily="34" charset="0"/>
                <a:cs typeface="Times New Roman" panose="02020603050405020304" pitchFamily="18" charset="0"/>
              </a:rPr>
              <a:t>"تتوافر أبعاد التنمية المستدامة وفقا لآراء العاملين في البنوك محل الدراسة  ".</a:t>
            </a:r>
          </a:p>
          <a:p>
            <a:pPr algn="just" rtl="1">
              <a:lnSpc>
                <a:spcPct val="107000"/>
              </a:lnSpc>
              <a:spcAft>
                <a:spcPts val="800"/>
              </a:spcAft>
            </a:pPr>
            <a:r>
              <a:rPr lang="en-US" sz="36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 </a:t>
            </a:r>
            <a:r>
              <a:rPr lang="ar-EG" sz="36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ويندرج تحت هذا الفرض الفروض الفرعية التالية: </a:t>
            </a:r>
          </a:p>
          <a:p>
            <a:pPr indent="-457200" algn="just" rtl="1">
              <a:lnSpc>
                <a:spcPct val="150000"/>
              </a:lnSpc>
              <a:spcAft>
                <a:spcPts val="800"/>
              </a:spcAft>
              <a:buFont typeface="Wingdings" panose="05000000000000000000" pitchFamily="2" charset="2"/>
              <a:buChar char="v"/>
            </a:pPr>
            <a:r>
              <a:rPr lang="ar-EG" sz="2900" b="1" kern="100" dirty="0">
                <a:latin typeface="Times New Roman" panose="02020603050405020304" pitchFamily="18" charset="0"/>
                <a:ea typeface="Calibri" panose="020F0502020204030204" pitchFamily="34" charset="0"/>
                <a:cs typeface="Times New Roman" panose="02020603050405020304" pitchFamily="18" charset="0"/>
              </a:rPr>
              <a:t>يتوافر البعد الإقتصادي كأحد أبعاد  التنمية المستدامة وفقا لآراء العاملين في البنوك محل الدراسة. </a:t>
            </a:r>
          </a:p>
          <a:p>
            <a:pPr indent="-457200" algn="just" rtl="1">
              <a:lnSpc>
                <a:spcPct val="150000"/>
              </a:lnSpc>
              <a:spcAft>
                <a:spcPts val="800"/>
              </a:spcAft>
              <a:buFont typeface="Wingdings" panose="05000000000000000000" pitchFamily="2" charset="2"/>
              <a:buChar char="v"/>
            </a:pPr>
            <a:r>
              <a:rPr lang="ar-EG" sz="29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يتوافر البعد الإجتماعي  كأحد أبعاد  التنمية المستدامة وفقا لآراء العاملين في البنوك محل الدراسة.</a:t>
            </a:r>
          </a:p>
          <a:p>
            <a:pPr indent="-457200" algn="just" rtl="1">
              <a:lnSpc>
                <a:spcPct val="150000"/>
              </a:lnSpc>
              <a:spcAft>
                <a:spcPts val="800"/>
              </a:spcAft>
              <a:buFont typeface="Wingdings" panose="05000000000000000000" pitchFamily="2" charset="2"/>
              <a:buChar char="v"/>
            </a:pPr>
            <a:r>
              <a:rPr lang="ar-EG" sz="2900" b="1" kern="100" dirty="0">
                <a:latin typeface="Times New Roman" panose="02020603050405020304" pitchFamily="18" charset="0"/>
                <a:ea typeface="Calibri" panose="020F0502020204030204" pitchFamily="34" charset="0"/>
                <a:cs typeface="Times New Roman" panose="02020603050405020304" pitchFamily="18" charset="0"/>
              </a:rPr>
              <a:t>يتوافر البعد البيئي  كأحد أبعاد التنمية المستدامة وفقا لآراء العاملين في البنوك محل الدراسة.</a:t>
            </a:r>
          </a:p>
          <a:p>
            <a:pPr indent="-457200" algn="just" rtl="1">
              <a:lnSpc>
                <a:spcPct val="150000"/>
              </a:lnSpc>
              <a:spcAft>
                <a:spcPts val="800"/>
              </a:spcAft>
              <a:buFont typeface="Wingdings" panose="05000000000000000000" pitchFamily="2" charset="2"/>
              <a:buChar char="v"/>
            </a:pPr>
            <a:r>
              <a:rPr lang="ar-IQ" sz="29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يتوافر البعد التكنولوجي كأحد أبعاد  التنمية المستدامة وفقا لآراء العاملين في البنوك محل الدراسة</a:t>
            </a:r>
            <a:r>
              <a:rPr lang="ar-EG" sz="29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t>
            </a:r>
            <a:endParaRPr lang="ar-SA" sz="29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algn="r" rtl="1">
              <a:lnSpc>
                <a:spcPct val="107000"/>
              </a:lnSpc>
              <a:spcAft>
                <a:spcPts val="800"/>
              </a:spcAft>
            </a:pPr>
            <a:endParaRPr lang="en-US" sz="3000" b="1" kern="100" dirty="0">
              <a:solidFill>
                <a:srgbClr val="FFFF00"/>
              </a:solidFill>
              <a:latin typeface="Times New Roman" panose="02020603050405020304" pitchFamily="18" charset="0"/>
              <a:ea typeface="Calibri" panose="020F0502020204030204" pitchFamily="34" charset="0"/>
              <a:cs typeface="Times New Roman" panose="02020603050405020304" pitchFamily="18" charset="0"/>
            </a:endParaRPr>
          </a:p>
          <a:p>
            <a:pPr algn="r" defTabSz="457202" rtl="1">
              <a:defRPr/>
            </a:pPr>
            <a:endParaRPr lang="ar-EG" sz="3200" b="1" dirty="0">
              <a:solidFill>
                <a:srgbClr val="FFFF00"/>
              </a:solidFill>
              <a:ea typeface="Calibri" panose="020F0502020204030204" pitchFamily="34" charset="0"/>
              <a:cs typeface="Simplified Arabic" panose="02020603050405020304" pitchFamily="18" charset="-78"/>
            </a:endParaRPr>
          </a:p>
        </p:txBody>
      </p:sp>
    </p:spTree>
    <p:extLst>
      <p:ext uri="{BB962C8B-B14F-4D97-AF65-F5344CB8AC3E}">
        <p14:creationId xmlns:p14="http://schemas.microsoft.com/office/powerpoint/2010/main" val="3209199997"/>
      </p:ext>
    </p:extLst>
  </p:cSld>
  <p:clrMapOvr>
    <a:masterClrMapping/>
  </p:clrMapOvr>
  <mc:AlternateContent xmlns:mc="http://schemas.openxmlformats.org/markup-compatibility/2006" xmlns:p14="http://schemas.microsoft.com/office/powerpoint/2010/main">
    <mc:Choice Requires="p14">
      <p:transition spd="slow" p14:dur="1600">
        <p14:conveyor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CFE626C-797B-4655-B1D5-61F80C5A3808}"/>
              </a:ext>
            </a:extLst>
          </p:cNvPr>
          <p:cNvSpPr txBox="1"/>
          <p:nvPr/>
        </p:nvSpPr>
        <p:spPr>
          <a:xfrm>
            <a:off x="0" y="0"/>
            <a:ext cx="12142302" cy="4180953"/>
          </a:xfrm>
          <a:prstGeom prst="rect">
            <a:avLst/>
          </a:prstGeom>
          <a:noFill/>
        </p:spPr>
        <p:txBody>
          <a:bodyPr wrap="square">
            <a:spAutoFit/>
          </a:bodyPr>
          <a:lstStyle/>
          <a:p>
            <a:pPr algn="ctr" rtl="1"/>
            <a:r>
              <a:rPr lang="ar-EG" sz="5400" b="1" dirty="0">
                <a:solidFill>
                  <a:srgbClr val="FF0000"/>
                </a:solidFill>
                <a:latin typeface="Times New Roman" panose="02020603050405020304" pitchFamily="18" charset="0"/>
                <a:cs typeface="Times New Roman" panose="02020603050405020304" pitchFamily="18" charset="0"/>
              </a:rPr>
              <a:t>مجتمع وعينة البحث</a:t>
            </a:r>
          </a:p>
          <a:p>
            <a:pPr algn="just" rtl="1">
              <a:lnSpc>
                <a:spcPct val="150000"/>
              </a:lnSpc>
            </a:pPr>
            <a:r>
              <a:rPr lang="ar-EG" sz="2400" b="1" dirty="0">
                <a:latin typeface="Times New Roman" panose="02020603050405020304" pitchFamily="18" charset="0"/>
                <a:ea typeface="Times New Roman" panose="02020603050405020304" pitchFamily="18" charset="0"/>
                <a:cs typeface="Times New Roman" panose="02020603050405020304" pitchFamily="18" charset="0"/>
              </a:rPr>
              <a:t>يتمثل مجتمع البحث فى فروع البنك الأهلى بمدينة طنطا والبالغ عددها 4 بنوك  ، وتم إستخدام أسلوب الحصر الشامل ، وتتمثل وحدة المعاينة فى جميع العاملين بتلك البنوك  والبالغ عددهم 193 مفردة ، وذلك لقدرتهم على الإلمام الكامل بالجوانب المتعلقة </a:t>
            </a:r>
            <a:r>
              <a:rPr lang="ar-SA" sz="2400" b="1" dirty="0">
                <a:latin typeface="Times New Roman" panose="02020603050405020304" pitchFamily="18" charset="0"/>
                <a:ea typeface="Times New Roman" panose="02020603050405020304" pitchFamily="18" charset="0"/>
                <a:cs typeface="Times New Roman" panose="02020603050405020304" pitchFamily="18" charset="0"/>
              </a:rPr>
              <a:t>بالتمويل الأخضر</a:t>
            </a:r>
            <a:r>
              <a:rPr lang="ar-EG" sz="2400" b="1" dirty="0">
                <a:latin typeface="Times New Roman" panose="02020603050405020304" pitchFamily="18" charset="0"/>
                <a:ea typeface="Times New Roman" panose="02020603050405020304" pitchFamily="18" charset="0"/>
                <a:cs typeface="Times New Roman" panose="02020603050405020304" pitchFamily="18" charset="0"/>
              </a:rPr>
              <a:t>فى البنوك محل الدراسة من خلال ممارستهم خبرتهم في العمل لفترة طويلة ، وتم توزيع إستمارات الإستقصاء وتمكن الباحثين من الحصول على عدد 150 إستمارة صحيحة من إجمالى 193 إستمارة أى بنسبة إستجابة 77.7%.كما هو موضح بالجدول التالى</a:t>
            </a:r>
          </a:p>
          <a:p>
            <a:pPr algn="r" rtl="1">
              <a:lnSpc>
                <a:spcPct val="150000"/>
              </a:lnSpc>
            </a:pPr>
            <a:endParaRPr lang="ar-EG" sz="2400" b="1" dirty="0">
              <a:solidFill>
                <a:srgbClr val="FFFF0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CF09D742-B7A3-7A17-8ABF-17F2CBBE1F9B}"/>
              </a:ext>
            </a:extLst>
          </p:cNvPr>
          <p:cNvGraphicFramePr>
            <a:graphicFrameLocks noGrp="1"/>
          </p:cNvGraphicFramePr>
          <p:nvPr>
            <p:extLst>
              <p:ext uri="{D42A27DB-BD31-4B8C-83A1-F6EECF244321}">
                <p14:modId xmlns:p14="http://schemas.microsoft.com/office/powerpoint/2010/main" val="3216631524"/>
              </p:ext>
            </p:extLst>
          </p:nvPr>
        </p:nvGraphicFramePr>
        <p:xfrm>
          <a:off x="228601" y="3733800"/>
          <a:ext cx="11734799" cy="2895600"/>
        </p:xfrm>
        <a:graphic>
          <a:graphicData uri="http://schemas.openxmlformats.org/drawingml/2006/table">
            <a:tbl>
              <a:tblPr rtl="1" firstRow="1" firstCol="1" lastRow="1" lastCol="1" bandRow="1" bandCol="1">
                <a:tableStyleId>{D113A9D2-9D6B-4929-AA2D-F23B5EE8CBE7}</a:tableStyleId>
              </a:tblPr>
              <a:tblGrid>
                <a:gridCol w="2424754">
                  <a:extLst>
                    <a:ext uri="{9D8B030D-6E8A-4147-A177-3AD203B41FA5}">
                      <a16:colId xmlns:a16="http://schemas.microsoft.com/office/drawing/2014/main" val="4014248220"/>
                    </a:ext>
                  </a:extLst>
                </a:gridCol>
                <a:gridCol w="2427552">
                  <a:extLst>
                    <a:ext uri="{9D8B030D-6E8A-4147-A177-3AD203B41FA5}">
                      <a16:colId xmlns:a16="http://schemas.microsoft.com/office/drawing/2014/main" val="2339094770"/>
                    </a:ext>
                  </a:extLst>
                </a:gridCol>
                <a:gridCol w="3608447">
                  <a:extLst>
                    <a:ext uri="{9D8B030D-6E8A-4147-A177-3AD203B41FA5}">
                      <a16:colId xmlns:a16="http://schemas.microsoft.com/office/drawing/2014/main" val="1627358388"/>
                    </a:ext>
                  </a:extLst>
                </a:gridCol>
                <a:gridCol w="3274046">
                  <a:extLst>
                    <a:ext uri="{9D8B030D-6E8A-4147-A177-3AD203B41FA5}">
                      <a16:colId xmlns:a16="http://schemas.microsoft.com/office/drawing/2014/main" val="2345495006"/>
                    </a:ext>
                  </a:extLst>
                </a:gridCol>
              </a:tblGrid>
              <a:tr h="482600">
                <a:tc>
                  <a:txBody>
                    <a:bodyPr/>
                    <a:lstStyle/>
                    <a:p>
                      <a:pPr marL="0" marR="0" algn="ctr" defTabSz="457200" rtl="0" eaLnBrk="1" latinLnBrk="0" hangingPunct="1">
                        <a:lnSpc>
                          <a:spcPts val="2000"/>
                        </a:lnSpc>
                        <a:spcBef>
                          <a:spcPts val="0"/>
                        </a:spcBef>
                        <a:spcAft>
                          <a:spcPts val="0"/>
                        </a:spcAft>
                      </a:pPr>
                      <a:r>
                        <a:rPr lang="ar-EG" sz="2000" b="1" kern="1200" dirty="0">
                          <a:solidFill>
                            <a:schemeClr val="bg1"/>
                          </a:solidFill>
                          <a:effectLst/>
                          <a:latin typeface="Times New Roman" panose="02020603050405020304" pitchFamily="18" charset="0"/>
                          <a:ea typeface="+mn-ea"/>
                          <a:cs typeface="Times New Roman" panose="02020603050405020304" pitchFamily="18" charset="0"/>
                        </a:rPr>
                        <a:t>الفرع</a:t>
                      </a:r>
                      <a:endParaRPr lang="en-US" sz="20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457200" rtl="0" eaLnBrk="1" latinLnBrk="0" hangingPunct="1">
                        <a:lnSpc>
                          <a:spcPts val="2000"/>
                        </a:lnSpc>
                        <a:spcBef>
                          <a:spcPts val="0"/>
                        </a:spcBef>
                        <a:spcAft>
                          <a:spcPts val="0"/>
                        </a:spcAft>
                      </a:pPr>
                      <a:r>
                        <a:rPr lang="ar-EG" sz="2000" b="1" kern="1200" dirty="0">
                          <a:solidFill>
                            <a:schemeClr val="bg1"/>
                          </a:solidFill>
                          <a:effectLst/>
                          <a:latin typeface="Times New Roman" panose="02020603050405020304" pitchFamily="18" charset="0"/>
                          <a:ea typeface="+mn-ea"/>
                          <a:cs typeface="Times New Roman" panose="02020603050405020304" pitchFamily="18" charset="0"/>
                        </a:rPr>
                        <a:t>عدد العاملين</a:t>
                      </a:r>
                      <a:endParaRPr lang="en-US" sz="20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457200" rtl="0" eaLnBrk="1" latinLnBrk="0" hangingPunct="1">
                        <a:lnSpc>
                          <a:spcPts val="2000"/>
                        </a:lnSpc>
                        <a:spcBef>
                          <a:spcPts val="0"/>
                        </a:spcBef>
                        <a:spcAft>
                          <a:spcPts val="0"/>
                        </a:spcAft>
                      </a:pPr>
                      <a:r>
                        <a:rPr lang="ar-EG" sz="2000" b="1" kern="1200" dirty="0">
                          <a:solidFill>
                            <a:schemeClr val="bg1"/>
                          </a:solidFill>
                          <a:effectLst/>
                          <a:latin typeface="Times New Roman" panose="02020603050405020304" pitchFamily="18" charset="0"/>
                          <a:ea typeface="+mn-ea"/>
                          <a:cs typeface="Times New Roman" panose="02020603050405020304" pitchFamily="18" charset="0"/>
                        </a:rPr>
                        <a:t>عدد الإستمارات الصحيحة</a:t>
                      </a:r>
                      <a:endParaRPr lang="en-US" sz="20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457200" rtl="0" eaLnBrk="1" latinLnBrk="0" hangingPunct="1">
                        <a:lnSpc>
                          <a:spcPts val="2000"/>
                        </a:lnSpc>
                        <a:spcBef>
                          <a:spcPts val="0"/>
                        </a:spcBef>
                        <a:spcAft>
                          <a:spcPts val="0"/>
                        </a:spcAft>
                      </a:pPr>
                      <a:r>
                        <a:rPr lang="ar-EG" sz="2000" b="1" kern="1200" dirty="0">
                          <a:solidFill>
                            <a:schemeClr val="bg1"/>
                          </a:solidFill>
                          <a:effectLst/>
                          <a:latin typeface="Times New Roman" panose="02020603050405020304" pitchFamily="18" charset="0"/>
                          <a:ea typeface="+mn-ea"/>
                          <a:cs typeface="Times New Roman" panose="02020603050405020304" pitchFamily="18" charset="0"/>
                        </a:rPr>
                        <a:t>نسبة الإستجابة %</a:t>
                      </a:r>
                      <a:endParaRPr lang="en-US" sz="20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2973822"/>
                  </a:ext>
                </a:extLst>
              </a:tr>
              <a:tr h="482600">
                <a:tc>
                  <a:txBody>
                    <a:bodyPr/>
                    <a:lstStyle/>
                    <a:p>
                      <a:pPr marL="0" marR="0" algn="ctr" rtl="0">
                        <a:lnSpc>
                          <a:spcPts val="2000"/>
                        </a:lnSpc>
                        <a:spcBef>
                          <a:spcPts val="0"/>
                        </a:spcBef>
                        <a:spcAft>
                          <a:spcPts val="0"/>
                        </a:spcAft>
                      </a:pPr>
                      <a:r>
                        <a:rPr lang="ar-EG" sz="2000" b="1" kern="1200" dirty="0">
                          <a:solidFill>
                            <a:schemeClr val="bg1"/>
                          </a:solidFill>
                          <a:effectLst/>
                          <a:latin typeface="Times New Roman" panose="02020603050405020304" pitchFamily="18" charset="0"/>
                          <a:ea typeface="+mn-ea"/>
                          <a:cs typeface="Times New Roman" panose="02020603050405020304" pitchFamily="18" charset="0"/>
                        </a:rPr>
                        <a:t>طنطا</a:t>
                      </a:r>
                      <a:endParaRPr lang="en-US" sz="20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457200" rtl="0" eaLnBrk="1" latinLnBrk="0" hangingPunct="1">
                        <a:lnSpc>
                          <a:spcPts val="2000"/>
                        </a:lnSpc>
                        <a:spcBef>
                          <a:spcPts val="0"/>
                        </a:spcBef>
                        <a:spcAft>
                          <a:spcPts val="0"/>
                        </a:spcAft>
                      </a:pPr>
                      <a:r>
                        <a:rPr lang="ar-EG" sz="2000" b="1" kern="1200" dirty="0">
                          <a:solidFill>
                            <a:schemeClr val="bg1"/>
                          </a:solidFill>
                          <a:effectLst/>
                          <a:latin typeface="Times New Roman" panose="02020603050405020304" pitchFamily="18" charset="0"/>
                          <a:ea typeface="+mn-ea"/>
                          <a:cs typeface="Times New Roman" panose="02020603050405020304" pitchFamily="18" charset="0"/>
                        </a:rPr>
                        <a:t>82</a:t>
                      </a:r>
                      <a:endParaRPr lang="en-US" sz="20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457200" rtl="0" eaLnBrk="1" latinLnBrk="0" hangingPunct="1">
                        <a:lnSpc>
                          <a:spcPts val="2000"/>
                        </a:lnSpc>
                        <a:spcBef>
                          <a:spcPts val="0"/>
                        </a:spcBef>
                        <a:spcAft>
                          <a:spcPts val="0"/>
                        </a:spcAft>
                      </a:pPr>
                      <a:r>
                        <a:rPr lang="ar-EG" sz="2000" b="1" kern="1200" dirty="0">
                          <a:solidFill>
                            <a:schemeClr val="bg1"/>
                          </a:solidFill>
                          <a:effectLst/>
                          <a:latin typeface="Times New Roman" panose="02020603050405020304" pitchFamily="18" charset="0"/>
                          <a:ea typeface="+mn-ea"/>
                          <a:cs typeface="Times New Roman" panose="02020603050405020304" pitchFamily="18" charset="0"/>
                        </a:rPr>
                        <a:t>60</a:t>
                      </a:r>
                      <a:endParaRPr lang="en-US" sz="20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rtl="0">
                        <a:lnSpc>
                          <a:spcPts val="2000"/>
                        </a:lnSpc>
                        <a:spcBef>
                          <a:spcPts val="0"/>
                        </a:spcBef>
                        <a:spcAft>
                          <a:spcPts val="0"/>
                        </a:spcAft>
                      </a:pPr>
                      <a:r>
                        <a:rPr lang="ar-EG" sz="2000" b="1" kern="1200" dirty="0">
                          <a:solidFill>
                            <a:schemeClr val="bg1"/>
                          </a:solidFill>
                          <a:effectLst/>
                          <a:latin typeface="Times New Roman" panose="02020603050405020304" pitchFamily="18" charset="0"/>
                          <a:ea typeface="+mn-ea"/>
                          <a:cs typeface="Times New Roman" panose="02020603050405020304" pitchFamily="18" charset="0"/>
                        </a:rPr>
                        <a:t>73%</a:t>
                      </a:r>
                      <a:endParaRPr lang="en-US" sz="20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8906012"/>
                  </a:ext>
                </a:extLst>
              </a:tr>
              <a:tr h="482600">
                <a:tc>
                  <a:txBody>
                    <a:bodyPr/>
                    <a:lstStyle/>
                    <a:p>
                      <a:pPr marL="0" marR="0" algn="ctr" rtl="0">
                        <a:lnSpc>
                          <a:spcPts val="2000"/>
                        </a:lnSpc>
                        <a:spcBef>
                          <a:spcPts val="0"/>
                        </a:spcBef>
                        <a:spcAft>
                          <a:spcPts val="0"/>
                        </a:spcAft>
                      </a:pPr>
                      <a:r>
                        <a:rPr lang="ar-EG" sz="2000" dirty="0">
                          <a:solidFill>
                            <a:schemeClr val="bg1"/>
                          </a:solidFill>
                          <a:effectLst/>
                          <a:latin typeface="Times New Roman" panose="02020603050405020304" pitchFamily="18" charset="0"/>
                          <a:cs typeface="Times New Roman" panose="02020603050405020304" pitchFamily="18" charset="0"/>
                        </a:rPr>
                        <a:t>المعتصم</a:t>
                      </a:r>
                      <a:endPar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457200" rtl="0" eaLnBrk="1" latinLnBrk="0" hangingPunct="1">
                        <a:lnSpc>
                          <a:spcPts val="2000"/>
                        </a:lnSpc>
                        <a:spcBef>
                          <a:spcPts val="0"/>
                        </a:spcBef>
                        <a:spcAft>
                          <a:spcPts val="0"/>
                        </a:spcAft>
                      </a:pPr>
                      <a:r>
                        <a:rPr lang="ar-EG" sz="2000" b="1" kern="1200" dirty="0">
                          <a:solidFill>
                            <a:schemeClr val="bg1"/>
                          </a:solidFill>
                          <a:effectLst/>
                          <a:latin typeface="Times New Roman" panose="02020603050405020304" pitchFamily="18" charset="0"/>
                          <a:ea typeface="+mn-ea"/>
                          <a:cs typeface="Times New Roman" panose="02020603050405020304" pitchFamily="18" charset="0"/>
                        </a:rPr>
                        <a:t>39</a:t>
                      </a:r>
                      <a:endParaRPr lang="en-US" sz="20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rtl="0">
                        <a:lnSpc>
                          <a:spcPts val="2000"/>
                        </a:lnSpc>
                        <a:spcBef>
                          <a:spcPts val="0"/>
                        </a:spcBef>
                        <a:spcAft>
                          <a:spcPts val="0"/>
                        </a:spcAft>
                      </a:pPr>
                      <a:r>
                        <a:rPr lang="ar-EG" sz="2000" b="1" dirty="0">
                          <a:solidFill>
                            <a:schemeClr val="bg1"/>
                          </a:solidFill>
                          <a:effectLst/>
                          <a:latin typeface="Times New Roman" panose="02020603050405020304" pitchFamily="18" charset="0"/>
                          <a:cs typeface="Times New Roman" panose="02020603050405020304" pitchFamily="18" charset="0"/>
                        </a:rPr>
                        <a:t>35</a:t>
                      </a:r>
                      <a:endPar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rtl="0">
                        <a:lnSpc>
                          <a:spcPts val="2000"/>
                        </a:lnSpc>
                        <a:spcBef>
                          <a:spcPts val="0"/>
                        </a:spcBef>
                        <a:spcAft>
                          <a:spcPts val="0"/>
                        </a:spcAft>
                      </a:pPr>
                      <a:r>
                        <a:rPr lang="ar-EG" sz="2000">
                          <a:solidFill>
                            <a:schemeClr val="bg1"/>
                          </a:solidFill>
                          <a:effectLst/>
                          <a:latin typeface="Times New Roman" panose="02020603050405020304" pitchFamily="18" charset="0"/>
                          <a:cs typeface="Times New Roman" panose="02020603050405020304" pitchFamily="18" charset="0"/>
                        </a:rPr>
                        <a:t>90%</a:t>
                      </a:r>
                      <a:endParaRPr lang="en-US" sz="20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557782"/>
                  </a:ext>
                </a:extLst>
              </a:tr>
              <a:tr h="482600">
                <a:tc>
                  <a:txBody>
                    <a:bodyPr/>
                    <a:lstStyle/>
                    <a:p>
                      <a:pPr marL="0" marR="0" algn="ctr" defTabSz="457200" rtl="0" eaLnBrk="1" latinLnBrk="0" hangingPunct="1">
                        <a:lnSpc>
                          <a:spcPts val="2000"/>
                        </a:lnSpc>
                        <a:spcBef>
                          <a:spcPts val="0"/>
                        </a:spcBef>
                        <a:spcAft>
                          <a:spcPts val="0"/>
                        </a:spcAft>
                      </a:pPr>
                      <a:r>
                        <a:rPr lang="ar-EG" sz="2000" b="1" kern="1200" dirty="0">
                          <a:solidFill>
                            <a:schemeClr val="bg1"/>
                          </a:solidFill>
                          <a:effectLst/>
                          <a:latin typeface="Times New Roman" panose="02020603050405020304" pitchFamily="18" charset="0"/>
                          <a:ea typeface="+mn-ea"/>
                          <a:cs typeface="Times New Roman" panose="02020603050405020304" pitchFamily="18" charset="0"/>
                        </a:rPr>
                        <a:t>الفاتح</a:t>
                      </a:r>
                      <a:endParaRPr lang="en-US" sz="20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457200" rtl="0" eaLnBrk="1" latinLnBrk="0" hangingPunct="1">
                        <a:lnSpc>
                          <a:spcPts val="2000"/>
                        </a:lnSpc>
                        <a:spcBef>
                          <a:spcPts val="0"/>
                        </a:spcBef>
                        <a:spcAft>
                          <a:spcPts val="0"/>
                        </a:spcAft>
                      </a:pPr>
                      <a:r>
                        <a:rPr lang="ar-EG" sz="2000" b="1" kern="1200" dirty="0">
                          <a:solidFill>
                            <a:schemeClr val="bg1"/>
                          </a:solidFill>
                          <a:effectLst/>
                          <a:latin typeface="Times New Roman" panose="02020603050405020304" pitchFamily="18" charset="0"/>
                          <a:ea typeface="+mn-ea"/>
                          <a:cs typeface="Times New Roman" panose="02020603050405020304" pitchFamily="18" charset="0"/>
                        </a:rPr>
                        <a:t>53</a:t>
                      </a:r>
                      <a:endParaRPr lang="en-US" sz="20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457200" rtl="0" eaLnBrk="1" latinLnBrk="0" hangingPunct="1">
                        <a:lnSpc>
                          <a:spcPts val="2000"/>
                        </a:lnSpc>
                        <a:spcBef>
                          <a:spcPts val="0"/>
                        </a:spcBef>
                        <a:spcAft>
                          <a:spcPts val="0"/>
                        </a:spcAft>
                      </a:pPr>
                      <a:r>
                        <a:rPr lang="ar-EG" sz="2000" b="1" kern="1200" dirty="0">
                          <a:solidFill>
                            <a:schemeClr val="bg1"/>
                          </a:solidFill>
                          <a:effectLst/>
                          <a:latin typeface="Times New Roman" panose="02020603050405020304" pitchFamily="18" charset="0"/>
                          <a:ea typeface="+mn-ea"/>
                          <a:cs typeface="Times New Roman" panose="02020603050405020304" pitchFamily="18" charset="0"/>
                        </a:rPr>
                        <a:t>40</a:t>
                      </a:r>
                      <a:endParaRPr lang="en-US" sz="20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457200" rtl="0" eaLnBrk="1" latinLnBrk="0" hangingPunct="1">
                        <a:lnSpc>
                          <a:spcPts val="2000"/>
                        </a:lnSpc>
                        <a:spcBef>
                          <a:spcPts val="0"/>
                        </a:spcBef>
                        <a:spcAft>
                          <a:spcPts val="0"/>
                        </a:spcAft>
                      </a:pPr>
                      <a:r>
                        <a:rPr lang="ar-EG" sz="2000" b="1" kern="1200" dirty="0">
                          <a:solidFill>
                            <a:schemeClr val="bg1"/>
                          </a:solidFill>
                          <a:effectLst/>
                          <a:latin typeface="Times New Roman" panose="02020603050405020304" pitchFamily="18" charset="0"/>
                          <a:ea typeface="+mn-ea"/>
                          <a:cs typeface="Times New Roman" panose="02020603050405020304" pitchFamily="18" charset="0"/>
                        </a:rPr>
                        <a:t>75%</a:t>
                      </a:r>
                      <a:endParaRPr lang="en-US" sz="20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2473647"/>
                  </a:ext>
                </a:extLst>
              </a:tr>
              <a:tr h="482600">
                <a:tc>
                  <a:txBody>
                    <a:bodyPr/>
                    <a:lstStyle/>
                    <a:p>
                      <a:pPr marL="0" marR="0" algn="ctr" rtl="0">
                        <a:lnSpc>
                          <a:spcPts val="2000"/>
                        </a:lnSpc>
                        <a:spcBef>
                          <a:spcPts val="0"/>
                        </a:spcBef>
                        <a:spcAft>
                          <a:spcPts val="0"/>
                        </a:spcAft>
                      </a:pPr>
                      <a:r>
                        <a:rPr lang="ar-EG" sz="2000" dirty="0">
                          <a:solidFill>
                            <a:schemeClr val="bg1"/>
                          </a:solidFill>
                          <a:effectLst/>
                          <a:latin typeface="Times New Roman" panose="02020603050405020304" pitchFamily="18" charset="0"/>
                          <a:cs typeface="Times New Roman" panose="02020603050405020304" pitchFamily="18" charset="0"/>
                        </a:rPr>
                        <a:t>جامعة طنطا</a:t>
                      </a:r>
                      <a:endPar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457200" rtl="0" eaLnBrk="1" latinLnBrk="0" hangingPunct="1">
                        <a:lnSpc>
                          <a:spcPts val="2000"/>
                        </a:lnSpc>
                        <a:spcBef>
                          <a:spcPts val="0"/>
                        </a:spcBef>
                        <a:spcAft>
                          <a:spcPts val="0"/>
                        </a:spcAft>
                      </a:pPr>
                      <a:r>
                        <a:rPr lang="ar-EG" sz="2000" b="1" kern="1200" dirty="0">
                          <a:solidFill>
                            <a:schemeClr val="bg1"/>
                          </a:solidFill>
                          <a:effectLst/>
                          <a:latin typeface="Times New Roman" panose="02020603050405020304" pitchFamily="18" charset="0"/>
                          <a:ea typeface="+mn-ea"/>
                          <a:cs typeface="Times New Roman" panose="02020603050405020304" pitchFamily="18" charset="0"/>
                        </a:rPr>
                        <a:t>19</a:t>
                      </a:r>
                      <a:endParaRPr lang="en-US" sz="20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rtl="0">
                        <a:lnSpc>
                          <a:spcPts val="2000"/>
                        </a:lnSpc>
                        <a:spcBef>
                          <a:spcPts val="0"/>
                        </a:spcBef>
                        <a:spcAft>
                          <a:spcPts val="0"/>
                        </a:spcAft>
                      </a:pPr>
                      <a:r>
                        <a:rPr lang="ar-EG" sz="2000" b="1" dirty="0">
                          <a:solidFill>
                            <a:schemeClr val="bg1"/>
                          </a:solidFill>
                          <a:effectLst/>
                          <a:latin typeface="Times New Roman" panose="02020603050405020304" pitchFamily="18" charset="0"/>
                          <a:cs typeface="Times New Roman" panose="02020603050405020304" pitchFamily="18" charset="0"/>
                        </a:rPr>
                        <a:t>15</a:t>
                      </a:r>
                      <a:endPar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rtl="0">
                        <a:lnSpc>
                          <a:spcPts val="2000"/>
                        </a:lnSpc>
                        <a:spcBef>
                          <a:spcPts val="0"/>
                        </a:spcBef>
                        <a:spcAft>
                          <a:spcPts val="0"/>
                        </a:spcAft>
                      </a:pPr>
                      <a:r>
                        <a:rPr lang="ar-EG" sz="2000" dirty="0">
                          <a:solidFill>
                            <a:schemeClr val="bg1"/>
                          </a:solidFill>
                          <a:effectLst/>
                          <a:latin typeface="Times New Roman" panose="02020603050405020304" pitchFamily="18" charset="0"/>
                          <a:cs typeface="Times New Roman" panose="02020603050405020304" pitchFamily="18" charset="0"/>
                        </a:rPr>
                        <a:t>79%</a:t>
                      </a:r>
                      <a:endPar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4413436"/>
                  </a:ext>
                </a:extLst>
              </a:tr>
              <a:tr h="482600">
                <a:tc>
                  <a:txBody>
                    <a:bodyPr/>
                    <a:lstStyle/>
                    <a:p>
                      <a:pPr marL="0" marR="0" algn="ctr" rtl="0">
                        <a:lnSpc>
                          <a:spcPts val="2000"/>
                        </a:lnSpc>
                        <a:spcBef>
                          <a:spcPts val="0"/>
                        </a:spcBef>
                        <a:spcAft>
                          <a:spcPts val="0"/>
                        </a:spcAft>
                      </a:pPr>
                      <a:r>
                        <a:rPr lang="ar-EG" sz="2000" dirty="0">
                          <a:solidFill>
                            <a:schemeClr val="bg1"/>
                          </a:solidFill>
                          <a:effectLst/>
                          <a:latin typeface="Times New Roman" panose="02020603050405020304" pitchFamily="18" charset="0"/>
                          <a:cs typeface="Times New Roman" panose="02020603050405020304" pitchFamily="18" charset="0"/>
                        </a:rPr>
                        <a:t>الإجمالي</a:t>
                      </a:r>
                      <a:endPar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457200" rtl="0" eaLnBrk="1" latinLnBrk="0" hangingPunct="1">
                        <a:lnSpc>
                          <a:spcPts val="2000"/>
                        </a:lnSpc>
                        <a:spcBef>
                          <a:spcPts val="0"/>
                        </a:spcBef>
                        <a:spcAft>
                          <a:spcPts val="0"/>
                        </a:spcAft>
                      </a:pPr>
                      <a:r>
                        <a:rPr lang="ar-EG" sz="2000" b="1" kern="1200" dirty="0">
                          <a:solidFill>
                            <a:schemeClr val="bg1"/>
                          </a:solidFill>
                          <a:effectLst/>
                          <a:latin typeface="Times New Roman" panose="02020603050405020304" pitchFamily="18" charset="0"/>
                          <a:ea typeface="+mn-ea"/>
                          <a:cs typeface="Times New Roman" panose="02020603050405020304" pitchFamily="18" charset="0"/>
                        </a:rPr>
                        <a:t>193</a:t>
                      </a:r>
                      <a:endParaRPr lang="en-US" sz="20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rtl="0">
                        <a:lnSpc>
                          <a:spcPts val="2000"/>
                        </a:lnSpc>
                        <a:spcBef>
                          <a:spcPts val="0"/>
                        </a:spcBef>
                        <a:spcAft>
                          <a:spcPts val="0"/>
                        </a:spcAft>
                      </a:pPr>
                      <a:r>
                        <a:rPr lang="ar-EG" sz="2000" dirty="0">
                          <a:solidFill>
                            <a:schemeClr val="bg1"/>
                          </a:solidFill>
                          <a:effectLst/>
                          <a:latin typeface="Times New Roman" panose="02020603050405020304" pitchFamily="18" charset="0"/>
                          <a:cs typeface="Times New Roman" panose="02020603050405020304" pitchFamily="18" charset="0"/>
                        </a:rPr>
                        <a:t>150</a:t>
                      </a:r>
                      <a:endPar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rtl="0">
                        <a:lnSpc>
                          <a:spcPts val="2000"/>
                        </a:lnSpc>
                        <a:spcBef>
                          <a:spcPts val="0"/>
                        </a:spcBef>
                        <a:spcAft>
                          <a:spcPts val="0"/>
                        </a:spcAft>
                      </a:pPr>
                      <a:r>
                        <a:rPr lang="ar-EG" sz="2000" dirty="0">
                          <a:solidFill>
                            <a:schemeClr val="bg1"/>
                          </a:solidFill>
                          <a:effectLst/>
                          <a:latin typeface="Times New Roman" panose="02020603050405020304" pitchFamily="18" charset="0"/>
                          <a:cs typeface="Times New Roman" panose="02020603050405020304" pitchFamily="18" charset="0"/>
                        </a:rPr>
                        <a:t> </a:t>
                      </a:r>
                      <a:endParaRPr lang="en-US"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8431462"/>
                  </a:ext>
                </a:extLst>
              </a:tr>
            </a:tbl>
          </a:graphicData>
        </a:graphic>
      </p:graphicFrame>
    </p:spTree>
    <p:extLst>
      <p:ext uri="{BB962C8B-B14F-4D97-AF65-F5344CB8AC3E}">
        <p14:creationId xmlns:p14="http://schemas.microsoft.com/office/powerpoint/2010/main" val="1997366630"/>
      </p:ext>
    </p:extLst>
  </p:cSld>
  <p:clrMapOvr>
    <a:masterClrMapping/>
  </p:clrMapOvr>
  <mc:AlternateContent xmlns:mc="http://schemas.openxmlformats.org/markup-compatibility/2006" xmlns:p14="http://schemas.microsoft.com/office/powerpoint/2010/main">
    <mc:Choice Requires="p14">
      <p:transition spd="slow" p14:dur="1600">
        <p14:conveyor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6D5BF62-677B-48B3-BD9E-E7B1F7A23D6A}"/>
              </a:ext>
            </a:extLst>
          </p:cNvPr>
          <p:cNvSpPr txBox="1"/>
          <p:nvPr/>
        </p:nvSpPr>
        <p:spPr>
          <a:xfrm>
            <a:off x="19334" y="0"/>
            <a:ext cx="12172666" cy="7602081"/>
          </a:xfrm>
          <a:prstGeom prst="rect">
            <a:avLst/>
          </a:prstGeom>
          <a:noFill/>
        </p:spPr>
        <p:txBody>
          <a:bodyPr wrap="square">
            <a:spAutoFit/>
          </a:bodyPr>
          <a:lstStyle/>
          <a:p>
            <a:pPr algn="ctr" rtl="1"/>
            <a:r>
              <a:rPr lang="ar-EG" sz="5400" b="1" dirty="0">
                <a:solidFill>
                  <a:srgbClr val="FF0000"/>
                </a:solidFill>
                <a:latin typeface="Times New Roman" panose="02020603050405020304" pitchFamily="18" charset="0"/>
                <a:cs typeface="Times New Roman" panose="02020603050405020304" pitchFamily="18" charset="0"/>
              </a:rPr>
              <a:t>النتائج </a:t>
            </a:r>
            <a:endParaRPr lang="en-US" sz="5400" b="1" dirty="0">
              <a:solidFill>
                <a:srgbClr val="FF0000"/>
              </a:solidFill>
              <a:latin typeface="Times New Roman" panose="02020603050405020304" pitchFamily="18" charset="0"/>
              <a:cs typeface="Times New Roman" panose="02020603050405020304" pitchFamily="18" charset="0"/>
            </a:endParaRPr>
          </a:p>
          <a:p>
            <a:pPr marL="457200" marR="0" lvl="0" indent="-457200" algn="just" defTabSz="457200" rtl="1" eaLnBrk="1" fontAlgn="auto" latinLnBrk="0" hangingPunct="1">
              <a:lnSpc>
                <a:spcPts val="2400"/>
              </a:lnSpc>
              <a:spcBef>
                <a:spcPts val="0"/>
              </a:spcBef>
              <a:spcAft>
                <a:spcPts val="0"/>
              </a:spcAft>
              <a:buClr>
                <a:srgbClr val="EE1231"/>
              </a:buClr>
              <a:buSzTx/>
              <a:buFont typeface="Wingdings" panose="05000000000000000000" pitchFamily="2" charset="2"/>
              <a:buChar char="q"/>
              <a:tabLst/>
              <a:defRPr/>
            </a:pPr>
            <a:r>
              <a:rPr kumimoji="0" lang="ar-EG"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تبين من التحليل الوصفي لبيانات الدراسة أن أبعاد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التمويل الأخضر التنمية المستدامة </a:t>
            </a:r>
            <a:r>
              <a:rPr kumimoji="0" lang="ar-EG"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متوفرة بدرجه عالية.</a:t>
            </a:r>
            <a:endParaRPr kumimoji="0" lang="en-US"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457200" algn="just" defTabSz="457200" rtl="1" eaLnBrk="1" fontAlgn="auto" latinLnBrk="0" hangingPunct="1">
              <a:lnSpc>
                <a:spcPts val="2400"/>
              </a:lnSpc>
              <a:spcBef>
                <a:spcPts val="0"/>
              </a:spcBef>
              <a:spcAft>
                <a:spcPts val="0"/>
              </a:spcAft>
              <a:buClr>
                <a:prstClr val="white"/>
              </a:buClr>
              <a:buSzTx/>
              <a:buFont typeface="Wingdings" panose="05000000000000000000" pitchFamily="2" charset="2"/>
              <a:buChar char="q"/>
              <a:tabLst/>
              <a:defRPr/>
            </a:pPr>
            <a:r>
              <a:rPr kumimoji="0" lang="ar-SA"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يل</a:t>
            </a:r>
            <a:r>
              <a:rPr kumimoji="0" lang="ar-EG"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تزم البنك بسياسات الاستثمار في الطاقة المتجددة </a:t>
            </a:r>
            <a:r>
              <a:rPr kumimoji="0" lang="ar-SA"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ar-EG"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و </a:t>
            </a:r>
            <a:r>
              <a:rPr kumimoji="0" lang="ar-SA"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ي</a:t>
            </a:r>
            <a:r>
              <a:rPr kumimoji="0" lang="ar-EG"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شجيع البنك علي الاستثمار في الطاقة المتجددة التي لا تؤثر علي الصحة و البيئة </a:t>
            </a:r>
            <a:r>
              <a:rPr kumimoji="0" lang="ar-SA"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          كما</a:t>
            </a:r>
            <a:r>
              <a:rPr kumimoji="0" lang="ar-EG"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 يحرص البنك علي دعم الشركات لاقامة مشروعاتها الصديقة </a:t>
            </a:r>
            <a:r>
              <a:rPr kumimoji="0" lang="ar-SA"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ar-EG"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و يسعي البنك الي دعم مشروعات الدولة في مجال الطاقة المتجددة</a:t>
            </a:r>
            <a:r>
              <a:rPr kumimoji="0" lang="ar-SA"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a:t>
            </a:r>
          </a:p>
          <a:p>
            <a:pPr marL="457200" marR="0" lvl="0" indent="-457200" algn="just" defTabSz="457200" rtl="1" eaLnBrk="1" fontAlgn="auto" latinLnBrk="0" hangingPunct="1">
              <a:lnSpc>
                <a:spcPts val="2400"/>
              </a:lnSpc>
              <a:spcBef>
                <a:spcPts val="0"/>
              </a:spcBef>
              <a:spcAft>
                <a:spcPts val="0"/>
              </a:spcAft>
              <a:buClr>
                <a:prstClr val="white"/>
              </a:buClr>
              <a:buSzTx/>
              <a:buFont typeface="Wingdings" panose="05000000000000000000" pitchFamily="2" charset="2"/>
              <a:buChar char="q"/>
              <a:tabLst/>
              <a:defRPr/>
            </a:pPr>
            <a:r>
              <a:rPr kumimoji="0" lang="ar-EG"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يساهم البنك في تمويل المشاريع التي توفر الطاقة المستدامة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ar-EG"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و يهتم البنك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ب</a:t>
            </a:r>
            <a:r>
              <a:rPr kumimoji="0" lang="ar-EG"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تمويل المشروعات الصديقة للبيئة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ar-EG"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و يسعي البنك لمنح تسهيلات ائتمانية للمشروعات التي توفر خدمات مستدامة لأفراد المجتمع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ar-EG"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و يتزايد حجم معاملات البنك في مجال البنية التحتية المتجددة بعد توجه الدولة لدعم تلك المشروعات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ar-EG"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و يستفيد البنك من مبادرات الجهاز المصرفي لدعم البنية التحتية المستدامة.</a:t>
            </a:r>
            <a:endParaRPr kumimoji="0" lang="en-US"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457200" algn="just" defTabSz="457200" rtl="1" eaLnBrk="1" fontAlgn="auto" latinLnBrk="0" hangingPunct="1">
              <a:lnSpc>
                <a:spcPts val="2400"/>
              </a:lnSpc>
              <a:spcBef>
                <a:spcPts val="0"/>
              </a:spcBef>
              <a:spcAft>
                <a:spcPts val="0"/>
              </a:spcAft>
              <a:buClr>
                <a:prstClr val="white"/>
              </a:buClr>
              <a:buSzTx/>
              <a:buFont typeface="Wingdings" panose="05000000000000000000" pitchFamily="2" charset="2"/>
              <a:buChar char="q"/>
              <a:tabLst/>
              <a:defRPr/>
            </a:pPr>
            <a:r>
              <a:rPr kumimoji="0" lang="ar-EG"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يمول البنك المشروعات الحديثة التي تستخدم التكنولوجيا الخضراء في اعمالها </a:t>
            </a:r>
            <a:r>
              <a:rPr kumimoji="0" lang="ar-SA"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ar-EG"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و يساهم البنك في تمويل الانتاج النظيف و الطاقة الاقل ضرر للبيئة </a:t>
            </a:r>
            <a:r>
              <a:rPr kumimoji="0" lang="ar-SA"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a:t>
            </a:r>
            <a:r>
              <a:rPr kumimoji="0" lang="ar-EG"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 ويعمل البنك على الاستثمار في مشاريع تدعم عمليات إعادة تدوير النفايات و المياه.</a:t>
            </a:r>
            <a:endParaRPr kumimoji="0" lang="en-US"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457200" algn="just" defTabSz="457200" rtl="1" eaLnBrk="1" fontAlgn="auto" latinLnBrk="0" hangingPunct="1">
              <a:lnSpc>
                <a:spcPts val="2400"/>
              </a:lnSpc>
              <a:spcBef>
                <a:spcPts val="0"/>
              </a:spcBef>
              <a:spcAft>
                <a:spcPts val="0"/>
              </a:spcAft>
              <a:buClr>
                <a:srgbClr val="EE1231"/>
              </a:buClr>
              <a:buSzTx/>
              <a:buFont typeface="Wingdings" panose="05000000000000000000" pitchFamily="2" charset="2"/>
              <a:buChar char="q"/>
              <a:tabLst/>
              <a:defRPr/>
            </a:pPr>
            <a:r>
              <a:rPr kumimoji="0" lang="ar-IQ"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يتبنى البنك الاستثمارات التي تسهم في تعزيز المكانة الاجتماعية لافراد المجتمع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ar-IQ"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و يساهم البنك في دعم المنظمات الاجتماعية التي تحقق التكامل الاجتماعى في المجتمع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a:t>
            </a:r>
            <a:r>
              <a:rPr kumimoji="0" lang="ar-IQ"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ويساهم البنك في تنفيذ و دعم استثمارات تحقق الاكتفاء الذاتي والاستقلالية المالية لأفراد المجتمع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a:t>
            </a:r>
            <a:r>
              <a:rPr kumimoji="0" lang="ar-IQ"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و يسعى البنك لتنفيذ مشروعاته في دعم المناطق الأولى بالرعاية.</a:t>
            </a:r>
            <a:endParaRPr kumimoji="0" lang="en-US"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457200" algn="just" defTabSz="457200" rtl="1" eaLnBrk="1" fontAlgn="auto" latinLnBrk="0" hangingPunct="1">
              <a:lnSpc>
                <a:spcPts val="2400"/>
              </a:lnSpc>
              <a:spcBef>
                <a:spcPts val="0"/>
              </a:spcBef>
              <a:spcAft>
                <a:spcPts val="0"/>
              </a:spcAft>
              <a:buClr>
                <a:prstClr val="white"/>
              </a:buClr>
              <a:buSzTx/>
              <a:buFont typeface="Wingdings" panose="05000000000000000000" pitchFamily="2" charset="2"/>
              <a:buChar char="q"/>
              <a:tabLst/>
              <a:defRPr/>
            </a:pPr>
            <a:r>
              <a:rPr kumimoji="0" lang="ar-IQ"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يسعى البنك للحصول على تمويل مناسب للسندات الخضراء الخاصة به </a:t>
            </a:r>
            <a:r>
              <a:rPr kumimoji="0" lang="ar-SA"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ar-IQ"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ويمنح البنك المستثمرين الذين لديهم سندات خضراء تمويل مناسب لإستثمارهم </a:t>
            </a:r>
            <a:r>
              <a:rPr kumimoji="0" lang="ar-SA"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a:t>
            </a:r>
            <a:r>
              <a:rPr kumimoji="0" lang="ar-IQ"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ويحصل البنك على التمويل اللازم لتنفيذ المشاريع الصديقة للبيئة </a:t>
            </a:r>
            <a:r>
              <a:rPr kumimoji="0" lang="ar-SA"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a:t>
            </a:r>
            <a:r>
              <a:rPr kumimoji="0" lang="ar-IQ"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و يحصل البنك على التسهيلات المناسبة لتمويل المشروعات الصديقة للبيئة </a:t>
            </a:r>
            <a:r>
              <a:rPr kumimoji="0" lang="ar-SA"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rPr>
              <a:t>.</a:t>
            </a:r>
            <a:endParaRPr kumimoji="0" lang="en-US"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457200" algn="just" defTabSz="457200" rtl="1" eaLnBrk="1" fontAlgn="auto" latinLnBrk="0" hangingPunct="1">
              <a:lnSpc>
                <a:spcPts val="2400"/>
              </a:lnSpc>
              <a:spcBef>
                <a:spcPts val="0"/>
              </a:spcBef>
              <a:spcAft>
                <a:spcPts val="0"/>
              </a:spcAft>
              <a:buClr>
                <a:srgbClr val="EE1231"/>
              </a:buClr>
              <a:buSzTx/>
              <a:buFont typeface="Wingdings" panose="05000000000000000000" pitchFamily="2" charset="2"/>
              <a:buChar char="q"/>
              <a:tabLst/>
              <a:defRPr/>
            </a:pPr>
            <a:r>
              <a:rPr kumimoji="0" lang="ar-IQ"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تعمل التنمية المستدامة على إستغلال موارد البيئة الطبيعية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ar-IQ"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و تساعد التنمية المستدامة على تنمية الحرف والفنون والتراث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ar-IQ"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وتعمل التنمية المستدامة على التكامل بين الجوانب (الإجتماعية، والبيئية، والإقتصادية)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a:t>
            </a:r>
            <a:r>
              <a:rPr kumimoji="0" lang="ar-IQ"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وتحقق التنمية المستدامة تلبية إحتياجات الحاضر والمستقبل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ar-IQ"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وتعمل التنمية المستدامة على ضمان إستمرارية الديموقراطية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ar-IQ"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وتعزز التنمية المستدامة الوعى البيئي لدى أفراد المجتمع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ar-IQ"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وتحقق التنمية المستدامة العدالة والمساواة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a:t>
            </a:r>
            <a:r>
              <a:rPr kumimoji="0" lang="ar-IQ"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وتعمل التنمية المستدامة على توفير الرعاية الصحية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ar-IQ"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وتعمل التنمية المستدامة على المحافظة على المسطحات المائية من التلوث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ar-IQ"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وتعمل التنمية المستدامة على رقى الفرد والمجتمع </a:t>
            </a:r>
            <a:r>
              <a:rPr kumimoji="0" lang="ar-SA" sz="2000" b="1" i="0" u="none" strike="noStrike" kern="1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a:t>
            </a:r>
            <a:endParaRPr kumimoji="0" lang="en-US" sz="2000" b="1" i="0" u="none" strike="noStrike" kern="100" cap="none" spc="0" normalizeH="0" baseline="0" noProof="0" dirty="0">
              <a:ln>
                <a:noFill/>
              </a:ln>
              <a:solidFill>
                <a:srgbClr val="FF0000"/>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algn="r" rtl="1"/>
            <a:endParaRPr lang="ar-EG" sz="5400" b="1" dirty="0">
              <a:solidFill>
                <a:srgbClr val="FF0000"/>
              </a:solidFill>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3159531045"/>
      </p:ext>
    </p:extLst>
  </p:cSld>
  <p:clrMapOvr>
    <a:masterClrMapping/>
  </p:clrMapOvr>
  <mc:AlternateContent xmlns:mc="http://schemas.openxmlformats.org/markup-compatibility/2006" xmlns:p14="http://schemas.microsoft.com/office/powerpoint/2010/main">
    <mc:Choice Requires="p14">
      <p:transition spd="slow" p14:dur="1600">
        <p14:conveyor dir="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6D5BF62-677B-48B3-BD9E-E7B1F7A23D6A}"/>
              </a:ext>
            </a:extLst>
          </p:cNvPr>
          <p:cNvSpPr txBox="1"/>
          <p:nvPr/>
        </p:nvSpPr>
        <p:spPr>
          <a:xfrm>
            <a:off x="-78064" y="-135672"/>
            <a:ext cx="12192000" cy="769441"/>
          </a:xfrm>
          <a:prstGeom prst="rect">
            <a:avLst/>
          </a:prstGeom>
          <a:noFill/>
        </p:spPr>
        <p:txBody>
          <a:bodyPr wrap="square">
            <a:spAutoFit/>
          </a:bodyPr>
          <a:lstStyle/>
          <a:p>
            <a:pPr algn="ctr" rtl="1"/>
            <a:r>
              <a:rPr lang="ar-EG" sz="4400" b="1" dirty="0">
                <a:solidFill>
                  <a:srgbClr val="FF0000"/>
                </a:solidFill>
                <a:latin typeface="Times New Roman" panose="02020603050405020304" pitchFamily="18" charset="0"/>
                <a:cs typeface="Times New Roman" panose="02020603050405020304" pitchFamily="18" charset="0"/>
              </a:rPr>
              <a:t>التوصيات</a:t>
            </a:r>
          </a:p>
        </p:txBody>
      </p:sp>
      <p:graphicFrame>
        <p:nvGraphicFramePr>
          <p:cNvPr id="3" name="Table 2">
            <a:extLst>
              <a:ext uri="{FF2B5EF4-FFF2-40B4-BE49-F238E27FC236}">
                <a16:creationId xmlns:a16="http://schemas.microsoft.com/office/drawing/2014/main" id="{2A5FE3A3-CA02-5F73-FA5F-A8681334C0B6}"/>
              </a:ext>
            </a:extLst>
          </p:cNvPr>
          <p:cNvGraphicFramePr>
            <a:graphicFrameLocks noGrp="1"/>
          </p:cNvGraphicFramePr>
          <p:nvPr>
            <p:extLst>
              <p:ext uri="{D42A27DB-BD31-4B8C-83A1-F6EECF244321}">
                <p14:modId xmlns:p14="http://schemas.microsoft.com/office/powerpoint/2010/main" val="1485785362"/>
              </p:ext>
            </p:extLst>
          </p:nvPr>
        </p:nvGraphicFramePr>
        <p:xfrm>
          <a:off x="39032" y="633769"/>
          <a:ext cx="12113936" cy="6143311"/>
        </p:xfrm>
        <a:graphic>
          <a:graphicData uri="http://schemas.openxmlformats.org/drawingml/2006/table">
            <a:tbl>
              <a:tblPr rtl="1" firstRow="1" firstCol="1" bandRow="1">
                <a:tableStyleId>{35758FB7-9AC5-4552-8A53-C91805E547FA}</a:tableStyleId>
              </a:tblPr>
              <a:tblGrid>
                <a:gridCol w="347107">
                  <a:extLst>
                    <a:ext uri="{9D8B030D-6E8A-4147-A177-3AD203B41FA5}">
                      <a16:colId xmlns:a16="http://schemas.microsoft.com/office/drawing/2014/main" val="20003"/>
                    </a:ext>
                  </a:extLst>
                </a:gridCol>
                <a:gridCol w="2429427">
                  <a:extLst>
                    <a:ext uri="{9D8B030D-6E8A-4147-A177-3AD203B41FA5}">
                      <a16:colId xmlns:a16="http://schemas.microsoft.com/office/drawing/2014/main" val="20000"/>
                    </a:ext>
                  </a:extLst>
                </a:gridCol>
                <a:gridCol w="1730235">
                  <a:extLst>
                    <a:ext uri="{9D8B030D-6E8A-4147-A177-3AD203B41FA5}">
                      <a16:colId xmlns:a16="http://schemas.microsoft.com/office/drawing/2014/main" val="20001"/>
                    </a:ext>
                  </a:extLst>
                </a:gridCol>
                <a:gridCol w="7607167">
                  <a:extLst>
                    <a:ext uri="{9D8B030D-6E8A-4147-A177-3AD203B41FA5}">
                      <a16:colId xmlns:a16="http://schemas.microsoft.com/office/drawing/2014/main" val="20002"/>
                    </a:ext>
                  </a:extLst>
                </a:gridCol>
              </a:tblGrid>
              <a:tr h="258317">
                <a:tc>
                  <a:txBody>
                    <a:bodyPr/>
                    <a:lstStyle/>
                    <a:p>
                      <a:pPr marL="0" marR="0" algn="ctr" rtl="1">
                        <a:lnSpc>
                          <a:spcPct val="107000"/>
                        </a:lnSpc>
                        <a:spcBef>
                          <a:spcPts val="0"/>
                        </a:spcBef>
                        <a:spcAft>
                          <a:spcPts val="0"/>
                        </a:spcAft>
                      </a:pPr>
                      <a:r>
                        <a:rPr lang="ar-EG" sz="1800" b="1" dirty="0">
                          <a:solidFill>
                            <a:schemeClr val="bg1"/>
                          </a:solidFill>
                          <a:effectLst/>
                        </a:rPr>
                        <a:t>م</a:t>
                      </a:r>
                      <a:endParaRPr lang="en-US" sz="1800" b="1" dirty="0">
                        <a:solidFill>
                          <a:schemeClr val="bg1"/>
                        </a:solidFill>
                        <a:effectLst/>
                        <a:latin typeface="Times New Roman" panose="02020603050405020304" pitchFamily="18" charset="0"/>
                        <a:ea typeface="Calibri" panose="020F0502020204030204" pitchFamily="34" charset="0"/>
                        <a:cs typeface="PT Bold Heading" panose="00000400000000000000" pitchFamily="2" charset="-78"/>
                      </a:endParaRPr>
                    </a:p>
                  </a:txBody>
                  <a:tcPr marL="62571" marR="6257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lvl1pPr marL="0" algn="l" rtl="0" eaLnBrk="1" latinLnBrk="0" hangingPunct="1">
                        <a:defRPr kumimoji="0" b="1" kern="1200">
                          <a:solidFill>
                            <a:schemeClr val="lt1"/>
                          </a:solidFill>
                          <a:latin typeface="Corbel" panose="020B0503020204020204"/>
                        </a:defRPr>
                      </a:lvl1pPr>
                      <a:lvl2pPr marL="457202" algn="l" rtl="0" eaLnBrk="1" latinLnBrk="0" hangingPunct="1">
                        <a:defRPr kumimoji="0" b="1" kern="1200">
                          <a:solidFill>
                            <a:schemeClr val="lt1"/>
                          </a:solidFill>
                          <a:latin typeface="Corbel" panose="020B0503020204020204"/>
                        </a:defRPr>
                      </a:lvl2pPr>
                      <a:lvl3pPr marL="914405" algn="l" rtl="0" eaLnBrk="1" latinLnBrk="0" hangingPunct="1">
                        <a:defRPr kumimoji="0" b="1" kern="1200">
                          <a:solidFill>
                            <a:schemeClr val="lt1"/>
                          </a:solidFill>
                          <a:latin typeface="Corbel" panose="020B0503020204020204"/>
                        </a:defRPr>
                      </a:lvl3pPr>
                      <a:lvl4pPr marL="1371607" algn="l" rtl="0" eaLnBrk="1" latinLnBrk="0" hangingPunct="1">
                        <a:defRPr kumimoji="0" b="1" kern="1200">
                          <a:solidFill>
                            <a:schemeClr val="lt1"/>
                          </a:solidFill>
                          <a:latin typeface="Corbel" panose="020B0503020204020204"/>
                        </a:defRPr>
                      </a:lvl4pPr>
                      <a:lvl5pPr marL="1828809" algn="l" rtl="0" eaLnBrk="1" latinLnBrk="0" hangingPunct="1">
                        <a:defRPr kumimoji="0" b="1" kern="1200">
                          <a:solidFill>
                            <a:schemeClr val="lt1"/>
                          </a:solidFill>
                          <a:latin typeface="Corbel" panose="020B0503020204020204"/>
                        </a:defRPr>
                      </a:lvl5pPr>
                      <a:lvl6pPr marL="2286011" algn="l" rtl="0" eaLnBrk="1" latinLnBrk="0" hangingPunct="1">
                        <a:defRPr kumimoji="0" b="1" kern="1200">
                          <a:solidFill>
                            <a:schemeClr val="lt1"/>
                          </a:solidFill>
                          <a:latin typeface="Corbel" panose="020B0503020204020204"/>
                        </a:defRPr>
                      </a:lvl6pPr>
                      <a:lvl7pPr marL="2743214" algn="l" rtl="0" eaLnBrk="1" latinLnBrk="0" hangingPunct="1">
                        <a:defRPr kumimoji="0" b="1" kern="1200">
                          <a:solidFill>
                            <a:schemeClr val="lt1"/>
                          </a:solidFill>
                          <a:latin typeface="Corbel" panose="020B0503020204020204"/>
                        </a:defRPr>
                      </a:lvl7pPr>
                      <a:lvl8pPr marL="3200416" algn="l" rtl="0" eaLnBrk="1" latinLnBrk="0" hangingPunct="1">
                        <a:defRPr kumimoji="0" b="1" kern="1200">
                          <a:solidFill>
                            <a:schemeClr val="lt1"/>
                          </a:solidFill>
                          <a:latin typeface="Corbel" panose="020B0503020204020204"/>
                        </a:defRPr>
                      </a:lvl8pPr>
                      <a:lvl9pPr marL="3657618" algn="l" rtl="0" eaLnBrk="1" latinLnBrk="0" hangingPunct="1">
                        <a:defRPr kumimoji="0" b="1" kern="1200">
                          <a:solidFill>
                            <a:schemeClr val="lt1"/>
                          </a:solidFill>
                          <a:latin typeface="Corbel" panose="020B0503020204020204"/>
                        </a:defRPr>
                      </a:lvl9pPr>
                    </a:lstStyle>
                    <a:p>
                      <a:pPr marL="0" marR="0" algn="ctr" rtl="1">
                        <a:lnSpc>
                          <a:spcPct val="107000"/>
                        </a:lnSpc>
                        <a:spcBef>
                          <a:spcPts val="0"/>
                        </a:spcBef>
                        <a:spcAft>
                          <a:spcPts val="0"/>
                        </a:spcAft>
                      </a:pPr>
                      <a:r>
                        <a:rPr lang="ar-SA" sz="1800" b="1" dirty="0">
                          <a:solidFill>
                            <a:schemeClr val="bg1"/>
                          </a:solidFill>
                          <a:effectLst/>
                        </a:rPr>
                        <a:t>التوصية</a:t>
                      </a:r>
                      <a:endParaRPr lang="en-US" sz="1800" b="1" dirty="0">
                        <a:solidFill>
                          <a:schemeClr val="bg1"/>
                        </a:solidFill>
                        <a:effectLst/>
                        <a:latin typeface="Times New Roman" panose="02020603050405020304" pitchFamily="18" charset="0"/>
                        <a:ea typeface="Calibri" panose="020F0502020204030204" pitchFamily="34" charset="0"/>
                        <a:cs typeface="PT Bold Heading" panose="00000400000000000000" pitchFamily="2" charset="-78"/>
                      </a:endParaRPr>
                    </a:p>
                  </a:txBody>
                  <a:tcPr marL="62571" marR="6257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lvl1pPr marL="0" algn="l" rtl="0" eaLnBrk="1" latinLnBrk="0" hangingPunct="1">
                        <a:defRPr kumimoji="0" b="1" kern="1200">
                          <a:solidFill>
                            <a:schemeClr val="lt1"/>
                          </a:solidFill>
                          <a:latin typeface="Corbel" panose="020B0503020204020204"/>
                        </a:defRPr>
                      </a:lvl1pPr>
                      <a:lvl2pPr marL="457202" algn="l" rtl="0" eaLnBrk="1" latinLnBrk="0" hangingPunct="1">
                        <a:defRPr kumimoji="0" b="1" kern="1200">
                          <a:solidFill>
                            <a:schemeClr val="lt1"/>
                          </a:solidFill>
                          <a:latin typeface="Corbel" panose="020B0503020204020204"/>
                        </a:defRPr>
                      </a:lvl2pPr>
                      <a:lvl3pPr marL="914405" algn="l" rtl="0" eaLnBrk="1" latinLnBrk="0" hangingPunct="1">
                        <a:defRPr kumimoji="0" b="1" kern="1200">
                          <a:solidFill>
                            <a:schemeClr val="lt1"/>
                          </a:solidFill>
                          <a:latin typeface="Corbel" panose="020B0503020204020204"/>
                        </a:defRPr>
                      </a:lvl3pPr>
                      <a:lvl4pPr marL="1371607" algn="l" rtl="0" eaLnBrk="1" latinLnBrk="0" hangingPunct="1">
                        <a:defRPr kumimoji="0" b="1" kern="1200">
                          <a:solidFill>
                            <a:schemeClr val="lt1"/>
                          </a:solidFill>
                          <a:latin typeface="Corbel" panose="020B0503020204020204"/>
                        </a:defRPr>
                      </a:lvl4pPr>
                      <a:lvl5pPr marL="1828809" algn="l" rtl="0" eaLnBrk="1" latinLnBrk="0" hangingPunct="1">
                        <a:defRPr kumimoji="0" b="1" kern="1200">
                          <a:solidFill>
                            <a:schemeClr val="lt1"/>
                          </a:solidFill>
                          <a:latin typeface="Corbel" panose="020B0503020204020204"/>
                        </a:defRPr>
                      </a:lvl5pPr>
                      <a:lvl6pPr marL="2286011" algn="l" rtl="0" eaLnBrk="1" latinLnBrk="0" hangingPunct="1">
                        <a:defRPr kumimoji="0" b="1" kern="1200">
                          <a:solidFill>
                            <a:schemeClr val="lt1"/>
                          </a:solidFill>
                          <a:latin typeface="Corbel" panose="020B0503020204020204"/>
                        </a:defRPr>
                      </a:lvl6pPr>
                      <a:lvl7pPr marL="2743214" algn="l" rtl="0" eaLnBrk="1" latinLnBrk="0" hangingPunct="1">
                        <a:defRPr kumimoji="0" b="1" kern="1200">
                          <a:solidFill>
                            <a:schemeClr val="lt1"/>
                          </a:solidFill>
                          <a:latin typeface="Corbel" panose="020B0503020204020204"/>
                        </a:defRPr>
                      </a:lvl7pPr>
                      <a:lvl8pPr marL="3200416" algn="l" rtl="0" eaLnBrk="1" latinLnBrk="0" hangingPunct="1">
                        <a:defRPr kumimoji="0" b="1" kern="1200">
                          <a:solidFill>
                            <a:schemeClr val="lt1"/>
                          </a:solidFill>
                          <a:latin typeface="Corbel" panose="020B0503020204020204"/>
                        </a:defRPr>
                      </a:lvl8pPr>
                      <a:lvl9pPr marL="3657618" algn="l" rtl="0" eaLnBrk="1" latinLnBrk="0" hangingPunct="1">
                        <a:defRPr kumimoji="0" b="1" kern="1200">
                          <a:solidFill>
                            <a:schemeClr val="lt1"/>
                          </a:solidFill>
                          <a:latin typeface="Corbel" panose="020B0503020204020204"/>
                        </a:defRPr>
                      </a:lvl9pPr>
                    </a:lstStyle>
                    <a:p>
                      <a:pPr marL="0" marR="0" algn="ctr" rtl="1">
                        <a:lnSpc>
                          <a:spcPct val="107000"/>
                        </a:lnSpc>
                        <a:spcBef>
                          <a:spcPts val="0"/>
                        </a:spcBef>
                        <a:spcAft>
                          <a:spcPts val="0"/>
                        </a:spcAft>
                      </a:pPr>
                      <a:r>
                        <a:rPr lang="ar-SA" sz="1800" b="1" dirty="0">
                          <a:solidFill>
                            <a:schemeClr val="bg1"/>
                          </a:solidFill>
                          <a:effectLst/>
                        </a:rPr>
                        <a:t>جهة التنفيذ</a:t>
                      </a:r>
                      <a:endParaRPr lang="en-US" sz="1800" b="1" dirty="0">
                        <a:solidFill>
                          <a:schemeClr val="bg1"/>
                        </a:solidFill>
                        <a:effectLst/>
                        <a:latin typeface="Times New Roman" panose="02020603050405020304" pitchFamily="18" charset="0"/>
                        <a:ea typeface="Calibri" panose="020F0502020204030204" pitchFamily="34" charset="0"/>
                        <a:cs typeface="PT Bold Heading" panose="00000400000000000000" pitchFamily="2" charset="-78"/>
                      </a:endParaRPr>
                    </a:p>
                  </a:txBody>
                  <a:tcPr marL="62571" marR="6257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lvl1pPr marL="0" algn="l" rtl="0" eaLnBrk="1" latinLnBrk="0" hangingPunct="1">
                        <a:defRPr kumimoji="0" b="1" kern="1200">
                          <a:solidFill>
                            <a:schemeClr val="lt1"/>
                          </a:solidFill>
                          <a:latin typeface="Corbel" panose="020B0503020204020204"/>
                        </a:defRPr>
                      </a:lvl1pPr>
                      <a:lvl2pPr marL="457202" algn="l" rtl="0" eaLnBrk="1" latinLnBrk="0" hangingPunct="1">
                        <a:defRPr kumimoji="0" b="1" kern="1200">
                          <a:solidFill>
                            <a:schemeClr val="lt1"/>
                          </a:solidFill>
                          <a:latin typeface="Corbel" panose="020B0503020204020204"/>
                        </a:defRPr>
                      </a:lvl2pPr>
                      <a:lvl3pPr marL="914405" algn="l" rtl="0" eaLnBrk="1" latinLnBrk="0" hangingPunct="1">
                        <a:defRPr kumimoji="0" b="1" kern="1200">
                          <a:solidFill>
                            <a:schemeClr val="lt1"/>
                          </a:solidFill>
                          <a:latin typeface="Corbel" panose="020B0503020204020204"/>
                        </a:defRPr>
                      </a:lvl3pPr>
                      <a:lvl4pPr marL="1371607" algn="l" rtl="0" eaLnBrk="1" latinLnBrk="0" hangingPunct="1">
                        <a:defRPr kumimoji="0" b="1" kern="1200">
                          <a:solidFill>
                            <a:schemeClr val="lt1"/>
                          </a:solidFill>
                          <a:latin typeface="Corbel" panose="020B0503020204020204"/>
                        </a:defRPr>
                      </a:lvl4pPr>
                      <a:lvl5pPr marL="1828809" algn="l" rtl="0" eaLnBrk="1" latinLnBrk="0" hangingPunct="1">
                        <a:defRPr kumimoji="0" b="1" kern="1200">
                          <a:solidFill>
                            <a:schemeClr val="lt1"/>
                          </a:solidFill>
                          <a:latin typeface="Corbel" panose="020B0503020204020204"/>
                        </a:defRPr>
                      </a:lvl5pPr>
                      <a:lvl6pPr marL="2286011" algn="l" rtl="0" eaLnBrk="1" latinLnBrk="0" hangingPunct="1">
                        <a:defRPr kumimoji="0" b="1" kern="1200">
                          <a:solidFill>
                            <a:schemeClr val="lt1"/>
                          </a:solidFill>
                          <a:latin typeface="Corbel" panose="020B0503020204020204"/>
                        </a:defRPr>
                      </a:lvl6pPr>
                      <a:lvl7pPr marL="2743214" algn="l" rtl="0" eaLnBrk="1" latinLnBrk="0" hangingPunct="1">
                        <a:defRPr kumimoji="0" b="1" kern="1200">
                          <a:solidFill>
                            <a:schemeClr val="lt1"/>
                          </a:solidFill>
                          <a:latin typeface="Corbel" panose="020B0503020204020204"/>
                        </a:defRPr>
                      </a:lvl7pPr>
                      <a:lvl8pPr marL="3200416" algn="l" rtl="0" eaLnBrk="1" latinLnBrk="0" hangingPunct="1">
                        <a:defRPr kumimoji="0" b="1" kern="1200">
                          <a:solidFill>
                            <a:schemeClr val="lt1"/>
                          </a:solidFill>
                          <a:latin typeface="Corbel" panose="020B0503020204020204"/>
                        </a:defRPr>
                      </a:lvl8pPr>
                      <a:lvl9pPr marL="3657618" algn="l" rtl="0" eaLnBrk="1" latinLnBrk="0" hangingPunct="1">
                        <a:defRPr kumimoji="0" b="1" kern="1200">
                          <a:solidFill>
                            <a:schemeClr val="lt1"/>
                          </a:solidFill>
                          <a:latin typeface="Corbel" panose="020B0503020204020204"/>
                        </a:defRPr>
                      </a:lvl9pPr>
                    </a:lstStyle>
                    <a:p>
                      <a:pPr marL="0" marR="0" algn="ctr" rtl="1">
                        <a:lnSpc>
                          <a:spcPct val="107000"/>
                        </a:lnSpc>
                        <a:spcBef>
                          <a:spcPts val="0"/>
                        </a:spcBef>
                        <a:spcAft>
                          <a:spcPts val="0"/>
                        </a:spcAft>
                      </a:pPr>
                      <a:r>
                        <a:rPr lang="ar-SA" sz="1800" b="1" dirty="0">
                          <a:solidFill>
                            <a:schemeClr val="bg1"/>
                          </a:solidFill>
                          <a:effectLst/>
                        </a:rPr>
                        <a:t>آلية التنفيذ</a:t>
                      </a:r>
                      <a:endParaRPr lang="en-US" sz="1800" b="1" dirty="0">
                        <a:solidFill>
                          <a:schemeClr val="bg1"/>
                        </a:solidFill>
                        <a:effectLst/>
                        <a:latin typeface="Times New Roman" panose="02020603050405020304" pitchFamily="18" charset="0"/>
                        <a:ea typeface="Calibri" panose="020F0502020204030204" pitchFamily="34" charset="0"/>
                        <a:cs typeface="PT Bold Heading" panose="00000400000000000000" pitchFamily="2" charset="-78"/>
                      </a:endParaRPr>
                    </a:p>
                  </a:txBody>
                  <a:tcPr marL="62571" marR="6257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28468">
                <a:tc>
                  <a:txBody>
                    <a:bodyPr/>
                    <a:lstStyle/>
                    <a:p>
                      <a:pPr marL="438785" marR="0" indent="-347345" algn="ctr" rtl="1">
                        <a:lnSpc>
                          <a:spcPts val="2400"/>
                        </a:lnSpc>
                        <a:spcBef>
                          <a:spcPts val="0"/>
                        </a:spcBef>
                        <a:spcAft>
                          <a:spcPts val="0"/>
                        </a:spcAft>
                      </a:pPr>
                      <a:r>
                        <a:rPr lang="ar-EG" sz="1200" dirty="0">
                          <a:solidFill>
                            <a:schemeClr val="bg1"/>
                          </a:solidFill>
                          <a:effectLst/>
                          <a:latin typeface="Times New Roman" panose="02020603050405020304" pitchFamily="18" charset="0"/>
                          <a:cs typeface="Times New Roman" panose="02020603050405020304" pitchFamily="18" charset="0"/>
                        </a:rPr>
                        <a:t>1</a:t>
                      </a:r>
                      <a:endParaRPr lang="en-US" sz="1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347345" algn="r" rtl="1">
                        <a:lnSpc>
                          <a:spcPts val="2400"/>
                        </a:lnSpc>
                        <a:spcBef>
                          <a:spcPts val="0"/>
                        </a:spcBef>
                        <a:spcAft>
                          <a:spcPts val="0"/>
                        </a:spcAft>
                      </a:pPr>
                      <a:r>
                        <a:rPr lang="ar-EG" sz="1300" b="1" dirty="0">
                          <a:solidFill>
                            <a:schemeClr val="bg1"/>
                          </a:solidFill>
                          <a:effectLst/>
                          <a:latin typeface="Times New Roman" panose="02020603050405020304" pitchFamily="18" charset="0"/>
                          <a:cs typeface="Times New Roman" panose="02020603050405020304" pitchFamily="18" charset="0"/>
                        </a:rPr>
                        <a:t> تعزيز الحوافز المالية للمؤسسات التي تتبنى التمويل الأخضر</a:t>
                      </a:r>
                      <a:endParaRPr lang="en-US" sz="13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347345" algn="just" rtl="1">
                        <a:lnSpc>
                          <a:spcPts val="2400"/>
                        </a:lnSpc>
                        <a:spcBef>
                          <a:spcPts val="0"/>
                        </a:spcBef>
                        <a:spcAft>
                          <a:spcPts val="0"/>
                        </a:spcAft>
                      </a:pPr>
                      <a:r>
                        <a:rPr lang="ar-EG" sz="1300" b="1" dirty="0">
                          <a:solidFill>
                            <a:schemeClr val="bg1"/>
                          </a:solidFill>
                          <a:effectLst/>
                          <a:latin typeface="Times New Roman" panose="02020603050405020304" pitchFamily="18" charset="0"/>
                          <a:cs typeface="Times New Roman" panose="02020603050405020304" pitchFamily="18" charset="0"/>
                        </a:rPr>
                        <a:t>- - وزارة المالية </a:t>
                      </a:r>
                    </a:p>
                    <a:p>
                      <a:pPr marL="0" marR="0" indent="-347345" algn="just" rtl="1">
                        <a:lnSpc>
                          <a:spcPts val="2400"/>
                        </a:lnSpc>
                        <a:spcBef>
                          <a:spcPts val="0"/>
                        </a:spcBef>
                        <a:spcAft>
                          <a:spcPts val="0"/>
                        </a:spcAft>
                      </a:pPr>
                      <a:r>
                        <a:rPr lang="ar-EG" sz="1300" b="1" dirty="0">
                          <a:solidFill>
                            <a:schemeClr val="bg1"/>
                          </a:solidFill>
                          <a:effectLst/>
                          <a:latin typeface="Times New Roman" panose="02020603050405020304" pitchFamily="18" charset="0"/>
                          <a:cs typeface="Times New Roman" panose="02020603050405020304" pitchFamily="18" charset="0"/>
                        </a:rPr>
                        <a:t>- هيئة الاستثمار</a:t>
                      </a:r>
                    </a:p>
                    <a:p>
                      <a:pPr marL="0" marR="0" indent="-347345" algn="just" rtl="1">
                        <a:lnSpc>
                          <a:spcPts val="2400"/>
                        </a:lnSpc>
                        <a:spcBef>
                          <a:spcPts val="0"/>
                        </a:spcBef>
                        <a:spcAft>
                          <a:spcPts val="0"/>
                        </a:spcAft>
                      </a:pPr>
                      <a:r>
                        <a:rPr lang="ar-EG" sz="1300" b="1" dirty="0">
                          <a:solidFill>
                            <a:schemeClr val="bg1"/>
                          </a:solidFill>
                          <a:effectLst/>
                          <a:latin typeface="Times New Roman" panose="02020603050405020304" pitchFamily="18" charset="0"/>
                          <a:cs typeface="Times New Roman" panose="02020603050405020304" pitchFamily="18" charset="0"/>
                        </a:rPr>
                        <a:t>- وزارة البيئة</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347345" algn="r" rtl="1">
                        <a:lnSpc>
                          <a:spcPts val="2400"/>
                        </a:lnSpc>
                        <a:spcBef>
                          <a:spcPts val="0"/>
                        </a:spcBef>
                        <a:spcAft>
                          <a:spcPts val="0"/>
                        </a:spcAft>
                      </a:pPr>
                      <a:r>
                        <a:rPr lang="ar-SA" sz="1300" b="1" kern="1200" dirty="0">
                          <a:solidFill>
                            <a:schemeClr val="bg1"/>
                          </a:solidFill>
                          <a:effectLst/>
                          <a:latin typeface="Times New Roman" panose="02020603050405020304" pitchFamily="18" charset="0"/>
                          <a:ea typeface="+mn-ea"/>
                          <a:cs typeface="Times New Roman" panose="02020603050405020304" pitchFamily="18" charset="0"/>
                        </a:rPr>
                        <a:t>- تقديم إعفاءات ضريبية أو تخفيضات جمركية للمؤسسات التي تطبق معايير الاستدامة، وتخصيص منح حكومية لمشاريع الطاقة النظيفة</a:t>
                      </a:r>
                      <a:r>
                        <a:rPr lang="ar-SA" sz="1300" b="1" dirty="0">
                          <a:solidFill>
                            <a:schemeClr val="bg1"/>
                          </a:solidFill>
                          <a:effectLst/>
                          <a:latin typeface="Times New Roman" panose="02020603050405020304" pitchFamily="18" charset="0"/>
                          <a:cs typeface="Times New Roman" panose="02020603050405020304" pitchFamily="18"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28468">
                <a:tc>
                  <a:txBody>
                    <a:bodyPr/>
                    <a:lstStyle/>
                    <a:p>
                      <a:pPr marL="438785" marR="0" indent="-347345" algn="ctr" rtl="1">
                        <a:lnSpc>
                          <a:spcPts val="2400"/>
                        </a:lnSpc>
                        <a:spcBef>
                          <a:spcPts val="0"/>
                        </a:spcBef>
                        <a:spcAft>
                          <a:spcPts val="0"/>
                        </a:spcAft>
                      </a:pPr>
                      <a:r>
                        <a:rPr lang="ar-EG" sz="1200" dirty="0">
                          <a:solidFill>
                            <a:schemeClr val="bg1"/>
                          </a:solidFill>
                          <a:effectLst/>
                          <a:latin typeface="Times New Roman" panose="02020603050405020304" pitchFamily="18" charset="0"/>
                          <a:cs typeface="Times New Roman" panose="02020603050405020304" pitchFamily="18" charset="0"/>
                        </a:rPr>
                        <a:t>2</a:t>
                      </a:r>
                      <a:endParaRPr lang="en-US" sz="1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347345" algn="just" rtl="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إنشاء صندوق وطني لدعم المشروعات الخضراء الصغيرة والمتوسطة</a:t>
                      </a:r>
                      <a:endParaRPr lang="en-US" sz="13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347345" algn="just" defTabSz="457200" rtl="1" eaLnBrk="1" latinLnBrk="0" hangingPunct="1">
                        <a:lnSpc>
                          <a:spcPts val="2400"/>
                        </a:lnSpc>
                        <a:spcBef>
                          <a:spcPts val="0"/>
                        </a:spcBef>
                        <a:spcAft>
                          <a:spcPts val="0"/>
                        </a:spcAft>
                      </a:pPr>
                      <a:r>
                        <a:rPr lang="ar-SA" sz="1300" b="1" kern="1200" dirty="0">
                          <a:solidFill>
                            <a:schemeClr val="bg1"/>
                          </a:solidFill>
                          <a:effectLst/>
                          <a:latin typeface="Times New Roman" panose="02020603050405020304" pitchFamily="18" charset="0"/>
                          <a:ea typeface="+mn-ea"/>
                          <a:cs typeface="Times New Roman" panose="02020603050405020304" pitchFamily="18" charset="0"/>
                        </a:rPr>
                        <a:t>- البنك</a:t>
                      </a: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المركزي</a:t>
                      </a:r>
                    </a:p>
                    <a:p>
                      <a:pPr marL="0" marR="0" indent="-347345" algn="just" defTabSz="457200" rtl="1" eaLnBrk="1" latinLnBrk="0" hangingPunct="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جهاز تنمية المشروعات</a:t>
                      </a:r>
                    </a:p>
                    <a:p>
                      <a:pPr marL="0" marR="0" indent="-347345" algn="just" defTabSz="457200" rtl="1" eaLnBrk="1" latinLnBrk="0" hangingPunct="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وزارة التخطيط</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38785" marR="0" indent="-347345" algn="r" rtl="1">
                        <a:lnSpc>
                          <a:spcPts val="2400"/>
                        </a:lnSpc>
                        <a:spcBef>
                          <a:spcPts val="0"/>
                        </a:spcBef>
                        <a:spcAft>
                          <a:spcPts val="0"/>
                        </a:spcAft>
                      </a:pPr>
                      <a:r>
                        <a:rPr lang="ar-SA" sz="1300" b="1" kern="1200" dirty="0">
                          <a:solidFill>
                            <a:schemeClr val="bg1"/>
                          </a:solidFill>
                          <a:effectLst/>
                          <a:latin typeface="Times New Roman" panose="02020603050405020304" pitchFamily="18" charset="0"/>
                          <a:ea typeface="+mn-ea"/>
                          <a:cs typeface="Times New Roman" panose="02020603050405020304" pitchFamily="18" charset="0"/>
                        </a:rPr>
                        <a:t>- تأسيس صندوقيقدم قروضًا ميسرة للمشاريع الخضراء بالشراكة مع البنوك وربطه بمعايير تقييم بيئية ومالية واضحة.</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28468">
                <a:tc>
                  <a:txBody>
                    <a:bodyPr/>
                    <a:lstStyle/>
                    <a:p>
                      <a:pPr marL="438785" marR="0" indent="-347345" algn="ctr" rtl="1">
                        <a:lnSpc>
                          <a:spcPts val="2400"/>
                        </a:lnSpc>
                        <a:spcBef>
                          <a:spcPts val="0"/>
                        </a:spcBef>
                        <a:spcAft>
                          <a:spcPts val="0"/>
                        </a:spcAft>
                      </a:pPr>
                      <a:r>
                        <a:rPr lang="ar-EG" sz="1200" dirty="0">
                          <a:solidFill>
                            <a:schemeClr val="bg1"/>
                          </a:solidFill>
                          <a:effectLst/>
                          <a:latin typeface="Times New Roman" panose="02020603050405020304" pitchFamily="18" charset="0"/>
                          <a:cs typeface="Times New Roman" panose="02020603050405020304" pitchFamily="18" charset="0"/>
                        </a:rPr>
                        <a:t>3</a:t>
                      </a:r>
                      <a:endParaRPr lang="en-US" sz="1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38785" marR="0" indent="-347345" algn="just" rtl="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دمج معايير التمويل الأخضر ضمن سياسات الإقراض المصرفي	</a:t>
                      </a:r>
                      <a:endParaRPr lang="en-US" sz="13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347345" algn="just" defTabSz="457200" rtl="1" eaLnBrk="1" latinLnBrk="0" hangingPunct="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البنك المركزي</a:t>
                      </a:r>
                    </a:p>
                    <a:p>
                      <a:pPr marL="0" marR="0" indent="-347345" algn="just" defTabSz="457200" rtl="1" eaLnBrk="1" latinLnBrk="0" hangingPunct="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البنوك التجارية</a:t>
                      </a:r>
                    </a:p>
                    <a:p>
                      <a:pPr marL="0" marR="0" indent="-347345" algn="just" defTabSz="457200" rtl="1" eaLnBrk="1" latinLnBrk="0" hangingPunct="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اتحاد البنوك</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38785" marR="0" indent="-347345" algn="r" rtl="1">
                        <a:lnSpc>
                          <a:spcPts val="2400"/>
                        </a:lnSpc>
                        <a:spcBef>
                          <a:spcPts val="0"/>
                        </a:spcBef>
                        <a:spcAft>
                          <a:spcPts val="0"/>
                        </a:spcAft>
                      </a:pPr>
                      <a:r>
                        <a:rPr lang="ar-SA" sz="1300" b="1" kern="1200" dirty="0">
                          <a:solidFill>
                            <a:schemeClr val="bg1"/>
                          </a:solidFill>
                          <a:effectLst/>
                          <a:latin typeface="Times New Roman" panose="02020603050405020304" pitchFamily="18" charset="0"/>
                          <a:ea typeface="+mn-ea"/>
                          <a:cs typeface="Times New Roman" panose="02020603050405020304" pitchFamily="18" charset="0"/>
                        </a:rPr>
                        <a:t>- إلزام البنوك بتخصيص نسبة من القروض للمشاريع الخضراء وتقديم نماذج موحدة لتقييم الأثر البيئي.</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117426">
                <a:tc>
                  <a:txBody>
                    <a:bodyPr/>
                    <a:lstStyle/>
                    <a:p>
                      <a:pPr marL="91440" marR="0" algn="ctr" rtl="1">
                        <a:lnSpc>
                          <a:spcPts val="2400"/>
                        </a:lnSpc>
                        <a:spcBef>
                          <a:spcPts val="0"/>
                        </a:spcBef>
                        <a:spcAft>
                          <a:spcPts val="0"/>
                        </a:spcAft>
                      </a:pPr>
                      <a:r>
                        <a:rPr lang="ar-EG" sz="1200" dirty="0">
                          <a:solidFill>
                            <a:schemeClr val="bg1"/>
                          </a:solidFill>
                          <a:effectLst/>
                          <a:latin typeface="Times New Roman" panose="02020603050405020304" pitchFamily="18" charset="0"/>
                          <a:cs typeface="Times New Roman" panose="02020603050405020304" pitchFamily="18" charset="0"/>
                        </a:rPr>
                        <a:t>4</a:t>
                      </a:r>
                      <a:endParaRPr lang="en-US" sz="1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347345" algn="r" defTabSz="457200" rtl="1" eaLnBrk="1" latinLnBrk="0" hangingPunct="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تحفيز التعاون بين القطاعين العام والخاص في الحلول الرقمية للتنمية المستدامة	</a:t>
                      </a:r>
                      <a:endParaRPr lang="en-US" sz="13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347345" algn="just" defTabSz="457200" rtl="1" eaLnBrk="1" latinLnBrk="0" hangingPunct="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شركات التكنولوجيا</a:t>
                      </a:r>
                    </a:p>
                    <a:p>
                      <a:pPr marL="0" marR="0" indent="-347345" algn="just" defTabSz="457200" rtl="1" eaLnBrk="1" latinLnBrk="0" hangingPunct="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القطاع الخاص</a:t>
                      </a:r>
                    </a:p>
                    <a:p>
                      <a:pPr marL="0" marR="0" indent="-347345" algn="just" defTabSz="457200" rtl="1" eaLnBrk="1" latinLnBrk="0" hangingPunct="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شركات التنمية الدولية</a:t>
                      </a:r>
                    </a:p>
                    <a:p>
                      <a:pPr marL="0" marR="0" indent="-347345" algn="just" defTabSz="457200" rtl="1" eaLnBrk="1" latinLnBrk="0" hangingPunct="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-وزارة لإتصالات</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38785" marR="0" indent="-347345" algn="r" rtl="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إطلاق مبادرات مشتركة بين الحكومة وشركات التكنولوجيا والبنوك لتطوير حلول مبتكرة في قطاعات مثل النقل المستدام، إدارة النفايات، والمياه، مع إشراك المجتمع المدني في التخطيط والتنفيذ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803987">
                <a:tc>
                  <a:txBody>
                    <a:bodyPr/>
                    <a:lstStyle/>
                    <a:p>
                      <a:pPr marL="91440" marR="0" algn="ctr" rtl="1">
                        <a:lnSpc>
                          <a:spcPts val="2400"/>
                        </a:lnSpc>
                        <a:spcBef>
                          <a:spcPts val="0"/>
                        </a:spcBef>
                        <a:spcAft>
                          <a:spcPts val="0"/>
                        </a:spcAft>
                      </a:pPr>
                      <a:r>
                        <a:rPr lang="ar-SA" sz="1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US" sz="1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1440" marR="0" algn="just" rtl="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تشجيع إصدار السندات والصكوك الخضراء في السوق المصري	</a:t>
                      </a:r>
                      <a:endParaRPr lang="en-US" sz="13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347345" algn="just" defTabSz="457200" rtl="1" eaLnBrk="1" latinLnBrk="0" hangingPunct="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هيئة الرقابة المالية</a:t>
                      </a:r>
                    </a:p>
                    <a:p>
                      <a:pPr marL="0" marR="0" indent="-347345" algn="just" defTabSz="457200" rtl="1" eaLnBrk="1" latinLnBrk="0" hangingPunct="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البورصة</a:t>
                      </a:r>
                    </a:p>
                    <a:p>
                      <a:pPr marL="0" marR="0" indent="-347345" algn="just" defTabSz="457200" rtl="1" eaLnBrk="1" latinLnBrk="0" hangingPunct="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وزارة المالية</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38785" marR="0" indent="-347345" algn="r" rtl="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تقديم حوافز وتبسيط إجراءات إصدار هذه الأدوات، ودعم ترويجها للمستثمرين المحليين والدوليين.</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323277"/>
                  </a:ext>
                </a:extLst>
              </a:tr>
              <a:tr h="1117426">
                <a:tc>
                  <a:txBody>
                    <a:bodyPr/>
                    <a:lstStyle/>
                    <a:p>
                      <a:pPr marL="91440" marR="0" algn="ctr" rtl="1">
                        <a:lnSpc>
                          <a:spcPts val="2400"/>
                        </a:lnSpc>
                        <a:spcBef>
                          <a:spcPts val="0"/>
                        </a:spcBef>
                        <a:spcAft>
                          <a:spcPts val="0"/>
                        </a:spcAft>
                      </a:pPr>
                      <a:r>
                        <a:rPr lang="ar-SA" sz="1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6</a:t>
                      </a:r>
                      <a:endParaRPr lang="en-US" sz="1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1440" marR="0" algn="r" rtl="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إدراج مبادئ التمويل الأخضر ضمن المناهج الجامعية والتدريب المهني	</a:t>
                      </a:r>
                      <a:endParaRPr lang="en-US" sz="13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1440" marR="0" algn="just" rtl="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المجلس الأعلى للجامعات </a:t>
                      </a:r>
                    </a:p>
                    <a:p>
                      <a:pPr marL="91440" marR="0" algn="just" rtl="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المعاهد المصرفية </a:t>
                      </a:r>
                    </a:p>
                    <a:p>
                      <a:pPr marL="91440" marR="0" algn="just" rtl="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وزارة التعليم</a:t>
                      </a:r>
                    </a:p>
                    <a:p>
                      <a:pPr marL="91440" marR="0" algn="just" rtl="1">
                        <a:lnSpc>
                          <a:spcPts val="2400"/>
                        </a:lnSpc>
                        <a:spcBef>
                          <a:spcPts val="0"/>
                        </a:spcBef>
                        <a:spcAft>
                          <a:spcPts val="0"/>
                        </a:spcAft>
                      </a:pPr>
                      <a:endParaRPr lang="ar-EG" sz="1300" b="1" kern="1200" dirty="0">
                        <a:solidFill>
                          <a:schemeClr val="bg1"/>
                        </a:solidFill>
                        <a:effectLst/>
                        <a:latin typeface="Times New Roman" panose="02020603050405020304" pitchFamily="18" charset="0"/>
                        <a:ea typeface="+mn-ea"/>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38785" marR="0" indent="-347345" algn="r" rtl="1">
                        <a:lnSpc>
                          <a:spcPts val="2400"/>
                        </a:lnSpc>
                        <a:spcBef>
                          <a:spcPts val="0"/>
                        </a:spcBef>
                        <a:spcAft>
                          <a:spcPts val="0"/>
                        </a:spcAft>
                      </a:pPr>
                      <a:r>
                        <a:rPr lang="ar-EG" sz="1300" b="1" kern="1200" dirty="0">
                          <a:solidFill>
                            <a:schemeClr val="bg1"/>
                          </a:solidFill>
                          <a:effectLst/>
                          <a:latin typeface="Times New Roman" panose="02020603050405020304" pitchFamily="18" charset="0"/>
                          <a:ea typeface="+mn-ea"/>
                          <a:cs typeface="Times New Roman" panose="02020603050405020304" pitchFamily="18" charset="0"/>
                        </a:rPr>
                        <a:t>- إدراج وحدات دراسية حول التمويل المستدام، وتوفير تدريب مهني للمصرفيين ومديري الشركات.</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6307613"/>
                  </a:ext>
                </a:extLst>
              </a:tr>
            </a:tbl>
          </a:graphicData>
        </a:graphic>
      </p:graphicFrame>
    </p:spTree>
    <p:extLst>
      <p:ext uri="{BB962C8B-B14F-4D97-AF65-F5344CB8AC3E}">
        <p14:creationId xmlns:p14="http://schemas.microsoft.com/office/powerpoint/2010/main" val="4158774278"/>
      </p:ext>
    </p:extLst>
  </p:cSld>
  <p:clrMapOvr>
    <a:masterClrMapping/>
  </p:clrMapOvr>
  <mc:AlternateContent xmlns:mc="http://schemas.openxmlformats.org/markup-compatibility/2006" xmlns:p14="http://schemas.microsoft.com/office/powerpoint/2010/main">
    <mc:Choice Requires="p14">
      <p:transition spd="slow" p14:dur="1600">
        <p14:conveyor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5DFF1CB-9802-1E45-D95B-33D2BA3FA643}"/>
              </a:ext>
            </a:extLst>
          </p:cNvPr>
          <p:cNvSpPr txBox="1"/>
          <p:nvPr/>
        </p:nvSpPr>
        <p:spPr>
          <a:xfrm>
            <a:off x="0" y="225559"/>
            <a:ext cx="12175435" cy="6406882"/>
          </a:xfrm>
          <a:prstGeom prst="rect">
            <a:avLst/>
          </a:prstGeom>
          <a:noFill/>
        </p:spPr>
        <p:txBody>
          <a:bodyPr wrap="square">
            <a:spAutoFit/>
          </a:bodyPr>
          <a:lstStyle/>
          <a:p>
            <a:pPr algn="ctr" rtl="1">
              <a:lnSpc>
                <a:spcPts val="2300"/>
              </a:lnSpc>
            </a:pPr>
            <a:r>
              <a:rPr lang="ar-SA" sz="4800" dirty="0">
                <a:solidFill>
                  <a:srgbClr val="FF0000"/>
                </a:solidFill>
                <a:latin typeface="Calibri" panose="020F0502020204030204" pitchFamily="34" charset="0"/>
                <a:ea typeface="Calibri" panose="020F0502020204030204" pitchFamily="34" charset="0"/>
                <a:cs typeface="Andalus" panose="02020603050405020304" pitchFamily="18" charset="-78"/>
              </a:rPr>
              <a:t>شكر وتقدير</a:t>
            </a:r>
            <a:endParaRPr lang="ar-EG" sz="4800" dirty="0">
              <a:solidFill>
                <a:srgbClr val="FF0000"/>
              </a:solidFill>
              <a:latin typeface="Calibri" panose="020F0502020204030204" pitchFamily="34" charset="0"/>
              <a:ea typeface="Calibri" panose="020F0502020204030204" pitchFamily="34" charset="0"/>
              <a:cs typeface="Andalus" panose="02020603050405020304" pitchFamily="18" charset="-78"/>
            </a:endParaRPr>
          </a:p>
          <a:p>
            <a:pPr algn="ctr" rtl="1">
              <a:lnSpc>
                <a:spcPts val="2300"/>
              </a:lnSpc>
            </a:pPr>
            <a:endParaRPr lang="en-US" sz="1100" dirty="0">
              <a:latin typeface="Calibri" panose="020F0502020204030204" pitchFamily="34" charset="0"/>
              <a:ea typeface="Calibri" panose="020F0502020204030204" pitchFamily="34" charset="0"/>
              <a:cs typeface="Arial" panose="020B0604020202020204" pitchFamily="34" charset="0"/>
            </a:endParaRPr>
          </a:p>
          <a:p>
            <a:pPr indent="356616" algn="justLow" rtl="1"/>
            <a:r>
              <a:rPr lang="ar-EG" sz="2400" b="1" dirty="0">
                <a:latin typeface="Times New Roman" panose="02020603050405020304" pitchFamily="18" charset="0"/>
                <a:ea typeface="Calibri" panose="020F0502020204030204" pitchFamily="34" charset="0"/>
                <a:cs typeface="Times New Roman" panose="02020603050405020304" pitchFamily="18" charset="0"/>
              </a:rPr>
              <a:t> </a:t>
            </a:r>
            <a:r>
              <a:rPr lang="ar-EG" sz="2000" b="1" dirty="0">
                <a:latin typeface="Times New Roman" panose="02020603050405020304" pitchFamily="18" charset="0"/>
                <a:ea typeface="Calibri" panose="020F0502020204030204" pitchFamily="34" charset="0"/>
                <a:cs typeface="Times New Roman" panose="02020603050405020304" pitchFamily="18" charset="0"/>
              </a:rPr>
              <a:t>الحمد لله والشكر له كما ينبغي لجلال وجهه وعظيم سلطانه عدد خلقه ورضا نفسه وزنة عرشه ومداد كلماته ونحمد الله حمدا وشكرا وتعظيما أن هدانا ويسر لنا أمرنا وأعاننا على إنجاز هذه الرسالة ، وما توفيقنا إلا بالله الذي علم الإنسان مالم يعلم، </a:t>
            </a:r>
            <a:r>
              <a:rPr lang="ar-SA" sz="2000" b="1" dirty="0">
                <a:latin typeface="Times New Roman" panose="02020603050405020304" pitchFamily="18" charset="0"/>
                <a:ea typeface="Calibri" panose="020F0502020204030204" pitchFamily="34" charset="0"/>
                <a:cs typeface="Times New Roman" panose="02020603050405020304" pitchFamily="18" charset="0"/>
              </a:rPr>
              <a:t>والصلاة والسلام على أفضل الخلق وسيد المرسلين سيدنا محمد وعلى آلة وصحبه وسلم ومن إهتدى بهديه إلى يوم الدين.</a:t>
            </a:r>
            <a:r>
              <a:rPr lang="ar-EG" sz="2000" b="1" dirty="0">
                <a:latin typeface="Times New Roman" panose="02020603050405020304" pitchFamily="18" charset="0"/>
                <a:ea typeface="Calibri" panose="020F0502020204030204" pitchFamily="34" charset="0"/>
                <a:cs typeface="Times New Roman" panose="02020603050405020304" pitchFamily="18" charset="0"/>
              </a:rPr>
              <a:t>، </a:t>
            </a:r>
            <a:r>
              <a:rPr lang="ar-SA" sz="2000" b="1" dirty="0">
                <a:latin typeface="Times New Roman" panose="02020603050405020304" pitchFamily="18" charset="0"/>
                <a:ea typeface="Calibri" panose="020F0502020204030204" pitchFamily="34" charset="0"/>
                <a:cs typeface="Times New Roman" panose="02020603050405020304" pitchFamily="18" charset="0"/>
              </a:rPr>
              <a:t>وإهتداء بهدى النبي صلى الله عليه وسلم في قوله " من لم يشكر الناس لم يشكر الله "</a:t>
            </a:r>
            <a:endParaRPr lang="ar-EG" sz="2000" b="1" dirty="0">
              <a:latin typeface="Times New Roman" panose="02020603050405020304" pitchFamily="18" charset="0"/>
              <a:ea typeface="Calibri" panose="020F0502020204030204" pitchFamily="34" charset="0"/>
              <a:cs typeface="Times New Roman" panose="02020603050405020304" pitchFamily="18" charset="0"/>
            </a:endParaRPr>
          </a:p>
          <a:p>
            <a:pPr algn="justLow" rtl="1"/>
            <a:endParaRPr lang="en-US" sz="1600" b="1" dirty="0">
              <a:latin typeface="Times New Roman" panose="02020603050405020304" pitchFamily="18" charset="0"/>
              <a:ea typeface="Calibri" panose="020F0502020204030204" pitchFamily="34" charset="0"/>
              <a:cs typeface="Times New Roman" panose="02020603050405020304" pitchFamily="18" charset="0"/>
            </a:endParaRPr>
          </a:p>
          <a:p>
            <a:pPr indent="356616" algn="justLow" rtl="1"/>
            <a:r>
              <a:rPr lang="ar-SA" sz="2000" b="1" dirty="0">
                <a:latin typeface="Times New Roman" panose="02020603050405020304" pitchFamily="18" charset="0"/>
                <a:ea typeface="Calibri" panose="020F0502020204030204" pitchFamily="34" charset="0"/>
                <a:cs typeface="Times New Roman" panose="02020603050405020304" pitchFamily="18" charset="0"/>
              </a:rPr>
              <a:t>نتقدم بجزيل الشكر والإمتنان والعرفان لكل من ساهم في إنجاز هذه الرسالة ونخص بالذكر الدكتور / </a:t>
            </a:r>
            <a:r>
              <a:rPr lang="ar-SA" sz="2000" dirty="0">
                <a:solidFill>
                  <a:srgbClr val="FF0000"/>
                </a:solidFill>
                <a:latin typeface="Times New Roman" panose="02020603050405020304" pitchFamily="18" charset="0"/>
                <a:cs typeface="PT Bold Heading" panose="00000400000000000000" pitchFamily="2" charset="-78"/>
              </a:rPr>
              <a:t>سامح عبد المنعم سراج </a:t>
            </a:r>
            <a:r>
              <a:rPr lang="ar-SA" sz="2000" b="1" dirty="0">
                <a:latin typeface="Times New Roman" panose="02020603050405020304" pitchFamily="18" charset="0"/>
                <a:ea typeface="Calibri" panose="020F0502020204030204" pitchFamily="34" charset="0"/>
                <a:cs typeface="Times New Roman" panose="02020603050405020304" pitchFamily="18" charset="0"/>
              </a:rPr>
              <a:t>– المدرس بقسم إدارة </a:t>
            </a:r>
            <a:r>
              <a:rPr lang="ar-EG" sz="2000" b="1" dirty="0">
                <a:latin typeface="Times New Roman" panose="02020603050405020304" pitchFamily="18" charset="0"/>
                <a:ea typeface="Calibri" panose="020F0502020204030204" pitchFamily="34" charset="0"/>
                <a:cs typeface="Times New Roman" panose="02020603050405020304" pitchFamily="18" charset="0"/>
              </a:rPr>
              <a:t>الأعمال </a:t>
            </a:r>
            <a:r>
              <a:rPr lang="ar-SA" sz="2000" b="1" dirty="0">
                <a:latin typeface="Times New Roman" panose="02020603050405020304" pitchFamily="18" charset="0"/>
                <a:ea typeface="Calibri" panose="020F0502020204030204" pitchFamily="34" charset="0"/>
                <a:cs typeface="Times New Roman" panose="02020603050405020304" pitchFamily="18" charset="0"/>
              </a:rPr>
              <a:t>– كلية التجارة – جامعة طنطا</a:t>
            </a:r>
            <a:r>
              <a:rPr lang="ar-EG" sz="2000" b="1" dirty="0">
                <a:latin typeface="Times New Roman" panose="02020603050405020304" pitchFamily="18" charset="0"/>
                <a:ea typeface="Calibri" panose="020F0502020204030204" pitchFamily="34" charset="0"/>
                <a:cs typeface="Times New Roman" panose="02020603050405020304" pitchFamily="18" charset="0"/>
              </a:rPr>
              <a:t> </a:t>
            </a:r>
            <a:r>
              <a:rPr lang="ar-SA" sz="2000" b="1" dirty="0">
                <a:latin typeface="Times New Roman" panose="02020603050405020304" pitchFamily="18" charset="0"/>
                <a:ea typeface="Calibri" panose="020F0502020204030204" pitchFamily="34" charset="0"/>
                <a:cs typeface="Times New Roman" panose="02020603050405020304" pitchFamily="18" charset="0"/>
              </a:rPr>
              <a:t>،</a:t>
            </a:r>
            <a:r>
              <a:rPr lang="ar-EG" sz="2000" b="1" dirty="0">
                <a:latin typeface="Times New Roman" panose="02020603050405020304" pitchFamily="18" charset="0"/>
                <a:ea typeface="Calibri" panose="020F0502020204030204" pitchFamily="34" charset="0"/>
                <a:cs typeface="Times New Roman" panose="02020603050405020304" pitchFamily="18" charset="0"/>
              </a:rPr>
              <a:t>على ما قدمه لنا من عون صادق، فلم يبخل علينا بعلمه وتوجيهاته وجهده ووقته أثناء الإشراف على البحث، كما كان لمساندته المعنوية عظيم الأثر على إستمرارنا وتقدمنا العلمى.</a:t>
            </a:r>
          </a:p>
          <a:p>
            <a:pPr algn="justLow" rtl="1"/>
            <a:endParaRPr lang="en-US" sz="1600" b="1" dirty="0">
              <a:latin typeface="Times New Roman" panose="02020603050405020304" pitchFamily="18" charset="0"/>
              <a:ea typeface="Calibri" panose="020F0502020204030204" pitchFamily="34" charset="0"/>
              <a:cs typeface="Times New Roman" panose="02020603050405020304" pitchFamily="18" charset="0"/>
            </a:endParaRPr>
          </a:p>
          <a:p>
            <a:pPr indent="356616" algn="justLow" rtl="1"/>
            <a:r>
              <a:rPr lang="ar-SA" sz="2000" b="1" dirty="0">
                <a:latin typeface="Times New Roman" panose="02020603050405020304" pitchFamily="18" charset="0"/>
                <a:ea typeface="Calibri" panose="020F0502020204030204" pitchFamily="34" charset="0"/>
                <a:cs typeface="Times New Roman" panose="02020603050405020304" pitchFamily="18" charset="0"/>
              </a:rPr>
              <a:t>كما </a:t>
            </a:r>
            <a:r>
              <a:rPr lang="ar-EG" sz="2000" b="1" dirty="0">
                <a:latin typeface="Times New Roman" panose="02020603050405020304" pitchFamily="18" charset="0"/>
                <a:ea typeface="Calibri" panose="020F0502020204030204" pitchFamily="34" charset="0"/>
                <a:cs typeface="Times New Roman" panose="02020603050405020304" pitchFamily="18" charset="0"/>
              </a:rPr>
              <a:t>نتوجه</a:t>
            </a:r>
            <a:r>
              <a:rPr lang="ar-SA" sz="2000" b="1" dirty="0">
                <a:latin typeface="Times New Roman" panose="02020603050405020304" pitchFamily="18" charset="0"/>
                <a:ea typeface="Calibri" panose="020F0502020204030204" pitchFamily="34" charset="0"/>
                <a:cs typeface="Times New Roman" panose="02020603050405020304" pitchFamily="18" charset="0"/>
              </a:rPr>
              <a:t> بجزيل الشكر والتقدير والعرفان إلى لجنة المناقشة الأستاذ الدكتور / </a:t>
            </a:r>
            <a:r>
              <a:rPr lang="ar-EG" sz="2000" dirty="0">
                <a:solidFill>
                  <a:srgbClr val="FF0000"/>
                </a:solidFill>
                <a:latin typeface="Times New Roman" panose="02020603050405020304" pitchFamily="18" charset="0"/>
                <a:cs typeface="PT Bold Heading" panose="00000400000000000000" pitchFamily="2" charset="-78"/>
              </a:rPr>
              <a:t>طارق رضوان محمد رضوان </a:t>
            </a:r>
            <a:r>
              <a:rPr lang="ar-EG" sz="2000" dirty="0">
                <a:latin typeface="Times New Roman" panose="02020603050405020304" pitchFamily="18" charset="0"/>
                <a:cs typeface="PT Bold Heading" panose="00000400000000000000" pitchFamily="2" charset="-78"/>
              </a:rPr>
              <a:t>-</a:t>
            </a:r>
            <a:r>
              <a:rPr lang="ar-EG" sz="2000" dirty="0">
                <a:solidFill>
                  <a:srgbClr val="FFFF00"/>
                </a:solidFill>
                <a:latin typeface="Times New Roman" panose="02020603050405020304" pitchFamily="18" charset="0"/>
                <a:cs typeface="PT Bold Heading" panose="00000400000000000000" pitchFamily="2" charset="-78"/>
              </a:rPr>
              <a:t> </a:t>
            </a:r>
            <a:r>
              <a:rPr lang="ar-EG" sz="2000" b="1" dirty="0">
                <a:latin typeface="Times New Roman" panose="02020603050405020304" pitchFamily="18" charset="0"/>
                <a:ea typeface="Calibri" panose="020F0502020204030204" pitchFamily="34" charset="0"/>
                <a:cs typeface="Times New Roman" panose="02020603050405020304" pitchFamily="18" charset="0"/>
              </a:rPr>
              <a:t>أستاذ إدارة الموارد البشرية ووكيل الكلية لشئون التعليم والطلاب- كلية التجارة </a:t>
            </a:r>
            <a:r>
              <a:rPr lang="ar-SA" sz="2000" b="1" dirty="0">
                <a:latin typeface="Times New Roman" panose="02020603050405020304" pitchFamily="18" charset="0"/>
                <a:ea typeface="Calibri" panose="020F0502020204030204" pitchFamily="34" charset="0"/>
                <a:cs typeface="Times New Roman" panose="02020603050405020304" pitchFamily="18" charset="0"/>
              </a:rPr>
              <a:t>-</a:t>
            </a:r>
            <a:r>
              <a:rPr lang="ar-EG" sz="2000" b="1" dirty="0">
                <a:latin typeface="Times New Roman" panose="02020603050405020304" pitchFamily="18" charset="0"/>
                <a:ea typeface="Calibri" panose="020F0502020204030204" pitchFamily="34" charset="0"/>
                <a:cs typeface="Times New Roman" panose="02020603050405020304" pitchFamily="18" charset="0"/>
              </a:rPr>
              <a:t> </a:t>
            </a:r>
            <a:r>
              <a:rPr lang="ar-SA" sz="2000" b="1" dirty="0">
                <a:latin typeface="Times New Roman" panose="02020603050405020304" pitchFamily="18" charset="0"/>
                <a:ea typeface="Calibri" panose="020F0502020204030204" pitchFamily="34" charset="0"/>
                <a:cs typeface="Times New Roman" panose="02020603050405020304" pitchFamily="18" charset="0"/>
              </a:rPr>
              <a:t>جامعة طنطا، </a:t>
            </a:r>
            <a:r>
              <a:rPr lang="ar-EG" sz="2000" b="1" dirty="0">
                <a:latin typeface="Times New Roman" panose="02020603050405020304" pitchFamily="18" charset="0"/>
                <a:ea typeface="Calibri" panose="020F0502020204030204" pitchFamily="34" charset="0"/>
                <a:cs typeface="Times New Roman" panose="02020603050405020304" pitchFamily="18" charset="0"/>
              </a:rPr>
              <a:t>وكذلك </a:t>
            </a:r>
            <a:r>
              <a:rPr lang="ar-SA" sz="2000" b="1" dirty="0">
                <a:latin typeface="Times New Roman" panose="02020603050405020304" pitchFamily="18" charset="0"/>
                <a:ea typeface="Calibri" panose="020F0502020204030204" pitchFamily="34" charset="0"/>
                <a:cs typeface="Times New Roman" panose="02020603050405020304" pitchFamily="18" charset="0"/>
              </a:rPr>
              <a:t>الأستاذ </a:t>
            </a:r>
            <a:r>
              <a:rPr lang="ar-EG" sz="2000" b="1" dirty="0">
                <a:latin typeface="Times New Roman" panose="02020603050405020304" pitchFamily="18" charset="0"/>
                <a:ea typeface="Calibri" panose="020F0502020204030204" pitchFamily="34" charset="0"/>
                <a:cs typeface="Times New Roman" panose="02020603050405020304" pitchFamily="18" charset="0"/>
              </a:rPr>
              <a:t>الدكتور/  </a:t>
            </a:r>
            <a:r>
              <a:rPr lang="ar-SA" sz="2000" dirty="0">
                <a:solidFill>
                  <a:srgbClr val="FF0000"/>
                </a:solidFill>
                <a:latin typeface="Times New Roman" panose="02020603050405020304" pitchFamily="18" charset="0"/>
                <a:cs typeface="PT Bold Heading" panose="00000400000000000000" pitchFamily="2" charset="-78"/>
              </a:rPr>
              <a:t>رمضان السيد معن </a:t>
            </a:r>
            <a:r>
              <a:rPr lang="ar-EG" sz="2000" b="1" dirty="0">
                <a:latin typeface="Times New Roman" panose="02020603050405020304" pitchFamily="18" charset="0"/>
                <a:ea typeface="Calibri" panose="020F0502020204030204" pitchFamily="34" charset="0"/>
                <a:cs typeface="Times New Roman" panose="02020603050405020304" pitchFamily="18" charset="0"/>
              </a:rPr>
              <a:t>-</a:t>
            </a:r>
            <a:r>
              <a:rPr lang="ar-SA" sz="2000" b="1" dirty="0">
                <a:latin typeface="Times New Roman" panose="02020603050405020304" pitchFamily="18" charset="0"/>
                <a:ea typeface="Calibri" panose="020F0502020204030204" pitchFamily="34" charset="0"/>
                <a:cs typeface="Times New Roman" panose="02020603050405020304" pitchFamily="18" charset="0"/>
              </a:rPr>
              <a:t> الأستاذ</a:t>
            </a:r>
            <a:r>
              <a:rPr lang="ar-EG" sz="2000" b="1" dirty="0">
                <a:latin typeface="Times New Roman" panose="02020603050405020304" pitchFamily="18" charset="0"/>
                <a:ea typeface="Calibri" panose="020F0502020204030204" pitchFamily="34" charset="0"/>
                <a:cs typeface="Times New Roman" panose="02020603050405020304" pitchFamily="18" charset="0"/>
              </a:rPr>
              <a:t> بقسم </a:t>
            </a:r>
            <a:r>
              <a:rPr lang="ar-SA" sz="2000" b="1" dirty="0">
                <a:latin typeface="Times New Roman" panose="02020603050405020304" pitchFamily="18" charset="0"/>
                <a:ea typeface="Calibri" panose="020F0502020204030204" pitchFamily="34" charset="0"/>
                <a:cs typeface="Times New Roman" panose="02020603050405020304" pitchFamily="18" charset="0"/>
              </a:rPr>
              <a:t>الإاقتصاد والمالية العامة </a:t>
            </a:r>
            <a:r>
              <a:rPr lang="ar-EG" sz="2000" b="1" dirty="0">
                <a:latin typeface="Times New Roman" panose="02020603050405020304" pitchFamily="18" charset="0"/>
                <a:ea typeface="Calibri" panose="020F0502020204030204" pitchFamily="34" charset="0"/>
                <a:cs typeface="Times New Roman" panose="02020603050405020304" pitchFamily="18" charset="0"/>
              </a:rPr>
              <a:t>– كلية التجارة</a:t>
            </a:r>
            <a:r>
              <a:rPr lang="ar-SA" sz="2000" b="1" dirty="0">
                <a:latin typeface="Times New Roman" panose="02020603050405020304" pitchFamily="18" charset="0"/>
                <a:ea typeface="Calibri" panose="020F0502020204030204" pitchFamily="34" charset="0"/>
                <a:cs typeface="Times New Roman" panose="02020603050405020304" pitchFamily="18" charset="0"/>
              </a:rPr>
              <a:t> </a:t>
            </a:r>
            <a:r>
              <a:rPr lang="ar-EG" sz="2000" b="1" dirty="0">
                <a:latin typeface="Times New Roman" panose="02020603050405020304" pitchFamily="18" charset="0"/>
                <a:ea typeface="Calibri" panose="020F0502020204030204" pitchFamily="34" charset="0"/>
                <a:cs typeface="Times New Roman" panose="02020603050405020304" pitchFamily="18" charset="0"/>
              </a:rPr>
              <a:t>- جامعة طنطا، </a:t>
            </a:r>
            <a:r>
              <a:rPr lang="ar-SA" sz="2000" b="1" dirty="0">
                <a:latin typeface="Times New Roman" panose="02020603050405020304" pitchFamily="18" charset="0"/>
                <a:ea typeface="Calibri" panose="020F0502020204030204" pitchFamily="34" charset="0"/>
                <a:cs typeface="Times New Roman" panose="02020603050405020304" pitchFamily="18" charset="0"/>
              </a:rPr>
              <a:t>لتكرم سيادتهم بالإشتراك في لجنة المناقشة والحكم على مشروع البحث، فلهم منا جزيل الشكر وعظيم الإمتنان، وجزاهم الله عنا خير الجزاء.</a:t>
            </a:r>
            <a:endParaRPr lang="ar-EG" sz="2000" b="1" dirty="0">
              <a:latin typeface="Times New Roman" panose="02020603050405020304" pitchFamily="18" charset="0"/>
              <a:ea typeface="Calibri" panose="020F0502020204030204" pitchFamily="34" charset="0"/>
              <a:cs typeface="Times New Roman" panose="02020603050405020304" pitchFamily="18" charset="0"/>
            </a:endParaRPr>
          </a:p>
          <a:p>
            <a:pPr algn="r" rtl="1"/>
            <a:endParaRPr lang="en-US" sz="1600" b="1" dirty="0">
              <a:latin typeface="Times New Roman" panose="02020603050405020304" pitchFamily="18" charset="0"/>
              <a:ea typeface="Calibri" panose="020F0502020204030204" pitchFamily="34" charset="0"/>
              <a:cs typeface="Times New Roman" panose="02020603050405020304" pitchFamily="18" charset="0"/>
            </a:endParaRPr>
          </a:p>
          <a:p>
            <a:pPr indent="356616" algn="justLow" rtl="1"/>
            <a:r>
              <a:rPr lang="ar-SA" sz="2000" b="1" dirty="0">
                <a:latin typeface="Times New Roman" panose="02020603050405020304" pitchFamily="18" charset="0"/>
                <a:ea typeface="Calibri" panose="020F0502020204030204" pitchFamily="34" charset="0"/>
                <a:cs typeface="Times New Roman" panose="02020603050405020304" pitchFamily="18" charset="0"/>
              </a:rPr>
              <a:t> كما نتقدم بالشكر والإمتنان إلى الأساتذة الأجلاء أعضاء هيئة التدريس </a:t>
            </a:r>
            <a:r>
              <a:rPr lang="ar-EG" sz="2000" b="1" dirty="0">
                <a:latin typeface="Times New Roman" panose="02020603050405020304" pitchFamily="18" charset="0"/>
                <a:ea typeface="Calibri" panose="020F0502020204030204" pitchFamily="34" charset="0"/>
                <a:cs typeface="Times New Roman" panose="02020603050405020304" pitchFamily="18" charset="0"/>
              </a:rPr>
              <a:t>بالكلية أساتذتنا الذين تعلمنا على أيديهم ونهلنا من خبراتهم فلهم كل الإحترام والتقدير والوفاء بالجميل أساتذتنا الكرام رسلآ للعلم والأخلاق .</a:t>
            </a:r>
          </a:p>
          <a:p>
            <a:pPr algn="justLow" rtl="1"/>
            <a:endParaRPr lang="en-US" sz="1600" b="1" dirty="0">
              <a:latin typeface="Times New Roman" panose="02020603050405020304" pitchFamily="18" charset="0"/>
              <a:ea typeface="Calibri" panose="020F0502020204030204" pitchFamily="34" charset="0"/>
              <a:cs typeface="Times New Roman" panose="02020603050405020304" pitchFamily="18" charset="0"/>
            </a:endParaRPr>
          </a:p>
          <a:p>
            <a:pPr indent="356870" algn="ctr" rtl="1"/>
            <a:r>
              <a:rPr lang="ar-SA" sz="2400" b="1" dirty="0">
                <a:solidFill>
                  <a:srgbClr val="EE1231"/>
                </a:solidFill>
                <a:latin typeface="Times New Roman" panose="02020603050405020304" pitchFamily="18" charset="0"/>
                <a:ea typeface="Calibri" panose="020F0502020204030204" pitchFamily="34" charset="0"/>
                <a:cs typeface="Times New Roman" panose="02020603050405020304" pitchFamily="18" charset="0"/>
              </a:rPr>
              <a:t>والحمدالله الذي هدانا لهذا وماكنا لنهتدي لولا ان هدانا الله</a:t>
            </a:r>
            <a:endParaRPr lang="en-US" b="1" dirty="0">
              <a:solidFill>
                <a:srgbClr val="EE1231"/>
              </a:solidFill>
              <a:latin typeface="Times New Roman" panose="02020603050405020304" pitchFamily="18" charset="0"/>
              <a:ea typeface="Calibri" panose="020F0502020204030204" pitchFamily="34" charset="0"/>
              <a:cs typeface="Times New Roman" panose="02020603050405020304" pitchFamily="18" charset="0"/>
            </a:endParaRPr>
          </a:p>
          <a:p>
            <a:r>
              <a:rPr lang="ar-SA" sz="2000" b="1" dirty="0">
                <a:latin typeface="Times New Roman" panose="02020603050405020304" pitchFamily="18" charset="0"/>
                <a:ea typeface="Calibri" panose="020F0502020204030204" pitchFamily="34" charset="0"/>
                <a:cs typeface="Times New Roman" panose="02020603050405020304" pitchFamily="18" charset="0"/>
              </a:rPr>
              <a:t>والله ولى التوفيق</a:t>
            </a:r>
            <a:endParaRPr lang="en-US"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3483537"/>
      </p:ext>
    </p:extLst>
  </p:cSld>
  <p:clrMapOvr>
    <a:masterClrMapping/>
  </p:clrMapOvr>
  <mc:AlternateContent xmlns:mc="http://schemas.openxmlformats.org/markup-compatibility/2006" xmlns:p14="http://schemas.microsoft.com/office/powerpoint/2010/main">
    <mc:Choice Requires="p14">
      <p:transition spd="slow" p14:dur="1600">
        <p14:conveyor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croll: Vertical 2">
            <a:extLst>
              <a:ext uri="{FF2B5EF4-FFF2-40B4-BE49-F238E27FC236}">
                <a16:creationId xmlns:a16="http://schemas.microsoft.com/office/drawing/2014/main" id="{D062F270-EFCC-903E-B071-C51494E53AD8}"/>
              </a:ext>
            </a:extLst>
          </p:cNvPr>
          <p:cNvSpPr/>
          <p:nvPr/>
        </p:nvSpPr>
        <p:spPr>
          <a:xfrm>
            <a:off x="228600" y="149142"/>
            <a:ext cx="11734800" cy="6510020"/>
          </a:xfrm>
          <a:prstGeom prst="verticalScroll">
            <a:avLst/>
          </a:prstGeom>
          <a:ln w="57150"/>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575945" algn="r" rtl="1">
              <a:lnSpc>
                <a:spcPts val="3400"/>
              </a:lnSpc>
            </a:pPr>
            <a:endParaRPr lang="ar-EG" sz="2000" dirty="0">
              <a:solidFill>
                <a:srgbClr val="000000"/>
              </a:solidFill>
              <a:ea typeface="Times New Roman" panose="02020603050405020304" pitchFamily="18" charset="0"/>
              <a:cs typeface="29LT Bukra Bold" panose="000B0903020204020204" pitchFamily="34" charset="-78"/>
            </a:endParaRPr>
          </a:p>
          <a:p>
            <a:pPr marL="575945" algn="ctr" rtl="1">
              <a:lnSpc>
                <a:spcPts val="3400"/>
              </a:lnSpc>
            </a:pPr>
            <a:r>
              <a:rPr lang="ar-EG" sz="24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إلى من سهرت الليالى من أجلنا، إلى منبع الدفء فى حياتنا ، إلى من وضعت الجنة تحت قدميها ، إلى من كان دعاؤها سر نجاحنا</a:t>
            </a:r>
          </a:p>
          <a:p>
            <a:pPr marL="575945" algn="ctr" rtl="1">
              <a:lnSpc>
                <a:spcPts val="3400"/>
              </a:lnSpc>
            </a:pPr>
            <a:r>
              <a:rPr lang="ar-EG"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أمنا الحبيبة "</a:t>
            </a:r>
          </a:p>
          <a:p>
            <a:pPr marL="575945" algn="ctr" rtl="1">
              <a:lnSpc>
                <a:spcPts val="3400"/>
              </a:lnSpc>
            </a:pPr>
            <a:r>
              <a:rPr lang="ar-EG" sz="24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إلى من كلله الله بالهيبة والوقار ، إلى من نحمل إسمه بكل عزة وإفتخار، إلى من دفعنا فى طريق النجاح</a:t>
            </a:r>
          </a:p>
          <a:p>
            <a:pPr marL="575945" algn="ctr" rtl="1">
              <a:lnSpc>
                <a:spcPts val="3400"/>
              </a:lnSpc>
            </a:pPr>
            <a:r>
              <a:rPr lang="ar-EG"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أبانا الحبيب "</a:t>
            </a:r>
          </a:p>
          <a:p>
            <a:pPr marL="575945" algn="ctr" rtl="1">
              <a:lnSpc>
                <a:spcPts val="3400"/>
              </a:lnSpc>
            </a:pPr>
            <a:r>
              <a:rPr lang="ar-EG" sz="24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إلى عنوان الإخاء والوفاء والمحبة،إلى من جعلهم الله ذخرا وسندا لنا</a:t>
            </a:r>
          </a:p>
          <a:p>
            <a:pPr marL="575945" algn="ctr" rtl="1">
              <a:lnSpc>
                <a:spcPts val="3400"/>
              </a:lnSpc>
            </a:pPr>
            <a:r>
              <a:rPr lang="ar-EG"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أشقائنا الأحباب "</a:t>
            </a:r>
          </a:p>
          <a:p>
            <a:pPr marL="575945" algn="ctr" rtl="1">
              <a:lnSpc>
                <a:spcPts val="3400"/>
              </a:lnSpc>
            </a:pPr>
            <a:r>
              <a:rPr lang="ar-EG" sz="24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إلى من أناروا لنا الطريق فى سبيل تحصيل العلم والمعرفة</a:t>
            </a:r>
          </a:p>
          <a:p>
            <a:pPr marL="575945" algn="ctr" rtl="1">
              <a:lnSpc>
                <a:spcPts val="3400"/>
              </a:lnSpc>
            </a:pPr>
            <a:r>
              <a:rPr lang="ar-EG"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أساتذتنا الكرام "</a:t>
            </a:r>
          </a:p>
          <a:p>
            <a:pPr marL="575945" algn="ctr" rtl="1">
              <a:lnSpc>
                <a:spcPts val="3400"/>
              </a:lnSpc>
            </a:pPr>
            <a:r>
              <a:rPr lang="ar-EG" sz="24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إلى من تذوقنا معهم أجمل اللحظات، إلى من نجدهم عندما نحتاجهم</a:t>
            </a:r>
          </a:p>
          <a:p>
            <a:pPr marL="575945" algn="ctr" rtl="1">
              <a:lnSpc>
                <a:spcPts val="3400"/>
              </a:lnSpc>
            </a:pPr>
            <a:r>
              <a:rPr lang="ar-EG"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زملائنا وأصدقائنا دفعة 202</a:t>
            </a:r>
            <a:r>
              <a:rPr lang="ar-SA" sz="2400" b="1">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5</a:t>
            </a:r>
            <a:r>
              <a:rPr lang="ar-EG" sz="2400" b="1">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a:t>
            </a:r>
            <a:r>
              <a:rPr lang="ar-EG"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t>
            </a:r>
          </a:p>
        </p:txBody>
      </p:sp>
      <p:sp>
        <p:nvSpPr>
          <p:cNvPr id="4" name="Rectangle 3">
            <a:extLst>
              <a:ext uri="{FF2B5EF4-FFF2-40B4-BE49-F238E27FC236}">
                <a16:creationId xmlns:a16="http://schemas.microsoft.com/office/drawing/2014/main" id="{D817FC8E-7DCE-A6C3-6F9B-D68DB177BF40}"/>
              </a:ext>
            </a:extLst>
          </p:cNvPr>
          <p:cNvSpPr/>
          <p:nvPr/>
        </p:nvSpPr>
        <p:spPr>
          <a:xfrm>
            <a:off x="4495800" y="236993"/>
            <a:ext cx="4038600"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lnSpc>
                <a:spcPts val="3400"/>
              </a:lnSpc>
            </a:pPr>
            <a:r>
              <a:rPr lang="ar-EG" sz="3600" dirty="0">
                <a:solidFill>
                  <a:srgbClr val="FF0000"/>
                </a:solidFill>
                <a:latin typeface="Calibri" panose="020F0502020204030204" pitchFamily="34" charset="0"/>
                <a:cs typeface="29LT Bukra Bold" panose="000B0903020204020204" pitchFamily="34" charset="-78"/>
              </a:rPr>
              <a:t>إهداء</a:t>
            </a:r>
            <a:endParaRPr lang="en-US" sz="3600" dirty="0">
              <a:solidFill>
                <a:srgbClr val="FF0000"/>
              </a:solidFill>
              <a:latin typeface="Calibri" panose="020F0502020204030204" pitchFamily="34" charset="0"/>
              <a:cs typeface="29LT Bukra Bold" panose="000B0903020204020204" pitchFamily="34" charset="-78"/>
            </a:endParaRPr>
          </a:p>
        </p:txBody>
      </p:sp>
    </p:spTree>
    <p:extLst>
      <p:ext uri="{BB962C8B-B14F-4D97-AF65-F5344CB8AC3E}">
        <p14:creationId xmlns:p14="http://schemas.microsoft.com/office/powerpoint/2010/main" val="3988309855"/>
      </p:ext>
    </p:extLst>
  </p:cSld>
  <p:clrMapOvr>
    <a:masterClrMapping/>
  </p:clrMapOvr>
  <mc:AlternateContent xmlns:mc="http://schemas.openxmlformats.org/markup-compatibility/2006" xmlns:p14="http://schemas.microsoft.com/office/powerpoint/2010/main">
    <mc:Choice Requires="p14">
      <p:transition spd="slow" p14:dur="1600">
        <p14:conveyor dir="r"/>
      </p:transition>
    </mc:Choice>
    <mc:Fallback xmlns="">
      <p:transition spd="slow">
        <p:fade/>
      </p:transition>
    </mc:Fallback>
  </mc:AlternateContent>
</p:sld>
</file>

<file path=ppt/theme/theme1.xml><?xml version="1.0" encoding="utf-8"?>
<a:theme xmlns:a="http://schemas.openxmlformats.org/drawingml/2006/main" name="Face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11426</TotalTime>
  <Words>2356</Words>
  <Application>Microsoft Office PowerPoint</Application>
  <PresentationFormat>Widescreen</PresentationFormat>
  <Paragraphs>195</Paragraphs>
  <Slides>14</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Andalus</vt:lpstr>
      <vt:lpstr>Arial</vt:lpstr>
      <vt:lpstr>Arial Black</vt:lpstr>
      <vt:lpstr>Calibri</vt:lpstr>
      <vt:lpstr>Simplified Arabic</vt:lpstr>
      <vt:lpstr>Times New Roman</vt:lpstr>
      <vt:lpstr>Trebuchet MS</vt:lpstr>
      <vt:lpstr>Wingdings</vt:lpstr>
      <vt:lpstr>Wingdings 3</vt:lpstr>
      <vt:lpstr>Facet</vt:lpstr>
      <vt:lpstr>PowerPoint Presentation</vt:lpstr>
      <vt:lpstr>PowerPoint Presentation</vt:lpstr>
      <vt:lpstr>                                                           المقـدمة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empowerment</dc:title>
  <dc:creator>PC</dc:creator>
  <cp:lastModifiedBy>Mostafa Mahmoud Abdo Ibrahim maged</cp:lastModifiedBy>
  <cp:revision>499</cp:revision>
  <cp:lastPrinted>2019-09-29T16:45:11Z</cp:lastPrinted>
  <dcterms:created xsi:type="dcterms:W3CDTF">2015-10-26T20:18:34Z</dcterms:created>
  <dcterms:modified xsi:type="dcterms:W3CDTF">2026-01-26T17:35:20Z</dcterms:modified>
</cp:coreProperties>
</file>